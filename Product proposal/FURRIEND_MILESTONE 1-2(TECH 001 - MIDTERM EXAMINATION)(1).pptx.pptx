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Quicksand Bold" charset="1" panose="00000000000000000000"/>
      <p:regular r:id="rId39"/>
    </p:embeddedFont>
    <p:embeddedFont>
      <p:font typeface="Calibri (MS) Bold" charset="1" panose="020F0702030404030204"/>
      <p:regular r:id="rId40"/>
    </p:embeddedFont>
    <p:embeddedFont>
      <p:font typeface="Quicksand" charset="1" panose="00000000000000000000"/>
      <p:regular r:id="rId42"/>
    </p:embeddedFont>
    <p:embeddedFont>
      <p:font typeface=" Avenir Next Arabic" charset="1" panose="020B0503020202020204"/>
      <p:regular r:id="rId44"/>
    </p:embeddedFont>
    <p:embeddedFont>
      <p:font typeface=" Avenir Next Arabic Bold" charset="1" panose="020B0803020202020204"/>
      <p:regular r:id="rId45"/>
    </p:embeddedFont>
    <p:embeddedFont>
      <p:font typeface="Calibri (MS)" charset="1" panose="020F0502020204030204"/>
      <p:regular r:id="rId46"/>
    </p:embeddedFont>
    <p:embeddedFont>
      <p:font typeface="Verdana Bold" charset="1" panose="020B0804030504040204"/>
      <p:regular r:id="rId48"/>
    </p:embeddedFont>
    <p:embeddedFont>
      <p:font typeface="Verdana" charset="1" panose="020B0604030504040204"/>
      <p:regular r:id="rId49"/>
    </p:embeddedFont>
    <p:embeddedFont>
      <p:font typeface="Montserrat Medium" charset="1" panose="00000600000000000000"/>
      <p:regular r:id="rId52"/>
    </p:embeddedFont>
    <p:embeddedFont>
      <p:font typeface="Montserrat Bold" charset="1" panose="00000800000000000000"/>
      <p:regular r:id="rId53"/>
    </p:embeddedFont>
    <p:embeddedFont>
      <p:font typeface="Lexend Deca" charset="1" panose="00000000000000000000"/>
      <p:regular r:id="rId54"/>
    </p:embeddedFont>
    <p:embeddedFont>
      <p:font typeface="Calibri (MS) Bold Italics" charset="1" panose="020F07020304040A0204"/>
      <p:regular r:id="rId58"/>
    </p:embeddedFont>
    <p:embeddedFont>
      <p:font typeface="Calibri (MS) Italics" charset="1" panose="020F05020202040A0204"/>
      <p:regular r:id="rId59"/>
    </p:embeddedFont>
    <p:embeddedFont>
      <p:font typeface="Canva Sans" charset="1" panose="020B0503030501040103"/>
      <p:regular r:id="rId60"/>
    </p:embeddedFont>
    <p:embeddedFont>
      <p:font typeface="Arial Bold" charset="1" panose="020B0704020202020204"/>
      <p:regular r:id="rId62"/>
    </p:embeddedFont>
    <p:embeddedFont>
      <p:font typeface="Roboto Italics" charset="1" panose="02000000000000000000"/>
      <p:regular r:id="rId6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notesMasters/notesMaster1.xml" Type="http://schemas.openxmlformats.org/officeDocument/2006/relationships/notesMaster"/><Relationship Id="rId37" Target="theme/theme2.xml" Type="http://schemas.openxmlformats.org/officeDocument/2006/relationships/theme"/><Relationship Id="rId38" Target="notesSlides/notesSlide1.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2.xml" Type="http://schemas.openxmlformats.org/officeDocument/2006/relationships/notesSlide"/><Relationship Id="rId42" Target="fonts/font42.fntdata" Type="http://schemas.openxmlformats.org/officeDocument/2006/relationships/font"/><Relationship Id="rId43" Target="notesSlides/notesSlide3.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notesSlides/notesSlide4.xml" Type="http://schemas.openxmlformats.org/officeDocument/2006/relationships/note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5.xml" Type="http://schemas.openxmlformats.org/officeDocument/2006/relationships/notesSlide"/><Relationship Id="rId51" Target="notesSlides/notesSlide6.xml" Type="http://schemas.openxmlformats.org/officeDocument/2006/relationships/notesSlide"/><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notesSlides/notesSlide7.xml" Type="http://schemas.openxmlformats.org/officeDocument/2006/relationships/notesSlide"/><Relationship Id="rId56" Target="notesSlides/notesSlide8.xml" Type="http://schemas.openxmlformats.org/officeDocument/2006/relationships/notesSlide"/><Relationship Id="rId57" Target="notesSlides/notesSlide9.xml" Type="http://schemas.openxmlformats.org/officeDocument/2006/relationships/notesSlide"/><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notesSlides/notesSlide10.xml" Type="http://schemas.openxmlformats.org/officeDocument/2006/relationships/notesSlide"/><Relationship Id="rId62" Target="fonts/font62.fntdata" Type="http://schemas.openxmlformats.org/officeDocument/2006/relationships/font"/><Relationship Id="rId63" Target="fonts/font63.fntdata" Type="http://schemas.openxmlformats.org/officeDocument/2006/relationships/font"/><Relationship Id="rId64" Target="notesSlides/notesSlide11.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Evaluation Criteria for slides 8 and 9</a:t>
            </a:r>
          </a:p>
          <a:p>
            <a:r>
              <a:rPr lang="en-US"/>
              <a:t/>
            </a:r>
          </a:p>
          <a:p>
            <a:r>
              <a:rPr lang="en-US"/>
              <a:t>Check the following on the correctness of VPC:</a:t>
            </a:r>
          </a:p>
          <a:p>
            <a:r>
              <a:rPr lang="en-US"/>
              <a:t>a.  Have you identified the correct pains &amp; gains; pain relievers &amp; gain creators (2 marks)</a:t>
            </a:r>
          </a:p>
          <a:p>
            <a:r>
              <a:rPr lang="en-US"/>
              <a:t>b. Have you identified the correct Jobs-to-be-done? (1 mark)</a:t>
            </a:r>
          </a:p>
          <a:p>
            <a:r>
              <a:rPr lang="en-US"/>
              <a:t>c. Are the pain relievers addressing the customer pains? (1 mark)</a:t>
            </a:r>
          </a:p>
          <a:p>
            <a:r>
              <a:rPr lang="en-US"/>
              <a:t>d. Have you identified the right value proposition so that the solution makes the customer's life better? (1 mark)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https://www.trade.gov/market-intelligence/philippines-upscale-pet-food-and-supplies" TargetMode="External" Type="http://schemas.openxmlformats.org/officeDocument/2006/relationships/hyperlink"/><Relationship Id="rId4" Target="https://www.dogster.com/statistics/pet-ownership-statistics-philippines" TargetMode="External" Type="http://schemas.openxmlformats.org/officeDocument/2006/relationships/hyperlink"/><Relationship Id="rId5" Target="https://www.rover.com/" TargetMode="External" Type="http://schemas.openxmlformats.org/officeDocument/2006/relationships/hyperlink"/><Relationship Id="rId6" Target="https://www.petbacker.com.sg/" TargetMode="External" Type="http://schemas.openxmlformats.org/officeDocument/2006/relationships/hyperlink"/><Relationship Id="rId7"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0.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1.pn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embeddings/oleObject1.bin" Type="http://schemas.openxmlformats.org/officeDocument/2006/relationships/oleObject"/><Relationship Id="rId4"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figma.com/proto/3tAiMj7dSs0vRaIJCV7Nve/Furriend-Prototype?node-id=1-162&amp;p=f&amp;t=K6mbRnvcA5umJDQw-1&amp;scaling=scale-down&amp;content-scaling=fixed&amp;page-id=0%3A1" TargetMode="External" Type="http://schemas.openxmlformats.org/officeDocument/2006/relationships/hyperlink"/><Relationship Id="rId3"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5.bin" Type="http://schemas.openxmlformats.org/officeDocument/2006/relationships/oleObject"/><Relationship Id="rId11" Target="../media/image34.png" Type="http://schemas.openxmlformats.org/officeDocument/2006/relationships/image"/><Relationship Id="rId12" Target="../embeddings/oleObject6.bin" Type="http://schemas.openxmlformats.org/officeDocument/2006/relationships/oleObject"/><Relationship Id="rId13" Target="../media/image35.png" Type="http://schemas.openxmlformats.org/officeDocument/2006/relationships/image"/><Relationship Id="rId14" Target="../embeddings/oleObject7.bin" Type="http://schemas.openxmlformats.org/officeDocument/2006/relationships/oleObject"/><Relationship Id="rId2" Target="../media/image4.png" Type="http://schemas.openxmlformats.org/officeDocument/2006/relationships/image"/><Relationship Id="rId3" Target="../media/image30.png" Type="http://schemas.openxmlformats.org/officeDocument/2006/relationships/image"/><Relationship Id="rId4" Target="../embeddings/oleObject2.bin" Type="http://schemas.openxmlformats.org/officeDocument/2006/relationships/oleObject"/><Relationship Id="rId5" Target="../media/image31.png" Type="http://schemas.openxmlformats.org/officeDocument/2006/relationships/image"/><Relationship Id="rId6" Target="../embeddings/oleObject3.bin" Type="http://schemas.openxmlformats.org/officeDocument/2006/relationships/oleObject"/><Relationship Id="rId7" Target="../media/image32.png" Type="http://schemas.openxmlformats.org/officeDocument/2006/relationships/image"/><Relationship Id="rId8" Target="../embeddings/oleObject4.bin" Type="http://schemas.openxmlformats.org/officeDocument/2006/relationships/oleObject"/><Relationship Id="rId9" Target="../media/image3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42.jpeg" Type="http://schemas.openxmlformats.org/officeDocument/2006/relationships/image"/><Relationship Id="rId4" Target="../media/VAG2nvg9_Bw.mp4" Type="http://schemas.openxmlformats.org/officeDocument/2006/relationships/video"/><Relationship Id="rId5" Target="../media/VAG2nvg9_Bw.mp4" Type="http://schemas.microsoft.com/office/2007/relationships/media"/><Relationship Id="rId6" Target="https://drive.google.com/file/d/1cTZYBF00qZo7coeM4SNj9wEGAKCf8YuE/view?usp=sharing" TargetMode="External" Type="http://schemas.openxmlformats.org/officeDocument/2006/relationships/hyperlink"/></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43.png" Type="http://schemas.openxmlformats.org/officeDocument/2006/relationships/image"/><Relationship Id="rId4" Target="../embeddings/oleObject8.bin" Type="http://schemas.openxmlformats.org/officeDocument/2006/relationships/oleObjec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44.png" Type="http://schemas.openxmlformats.org/officeDocument/2006/relationships/image"/><Relationship Id="rId4" Target="../embeddings/oleObject9.bin" Type="http://schemas.openxmlformats.org/officeDocument/2006/relationships/oleObjec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45.png" Type="http://schemas.openxmlformats.org/officeDocument/2006/relationships/image"/><Relationship Id="rId4" Target="../embeddings/oleObject10.bin" Type="http://schemas.openxmlformats.org/officeDocument/2006/relationships/oleObjec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png" Type="http://schemas.openxmlformats.org/officeDocument/2006/relationships/image"/><Relationship Id="rId4" Target="../media/image46.jpe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jpeg" Type="http://schemas.openxmlformats.org/officeDocument/2006/relationships/image"/><Relationship Id="rId8" Target="../media/image50.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https://forms.gle/8xjpGSSuAevckezw6" TargetMode="External" Type="http://schemas.openxmlformats.org/officeDocument/2006/relationships/hyperlink"/><Relationship Id="rId2" Target="../notesSlides/notesSlide11.xml" Type="http://schemas.openxmlformats.org/officeDocument/2006/relationships/notesSlide"/><Relationship Id="rId3" Target="../media/image1.png" Type="http://schemas.openxmlformats.org/officeDocument/2006/relationships/image"/><Relationship Id="rId4" Target="../media/image51.png" Type="http://schemas.openxmlformats.org/officeDocument/2006/relationships/image"/><Relationship Id="rId5" Target="https://www.dogster.com/statistics/pet-ownership-statistics-philippines" TargetMode="External" Type="http://schemas.openxmlformats.org/officeDocument/2006/relationships/hyperlink"/><Relationship Id="rId6" Target="https://globalpetindustry.com/news/the-pet-industry-in-the-philippines" TargetMode="External" Type="http://schemas.openxmlformats.org/officeDocument/2006/relationships/hyperlink"/><Relationship Id="rId7" Target="https://www.grandviewresearch.com/horizon/outlook/animal-health-market/philippines" TargetMode="External" Type="http://schemas.openxmlformats.org/officeDocument/2006/relationships/hyperlink"/><Relationship Id="rId8" Target="https://www.imarcgroup.com/philippines-pet-food-market" TargetMode="External" Type="http://schemas.openxmlformats.org/officeDocument/2006/relationships/hyperlink"/><Relationship Id="rId9" Target="https://www.trade.gov/market-intelligence/philippines-upscale-pet-food-and-supplie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669" y="0"/>
            <a:ext cx="18310194" cy="10287000"/>
            <a:chOff x="0" y="0"/>
            <a:chExt cx="24413592" cy="13716000"/>
          </a:xfrm>
        </p:grpSpPr>
        <p:sp>
          <p:nvSpPr>
            <p:cNvPr name="Freeform 3" id="3"/>
            <p:cNvSpPr/>
            <p:nvPr/>
          </p:nvSpPr>
          <p:spPr>
            <a:xfrm flipH="false" flipV="false" rot="0">
              <a:off x="0" y="0"/>
              <a:ext cx="24413590" cy="13716000"/>
            </a:xfrm>
            <a:custGeom>
              <a:avLst/>
              <a:gdLst/>
              <a:ahLst/>
              <a:cxnLst/>
              <a:rect r="r" b="b" t="t" l="l"/>
              <a:pathLst>
                <a:path h="13716000" w="24413590">
                  <a:moveTo>
                    <a:pt x="0" y="0"/>
                  </a:moveTo>
                  <a:lnTo>
                    <a:pt x="24413590" y="0"/>
                  </a:lnTo>
                  <a:lnTo>
                    <a:pt x="24413590" y="13716000"/>
                  </a:lnTo>
                  <a:lnTo>
                    <a:pt x="0" y="13716000"/>
                  </a:lnTo>
                  <a:lnTo>
                    <a:pt x="0" y="0"/>
                  </a:lnTo>
                  <a:close/>
                </a:path>
              </a:pathLst>
            </a:custGeom>
            <a:blipFill>
              <a:blip r:embed="rId3"/>
              <a:stretch>
                <a:fillRect l="0" t="0" r="0" b="-121"/>
              </a:stretch>
            </a:blipFill>
          </p:spPr>
        </p:sp>
      </p:grpSp>
      <p:sp>
        <p:nvSpPr>
          <p:cNvPr name="Freeform 4" id="4"/>
          <p:cNvSpPr/>
          <p:nvPr/>
        </p:nvSpPr>
        <p:spPr>
          <a:xfrm flipH="false" flipV="false" rot="0">
            <a:off x="10228234" y="5024845"/>
            <a:ext cx="495300" cy="495300"/>
          </a:xfrm>
          <a:custGeom>
            <a:avLst/>
            <a:gdLst/>
            <a:ahLst/>
            <a:cxnLst/>
            <a:rect r="r" b="b" t="t" l="l"/>
            <a:pathLst>
              <a:path h="495300" w="495300">
                <a:moveTo>
                  <a:pt x="0" y="0"/>
                </a:moveTo>
                <a:lnTo>
                  <a:pt x="495300" y="0"/>
                </a:lnTo>
                <a:lnTo>
                  <a:pt x="495300" y="495300"/>
                </a:lnTo>
                <a:lnTo>
                  <a:pt x="0" y="495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343143" y="3578150"/>
            <a:ext cx="15438900" cy="1921231"/>
          </a:xfrm>
          <a:prstGeom prst="rect">
            <a:avLst/>
          </a:prstGeom>
        </p:spPr>
        <p:txBody>
          <a:bodyPr anchor="t" rtlCol="false" tIns="0" lIns="0" bIns="0" rIns="0">
            <a:spAutoFit/>
          </a:bodyPr>
          <a:lstStyle/>
          <a:p>
            <a:pPr algn="just">
              <a:lnSpc>
                <a:spcPts val="7507"/>
              </a:lnSpc>
            </a:pPr>
            <a:r>
              <a:rPr lang="en-US" b="true" sz="6800">
                <a:solidFill>
                  <a:srgbClr val="FFFFFF"/>
                </a:solidFill>
                <a:latin typeface="Quicksand Bold"/>
                <a:ea typeface="Quicksand Bold"/>
                <a:cs typeface="Quicksand Bold"/>
                <a:sym typeface="Quicksand Bold"/>
              </a:rPr>
              <a:t>Furriend: A Mobile Pet Sitting Application for Filipino Pet Owners</a:t>
            </a:r>
          </a:p>
        </p:txBody>
      </p:sp>
      <p:grpSp>
        <p:nvGrpSpPr>
          <p:cNvPr name="Group 6" id="6"/>
          <p:cNvGrpSpPr/>
          <p:nvPr/>
        </p:nvGrpSpPr>
        <p:grpSpPr>
          <a:xfrm rot="0">
            <a:off x="1587500" y="7340600"/>
            <a:ext cx="8653434" cy="1397000"/>
            <a:chOff x="0" y="0"/>
            <a:chExt cx="11537912" cy="1862667"/>
          </a:xfrm>
        </p:grpSpPr>
        <p:sp>
          <p:nvSpPr>
            <p:cNvPr name="Freeform 7" id="7"/>
            <p:cNvSpPr/>
            <p:nvPr/>
          </p:nvSpPr>
          <p:spPr>
            <a:xfrm flipH="false" flipV="false" rot="0">
              <a:off x="16891" y="16891"/>
              <a:ext cx="11504041" cy="1828800"/>
            </a:xfrm>
            <a:custGeom>
              <a:avLst/>
              <a:gdLst/>
              <a:ahLst/>
              <a:cxnLst/>
              <a:rect r="r" b="b" t="t" l="l"/>
              <a:pathLst>
                <a:path h="1828800" w="11504041">
                  <a:moveTo>
                    <a:pt x="0" y="0"/>
                  </a:moveTo>
                  <a:lnTo>
                    <a:pt x="11504041" y="0"/>
                  </a:lnTo>
                  <a:lnTo>
                    <a:pt x="11504041" y="1828800"/>
                  </a:lnTo>
                  <a:lnTo>
                    <a:pt x="0" y="1828800"/>
                  </a:lnTo>
                  <a:close/>
                </a:path>
              </a:pathLst>
            </a:custGeom>
            <a:solidFill>
              <a:srgbClr val="FFFFFF"/>
            </a:solidFill>
          </p:spPr>
        </p:sp>
        <p:sp>
          <p:nvSpPr>
            <p:cNvPr name="Freeform 8" id="8"/>
            <p:cNvSpPr/>
            <p:nvPr/>
          </p:nvSpPr>
          <p:spPr>
            <a:xfrm flipH="false" flipV="false" rot="0">
              <a:off x="0" y="0"/>
              <a:ext cx="11537823" cy="1862582"/>
            </a:xfrm>
            <a:custGeom>
              <a:avLst/>
              <a:gdLst/>
              <a:ahLst/>
              <a:cxnLst/>
              <a:rect r="r" b="b" t="t" l="l"/>
              <a:pathLst>
                <a:path h="1862582" w="11537823">
                  <a:moveTo>
                    <a:pt x="16891" y="0"/>
                  </a:moveTo>
                  <a:lnTo>
                    <a:pt x="11520932" y="0"/>
                  </a:lnTo>
                  <a:cubicBezTo>
                    <a:pt x="11530330" y="0"/>
                    <a:pt x="11537823" y="7620"/>
                    <a:pt x="11537823" y="16891"/>
                  </a:cubicBezTo>
                  <a:lnTo>
                    <a:pt x="11537823" y="1845691"/>
                  </a:lnTo>
                  <a:cubicBezTo>
                    <a:pt x="11537823" y="1855089"/>
                    <a:pt x="11530202" y="1862582"/>
                    <a:pt x="11520932"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1520932" y="1828800"/>
                  </a:lnTo>
                  <a:lnTo>
                    <a:pt x="11520932" y="1845691"/>
                  </a:lnTo>
                  <a:lnTo>
                    <a:pt x="11504040" y="1845691"/>
                  </a:lnTo>
                  <a:lnTo>
                    <a:pt x="11504040" y="16891"/>
                  </a:lnTo>
                  <a:lnTo>
                    <a:pt x="11520932" y="16891"/>
                  </a:lnTo>
                  <a:lnTo>
                    <a:pt x="11520932" y="33909"/>
                  </a:lnTo>
                  <a:lnTo>
                    <a:pt x="16891" y="33909"/>
                  </a:lnTo>
                  <a:close/>
                </a:path>
              </a:pathLst>
            </a:custGeom>
            <a:solidFill>
              <a:srgbClr val="000000"/>
            </a:solidFill>
          </p:spPr>
        </p:sp>
        <p:sp>
          <p:nvSpPr>
            <p:cNvPr name="TextBox 9" id="9"/>
            <p:cNvSpPr txBox="true"/>
            <p:nvPr/>
          </p:nvSpPr>
          <p:spPr>
            <a:xfrm>
              <a:off x="0" y="-85725"/>
              <a:ext cx="11537912" cy="1948392"/>
            </a:xfrm>
            <a:prstGeom prst="rect">
              <a:avLst/>
            </a:prstGeom>
          </p:spPr>
          <p:txBody>
            <a:bodyPr anchor="ctr" rtlCol="false" tIns="50800" lIns="50800" bIns="50800" rIns="50800"/>
            <a:lstStyle/>
            <a:p>
              <a:pPr algn="ctr">
                <a:lnSpc>
                  <a:spcPts val="4799"/>
                </a:lnSpc>
              </a:pPr>
              <a:r>
                <a:rPr lang="en-US" b="true" sz="3999">
                  <a:solidFill>
                    <a:srgbClr val="000000"/>
                  </a:solidFill>
                  <a:latin typeface="Calibri (MS) Bold"/>
                  <a:ea typeface="Calibri (MS) Bold"/>
                  <a:cs typeface="Calibri (MS) Bold"/>
                  <a:sym typeface="Calibri (MS) Bold"/>
                </a:rPr>
                <a:t>Milestone 4</a:t>
              </a:r>
            </a:p>
          </p:txBody>
        </p:sp>
      </p:grpSp>
      <p:sp>
        <p:nvSpPr>
          <p:cNvPr name="TextBox 10" id="10"/>
          <p:cNvSpPr txBox="true"/>
          <p:nvPr/>
        </p:nvSpPr>
        <p:spPr>
          <a:xfrm rot="0">
            <a:off x="13215012" y="6973397"/>
            <a:ext cx="4378163" cy="2746717"/>
          </a:xfrm>
          <a:prstGeom prst="rect">
            <a:avLst/>
          </a:prstGeom>
        </p:spPr>
        <p:txBody>
          <a:bodyPr anchor="t" rtlCol="false" tIns="0" lIns="0" bIns="0" rIns="0">
            <a:spAutoFit/>
          </a:bodyPr>
          <a:lstStyle/>
          <a:p>
            <a:pPr algn="l">
              <a:lnSpc>
                <a:spcPts val="3177"/>
              </a:lnSpc>
            </a:pPr>
            <a:r>
              <a:rPr lang="en-US" sz="2648" b="true">
                <a:solidFill>
                  <a:srgbClr val="FFFFFF"/>
                </a:solidFill>
                <a:latin typeface="Quicksand Bold"/>
                <a:ea typeface="Quicksand Bold"/>
                <a:cs typeface="Quicksand Bold"/>
                <a:sym typeface="Quicksand Bold"/>
              </a:rPr>
              <a:t>Leader: John Paul Penola</a:t>
            </a:r>
          </a:p>
          <a:p>
            <a:pPr algn="l">
              <a:lnSpc>
                <a:spcPts val="3177"/>
              </a:lnSpc>
            </a:pPr>
          </a:p>
          <a:p>
            <a:pPr algn="l">
              <a:lnSpc>
                <a:spcPts val="3177"/>
              </a:lnSpc>
            </a:pPr>
            <a:r>
              <a:rPr lang="en-US" sz="2648" b="true">
                <a:solidFill>
                  <a:srgbClr val="FFFFFF"/>
                </a:solidFill>
                <a:latin typeface="Quicksand Bold"/>
                <a:ea typeface="Quicksand Bold"/>
                <a:cs typeface="Quicksand Bold"/>
                <a:sym typeface="Quicksand Bold"/>
              </a:rPr>
              <a:t>Members:</a:t>
            </a:r>
          </a:p>
          <a:p>
            <a:pPr algn="l">
              <a:lnSpc>
                <a:spcPts val="3177"/>
              </a:lnSpc>
            </a:pPr>
            <a:r>
              <a:rPr lang="en-US" sz="2648" b="true">
                <a:solidFill>
                  <a:srgbClr val="FFFFFF"/>
                </a:solidFill>
                <a:latin typeface="Quicksand Bold"/>
                <a:ea typeface="Quicksand Bold"/>
                <a:cs typeface="Quicksand Bold"/>
                <a:sym typeface="Quicksand Bold"/>
              </a:rPr>
              <a:t>Ambong, Vincent Redd</a:t>
            </a:r>
          </a:p>
          <a:p>
            <a:pPr algn="l">
              <a:lnSpc>
                <a:spcPts val="3177"/>
              </a:lnSpc>
            </a:pPr>
            <a:r>
              <a:rPr lang="en-US" sz="2648" b="true">
                <a:solidFill>
                  <a:srgbClr val="FFFFFF"/>
                </a:solidFill>
                <a:latin typeface="Quicksand Bold"/>
                <a:ea typeface="Quicksand Bold"/>
                <a:cs typeface="Quicksand Bold"/>
                <a:sym typeface="Quicksand Bold"/>
              </a:rPr>
              <a:t>Fernandez, Lance Cedrick</a:t>
            </a:r>
          </a:p>
          <a:p>
            <a:pPr algn="l">
              <a:lnSpc>
                <a:spcPts val="3177"/>
              </a:lnSpc>
            </a:pPr>
            <a:r>
              <a:rPr lang="en-US" sz="2648" b="true">
                <a:solidFill>
                  <a:srgbClr val="FFFFFF"/>
                </a:solidFill>
                <a:latin typeface="Quicksand Bold"/>
                <a:ea typeface="Quicksand Bold"/>
                <a:cs typeface="Quicksand Bold"/>
                <a:sym typeface="Quicksand Bold"/>
              </a:rPr>
              <a:t>Hernandez, Mark</a:t>
            </a:r>
          </a:p>
          <a:p>
            <a:pPr algn="l">
              <a:lnSpc>
                <a:spcPts val="3177"/>
              </a:lnSpc>
              <a:spcBef>
                <a:spcPct val="0"/>
              </a:spcBef>
            </a:pPr>
            <a:r>
              <a:rPr lang="en-US" b="true" sz="2648">
                <a:solidFill>
                  <a:srgbClr val="FFFFFF"/>
                </a:solidFill>
                <a:latin typeface="Quicksand Bold"/>
                <a:ea typeface="Quicksand Bold"/>
                <a:cs typeface="Quicksand Bold"/>
                <a:sym typeface="Quicksand Bold"/>
              </a:rPr>
              <a:t>Libag, Joshua</a:t>
            </a:r>
          </a:p>
        </p:txBody>
      </p:sp>
      <p:grpSp>
        <p:nvGrpSpPr>
          <p:cNvPr name="Group 11" id="11"/>
          <p:cNvGrpSpPr>
            <a:grpSpLocks noChangeAspect="true"/>
          </p:cNvGrpSpPr>
          <p:nvPr/>
        </p:nvGrpSpPr>
        <p:grpSpPr>
          <a:xfrm rot="0">
            <a:off x="15047404" y="322975"/>
            <a:ext cx="2905267" cy="916975"/>
            <a:chOff x="0" y="0"/>
            <a:chExt cx="3873689" cy="1222633"/>
          </a:xfrm>
        </p:grpSpPr>
        <p:sp>
          <p:nvSpPr>
            <p:cNvPr name="Freeform 12" id="12"/>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6"/>
              <a:stretch>
                <a:fillRect l="0" t="0" r="-1"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TextBox 2" id="2"/>
          <p:cNvSpPr txBox="true"/>
          <p:nvPr/>
        </p:nvSpPr>
        <p:spPr>
          <a:xfrm rot="0">
            <a:off x="704241" y="118675"/>
            <a:ext cx="9015450" cy="819150"/>
          </a:xfrm>
          <a:prstGeom prst="rect">
            <a:avLst/>
          </a:prstGeom>
        </p:spPr>
        <p:txBody>
          <a:bodyPr anchor="t" rtlCol="false" tIns="0" lIns="0" bIns="0" rIns="0">
            <a:spAutoFit/>
          </a:bodyPr>
          <a:lstStyle/>
          <a:p>
            <a:pPr algn="l">
              <a:lnSpc>
                <a:spcPts val="6480"/>
              </a:lnSpc>
            </a:pPr>
            <a:r>
              <a:rPr lang="en-US" b="true" sz="5400">
                <a:solidFill>
                  <a:srgbClr val="000000"/>
                </a:solidFill>
                <a:latin typeface="Quicksand Bold"/>
                <a:ea typeface="Quicksand Bold"/>
                <a:cs typeface="Quicksand Bold"/>
                <a:sym typeface="Quicksand Bold"/>
              </a:rPr>
              <a:t>Our Logo</a:t>
            </a:r>
          </a:p>
        </p:txBody>
      </p:sp>
      <p:grpSp>
        <p:nvGrpSpPr>
          <p:cNvPr name="Group 3" id="3"/>
          <p:cNvGrpSpPr>
            <a:grpSpLocks noChangeAspect="true"/>
          </p:cNvGrpSpPr>
          <p:nvPr/>
        </p:nvGrpSpPr>
        <p:grpSpPr>
          <a:xfrm rot="0">
            <a:off x="15047404" y="322975"/>
            <a:ext cx="2905267" cy="916975"/>
            <a:chOff x="0" y="0"/>
            <a:chExt cx="3873689" cy="1222633"/>
          </a:xfrm>
        </p:grpSpPr>
        <p:sp>
          <p:nvSpPr>
            <p:cNvPr name="Freeform 4" id="4"/>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3"/>
              <a:stretch>
                <a:fillRect l="0" t="0" r="-1" b="0"/>
              </a:stretch>
            </a:blipFill>
          </p:spPr>
        </p:sp>
      </p:grpSp>
      <p:grpSp>
        <p:nvGrpSpPr>
          <p:cNvPr name="Group 5" id="5"/>
          <p:cNvGrpSpPr>
            <a:grpSpLocks noChangeAspect="true"/>
          </p:cNvGrpSpPr>
          <p:nvPr/>
        </p:nvGrpSpPr>
        <p:grpSpPr>
          <a:xfrm rot="0">
            <a:off x="704241" y="1486828"/>
            <a:ext cx="12189815" cy="3847411"/>
            <a:chOff x="0" y="0"/>
            <a:chExt cx="3873689" cy="1222633"/>
          </a:xfrm>
        </p:grpSpPr>
        <p:sp>
          <p:nvSpPr>
            <p:cNvPr name="Freeform 6" id="6"/>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3"/>
              <a:stretch>
                <a:fillRect l="0" t="0" r="-1" b="0"/>
              </a:stretch>
            </a:blipFill>
          </p:spPr>
        </p:sp>
      </p:grpSp>
      <p:sp>
        <p:nvSpPr>
          <p:cNvPr name="TextBox 7" id="7"/>
          <p:cNvSpPr txBox="true"/>
          <p:nvPr/>
        </p:nvSpPr>
        <p:spPr>
          <a:xfrm rot="0">
            <a:off x="704241" y="6042031"/>
            <a:ext cx="14666784" cy="3429000"/>
          </a:xfrm>
          <a:prstGeom prst="rect">
            <a:avLst/>
          </a:prstGeom>
        </p:spPr>
        <p:txBody>
          <a:bodyPr anchor="t" rtlCol="false" tIns="0" lIns="0" bIns="0" rIns="0">
            <a:spAutoFit/>
          </a:bodyPr>
          <a:lstStyle/>
          <a:p>
            <a:pPr algn="just">
              <a:lnSpc>
                <a:spcPts val="3065"/>
              </a:lnSpc>
            </a:pPr>
            <a:r>
              <a:rPr lang="en-US" sz="2554">
                <a:solidFill>
                  <a:srgbClr val="000000"/>
                </a:solidFill>
                <a:latin typeface="Quicksand"/>
                <a:ea typeface="Quicksand"/>
                <a:cs typeface="Quicksand"/>
                <a:sym typeface="Quicksand"/>
              </a:rPr>
              <a:t>The </a:t>
            </a:r>
            <a:r>
              <a:rPr lang="en-US" sz="2554" b="true">
                <a:solidFill>
                  <a:srgbClr val="EB8C44"/>
                </a:solidFill>
                <a:latin typeface="Quicksand Bold"/>
                <a:ea typeface="Quicksand Bold"/>
                <a:cs typeface="Quicksand Bold"/>
                <a:sym typeface="Quicksand Bold"/>
              </a:rPr>
              <a:t>Furriend </a:t>
            </a:r>
            <a:r>
              <a:rPr lang="en-US" sz="2554">
                <a:solidFill>
                  <a:srgbClr val="000000"/>
                </a:solidFill>
                <a:latin typeface="Quicksand"/>
                <a:ea typeface="Quicksand"/>
                <a:cs typeface="Quicksand"/>
                <a:sym typeface="Quicksand"/>
              </a:rPr>
              <a:t>logo features a friendly and playful design that reflects the heart of the brand—trust, care, and companionship. The icon combines a paw print and a smiling face, symbolizing both pets and the warm, supportive connection between owners and sitters. Its rounded shapes and soft edges express approachability and comfort, making the brand feel safe and welcoming.</a:t>
            </a:r>
          </a:p>
          <a:p>
            <a:pPr algn="just">
              <a:lnSpc>
                <a:spcPts val="3065"/>
              </a:lnSpc>
            </a:pPr>
            <a:r>
              <a:rPr lang="en-US" sz="2554">
                <a:solidFill>
                  <a:srgbClr val="000000"/>
                </a:solidFill>
                <a:latin typeface="Quicksand"/>
                <a:ea typeface="Quicksand"/>
                <a:cs typeface="Quicksand"/>
                <a:sym typeface="Quicksand"/>
              </a:rPr>
              <a:t>The use of a bright orange color reinforces Furriend’s personality: energetic, friendly, warm, and community-driven. The custom lettering beside the icon is smooth and modern, mirroring the app’s simple and reliable service. </a:t>
            </a:r>
            <a:r>
              <a:rPr lang="en-US" sz="2554">
                <a:solidFill>
                  <a:srgbClr val="000000"/>
                </a:solidFill>
                <a:latin typeface="Quicksand"/>
                <a:ea typeface="Quicksand"/>
                <a:cs typeface="Quicksand"/>
                <a:sym typeface="Quicksand"/>
              </a:rPr>
              <a:t>Overall, the logo captures Furriend’s mission to connect pet lovers with trusted sitters through a joyful and trustworthy experience.</a:t>
            </a:r>
          </a:p>
          <a:p>
            <a:pPr algn="just">
              <a:lnSpc>
                <a:spcPts val="3065"/>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704241" y="7442478"/>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84791" y="45705"/>
            <a:ext cx="9015450" cy="819210"/>
          </a:xfrm>
          <a:prstGeom prst="rect">
            <a:avLst/>
          </a:prstGeom>
        </p:spPr>
        <p:txBody>
          <a:bodyPr anchor="t" rtlCol="false" tIns="0" lIns="0" bIns="0" rIns="0">
            <a:spAutoFit/>
          </a:bodyPr>
          <a:lstStyle/>
          <a:p>
            <a:pPr algn="l">
              <a:lnSpc>
                <a:spcPts val="6480"/>
              </a:lnSpc>
            </a:pPr>
            <a:r>
              <a:rPr lang="en-US" b="true" sz="5400">
                <a:solidFill>
                  <a:srgbClr val="000000"/>
                </a:solidFill>
                <a:latin typeface="Quicksand Bold"/>
                <a:ea typeface="Quicksand Bold"/>
                <a:cs typeface="Quicksand Bold"/>
                <a:sym typeface="Quicksand Bold"/>
              </a:rPr>
              <a:t>Who we are</a:t>
            </a:r>
          </a:p>
        </p:txBody>
      </p:sp>
      <p:sp>
        <p:nvSpPr>
          <p:cNvPr name="TextBox 4" id="4"/>
          <p:cNvSpPr txBox="true"/>
          <p:nvPr/>
        </p:nvSpPr>
        <p:spPr>
          <a:xfrm rot="0">
            <a:off x="184802" y="1204525"/>
            <a:ext cx="14864550" cy="370300"/>
          </a:xfrm>
          <a:prstGeom prst="rect">
            <a:avLst/>
          </a:prstGeom>
        </p:spPr>
        <p:txBody>
          <a:bodyPr anchor="t" rtlCol="false" tIns="0" lIns="0" bIns="0" rIns="0">
            <a:spAutoFit/>
          </a:bodyPr>
          <a:lstStyle/>
          <a:p>
            <a:pPr algn="l">
              <a:lnSpc>
                <a:spcPts val="2879"/>
              </a:lnSpc>
            </a:pPr>
            <a:r>
              <a:rPr lang="en-US" sz="2400">
                <a:solidFill>
                  <a:srgbClr val="000000"/>
                </a:solidFill>
                <a:latin typeface=" Avenir Next Arabic"/>
                <a:ea typeface=" Avenir Next Arabic"/>
                <a:cs typeface=" Avenir Next Arabic"/>
                <a:sym typeface=" Avenir Next Arabic"/>
              </a:rPr>
              <a:t>Name of your Venture: </a:t>
            </a:r>
            <a:r>
              <a:rPr lang="en-US" sz="2400" u="sng">
                <a:solidFill>
                  <a:srgbClr val="000000"/>
                </a:solidFill>
                <a:latin typeface=" Avenir Next Arabic"/>
                <a:ea typeface=" Avenir Next Arabic"/>
                <a:cs typeface=" Avenir Next Arabic"/>
                <a:sym typeface=" Avenir Next Arabic"/>
              </a:rPr>
              <a:t>Furriend </a:t>
            </a:r>
            <a:r>
              <a:rPr lang="en-US" sz="2400">
                <a:solidFill>
                  <a:srgbClr val="000000"/>
                </a:solidFill>
                <a:latin typeface=" Avenir Next Arabic"/>
                <a:ea typeface=" Avenir Next Arabic"/>
                <a:cs typeface=" Avenir Next Arabic"/>
                <a:sym typeface=" Avenir Next Arabic"/>
              </a:rPr>
              <a:t>- A simple application connecting pet owners with sitters in the Philippines.</a:t>
            </a:r>
          </a:p>
          <a:p>
            <a:pPr algn="l">
              <a:lnSpc>
                <a:spcPts val="1680"/>
              </a:lnSpc>
            </a:pPr>
          </a:p>
          <a:p>
            <a:pPr algn="l">
              <a:lnSpc>
                <a:spcPts val="1680"/>
              </a:lnSpc>
            </a:pPr>
          </a:p>
        </p:txBody>
      </p:sp>
      <p:sp>
        <p:nvSpPr>
          <p:cNvPr name="TextBox 5" id="5"/>
          <p:cNvSpPr txBox="true"/>
          <p:nvPr/>
        </p:nvSpPr>
        <p:spPr>
          <a:xfrm rot="0">
            <a:off x="2861552" y="4763200"/>
            <a:ext cx="5570550" cy="277900"/>
          </a:xfrm>
          <a:prstGeom prst="rect">
            <a:avLst/>
          </a:prstGeom>
        </p:spPr>
        <p:txBody>
          <a:bodyPr anchor="t" rtlCol="false" tIns="0" lIns="0" bIns="0" rIns="0">
            <a:spAutoFit/>
          </a:bodyPr>
          <a:lstStyle/>
          <a:p>
            <a:pPr algn="l">
              <a:lnSpc>
                <a:spcPts val="2160"/>
              </a:lnSpc>
            </a:pPr>
            <a:r>
              <a:rPr lang="en-US" sz="1800">
                <a:solidFill>
                  <a:srgbClr val="000000"/>
                </a:solidFill>
                <a:latin typeface=" Avenir Next Arabic"/>
                <a:ea typeface=" Avenir Next Arabic"/>
                <a:cs typeface=" Avenir Next Arabic"/>
                <a:sym typeface=" Avenir Next Arabic"/>
              </a:rPr>
              <a:t>Provide a brief on what does your venture do.</a:t>
            </a:r>
          </a:p>
        </p:txBody>
      </p:sp>
      <p:sp>
        <p:nvSpPr>
          <p:cNvPr name="TextBox 6" id="6"/>
          <p:cNvSpPr txBox="true"/>
          <p:nvPr/>
        </p:nvSpPr>
        <p:spPr>
          <a:xfrm rot="0">
            <a:off x="2884236" y="1691159"/>
            <a:ext cx="1345050" cy="502825"/>
          </a:xfrm>
          <a:prstGeom prst="rect">
            <a:avLst/>
          </a:prstGeom>
        </p:spPr>
        <p:txBody>
          <a:bodyPr anchor="t" rtlCol="false" tIns="0" lIns="0" bIns="0" rIns="0">
            <a:spAutoFit/>
          </a:bodyPr>
          <a:lstStyle/>
          <a:p>
            <a:pPr algn="l">
              <a:lnSpc>
                <a:spcPts val="3840"/>
              </a:lnSpc>
            </a:pPr>
            <a:r>
              <a:rPr lang="en-US" b="true" sz="3200">
                <a:solidFill>
                  <a:srgbClr val="000000"/>
                </a:solidFill>
                <a:latin typeface=" Avenir Next Arabic Bold"/>
                <a:ea typeface=" Avenir Next Arabic Bold"/>
                <a:cs typeface=" Avenir Next Arabic Bold"/>
                <a:sym typeface=" Avenir Next Arabic Bold"/>
              </a:rPr>
              <a:t>Why ? </a:t>
            </a:r>
          </a:p>
        </p:txBody>
      </p:sp>
      <p:sp>
        <p:nvSpPr>
          <p:cNvPr name="TextBox 7" id="7"/>
          <p:cNvSpPr txBox="true"/>
          <p:nvPr/>
        </p:nvSpPr>
        <p:spPr>
          <a:xfrm rot="0">
            <a:off x="2884236" y="2241808"/>
            <a:ext cx="5657250" cy="277900"/>
          </a:xfrm>
          <a:prstGeom prst="rect">
            <a:avLst/>
          </a:prstGeom>
        </p:spPr>
        <p:txBody>
          <a:bodyPr anchor="t" rtlCol="false" tIns="0" lIns="0" bIns="0" rIns="0">
            <a:spAutoFit/>
          </a:bodyPr>
          <a:lstStyle/>
          <a:p>
            <a:pPr algn="l">
              <a:lnSpc>
                <a:spcPts val="2160"/>
              </a:lnSpc>
            </a:pPr>
            <a:r>
              <a:rPr lang="en-US" sz="1800">
                <a:solidFill>
                  <a:srgbClr val="000000"/>
                </a:solidFill>
                <a:latin typeface=" Avenir Next Arabic"/>
                <a:ea typeface=" Avenir Next Arabic"/>
                <a:cs typeface=" Avenir Next Arabic"/>
                <a:sym typeface=" Avenir Next Arabic"/>
              </a:rPr>
              <a:t>Explain why do you want to pursue this Business Idea. </a:t>
            </a:r>
          </a:p>
        </p:txBody>
      </p:sp>
      <p:sp>
        <p:nvSpPr>
          <p:cNvPr name="TextBox 8" id="8"/>
          <p:cNvSpPr txBox="true"/>
          <p:nvPr/>
        </p:nvSpPr>
        <p:spPr>
          <a:xfrm rot="0">
            <a:off x="2884236" y="4303693"/>
            <a:ext cx="1595250" cy="502825"/>
          </a:xfrm>
          <a:prstGeom prst="rect">
            <a:avLst/>
          </a:prstGeom>
        </p:spPr>
        <p:txBody>
          <a:bodyPr anchor="t" rtlCol="false" tIns="0" lIns="0" bIns="0" rIns="0">
            <a:spAutoFit/>
          </a:bodyPr>
          <a:lstStyle/>
          <a:p>
            <a:pPr algn="l">
              <a:lnSpc>
                <a:spcPts val="3840"/>
              </a:lnSpc>
            </a:pPr>
            <a:r>
              <a:rPr lang="en-US" b="true" sz="3200">
                <a:solidFill>
                  <a:srgbClr val="000000"/>
                </a:solidFill>
                <a:latin typeface=" Avenir Next Arabic Bold"/>
                <a:ea typeface=" Avenir Next Arabic Bold"/>
                <a:cs typeface=" Avenir Next Arabic Bold"/>
                <a:sym typeface=" Avenir Next Arabic Bold"/>
              </a:rPr>
              <a:t>What  ? </a:t>
            </a:r>
          </a:p>
        </p:txBody>
      </p:sp>
      <p:sp>
        <p:nvSpPr>
          <p:cNvPr name="TextBox 9" id="9"/>
          <p:cNvSpPr txBox="true"/>
          <p:nvPr/>
        </p:nvSpPr>
        <p:spPr>
          <a:xfrm rot="0">
            <a:off x="2827329" y="6893878"/>
            <a:ext cx="1459050" cy="502825"/>
          </a:xfrm>
          <a:prstGeom prst="rect">
            <a:avLst/>
          </a:prstGeom>
        </p:spPr>
        <p:txBody>
          <a:bodyPr anchor="t" rtlCol="false" tIns="0" lIns="0" bIns="0" rIns="0">
            <a:spAutoFit/>
          </a:bodyPr>
          <a:lstStyle/>
          <a:p>
            <a:pPr algn="l">
              <a:lnSpc>
                <a:spcPts val="3840"/>
              </a:lnSpc>
            </a:pPr>
            <a:r>
              <a:rPr lang="en-US" b="true" sz="3200">
                <a:solidFill>
                  <a:srgbClr val="000000"/>
                </a:solidFill>
                <a:latin typeface=" Avenir Next Arabic Bold"/>
                <a:ea typeface=" Avenir Next Arabic Bold"/>
                <a:cs typeface=" Avenir Next Arabic Bold"/>
                <a:sym typeface=" Avenir Next Arabic Bold"/>
              </a:rPr>
              <a:t>How  ? </a:t>
            </a:r>
          </a:p>
        </p:txBody>
      </p:sp>
      <p:grpSp>
        <p:nvGrpSpPr>
          <p:cNvPr name="Group 10" id="10"/>
          <p:cNvGrpSpPr/>
          <p:nvPr/>
        </p:nvGrpSpPr>
        <p:grpSpPr>
          <a:xfrm rot="0">
            <a:off x="2788038" y="5069862"/>
            <a:ext cx="14550225" cy="1570425"/>
            <a:chOff x="0" y="0"/>
            <a:chExt cx="19400300" cy="2093900"/>
          </a:xfrm>
        </p:grpSpPr>
        <p:sp>
          <p:nvSpPr>
            <p:cNvPr name="Freeform 11" id="11"/>
            <p:cNvSpPr/>
            <p:nvPr/>
          </p:nvSpPr>
          <p:spPr>
            <a:xfrm flipH="false" flipV="false" rot="0">
              <a:off x="0" y="0"/>
              <a:ext cx="19400265" cy="2093849"/>
            </a:xfrm>
            <a:custGeom>
              <a:avLst/>
              <a:gdLst/>
              <a:ahLst/>
              <a:cxnLst/>
              <a:rect r="r" b="b" t="t" l="l"/>
              <a:pathLst>
                <a:path h="2093849" w="19400265">
                  <a:moveTo>
                    <a:pt x="6350" y="0"/>
                  </a:moveTo>
                  <a:lnTo>
                    <a:pt x="19393915" y="0"/>
                  </a:lnTo>
                  <a:cubicBezTo>
                    <a:pt x="19397472" y="0"/>
                    <a:pt x="19400265" y="2794"/>
                    <a:pt x="19400265" y="6350"/>
                  </a:cubicBezTo>
                  <a:lnTo>
                    <a:pt x="19400265" y="2087499"/>
                  </a:lnTo>
                  <a:cubicBezTo>
                    <a:pt x="19400265" y="2091055"/>
                    <a:pt x="19397472" y="2093849"/>
                    <a:pt x="19393915" y="2093849"/>
                  </a:cubicBezTo>
                  <a:lnTo>
                    <a:pt x="6350" y="2093849"/>
                  </a:lnTo>
                  <a:cubicBezTo>
                    <a:pt x="2794" y="2093849"/>
                    <a:pt x="0" y="2091055"/>
                    <a:pt x="0" y="2087499"/>
                  </a:cubicBezTo>
                  <a:lnTo>
                    <a:pt x="0" y="6350"/>
                  </a:lnTo>
                  <a:cubicBezTo>
                    <a:pt x="0" y="2794"/>
                    <a:pt x="2794" y="0"/>
                    <a:pt x="6350" y="0"/>
                  </a:cubicBezTo>
                  <a:moveTo>
                    <a:pt x="6350" y="12700"/>
                  </a:moveTo>
                  <a:lnTo>
                    <a:pt x="6350" y="6350"/>
                  </a:lnTo>
                  <a:lnTo>
                    <a:pt x="12700" y="6350"/>
                  </a:lnTo>
                  <a:lnTo>
                    <a:pt x="12700" y="2087499"/>
                  </a:lnTo>
                  <a:lnTo>
                    <a:pt x="6350" y="2087499"/>
                  </a:lnTo>
                  <a:lnTo>
                    <a:pt x="6350" y="2081149"/>
                  </a:lnTo>
                  <a:lnTo>
                    <a:pt x="19393915" y="2081149"/>
                  </a:lnTo>
                  <a:lnTo>
                    <a:pt x="19393915" y="2087499"/>
                  </a:lnTo>
                  <a:lnTo>
                    <a:pt x="19387565" y="2087499"/>
                  </a:lnTo>
                  <a:lnTo>
                    <a:pt x="19387565" y="6350"/>
                  </a:lnTo>
                  <a:lnTo>
                    <a:pt x="19393915" y="6350"/>
                  </a:lnTo>
                  <a:lnTo>
                    <a:pt x="19393915" y="12700"/>
                  </a:lnTo>
                  <a:lnTo>
                    <a:pt x="6350" y="12700"/>
                  </a:lnTo>
                  <a:close/>
                </a:path>
              </a:pathLst>
            </a:custGeom>
            <a:solidFill>
              <a:srgbClr val="000000"/>
            </a:solidFill>
          </p:spPr>
        </p:sp>
        <p:sp>
          <p:nvSpPr>
            <p:cNvPr name="TextBox 12" id="12"/>
            <p:cNvSpPr txBox="true"/>
            <p:nvPr/>
          </p:nvSpPr>
          <p:spPr>
            <a:xfrm>
              <a:off x="0" y="-152400"/>
              <a:ext cx="19400300" cy="2246300"/>
            </a:xfrm>
            <a:prstGeom prst="rect">
              <a:avLst/>
            </a:prstGeom>
          </p:spPr>
          <p:txBody>
            <a:bodyPr anchor="t" rtlCol="false" tIns="50800" lIns="50800" bIns="50800" rIns="50800"/>
            <a:lstStyle/>
            <a:p>
              <a:pPr algn="just">
                <a:lnSpc>
                  <a:spcPts val="3419"/>
                </a:lnSpc>
              </a:pPr>
              <a:r>
                <a:rPr lang="en-US" sz="1899">
                  <a:solidFill>
                    <a:srgbClr val="000000"/>
                  </a:solidFill>
                  <a:latin typeface="Calibri (MS)"/>
                  <a:ea typeface="Calibri (MS)"/>
                  <a:cs typeface="Calibri (MS)"/>
                  <a:sym typeface="Calibri (MS)"/>
                </a:rPr>
                <a:t>Furriend is a mobile app that connects pet owners with trusted, verified sitters in their area. Pet owners can create detailed pet profiles, browse sitter reviews, book services, chat, and pay securely—all in one platform. With real-time photo and video updates, Furriend ensures peace of mind while empowering a community of pet lovers to provide safe, reliable, and affordable pet care.</a:t>
              </a:r>
            </a:p>
            <a:p>
              <a:pPr algn="just">
                <a:lnSpc>
                  <a:spcPts val="2520"/>
                </a:lnSpc>
              </a:pPr>
            </a:p>
            <a:p>
              <a:pPr algn="just">
                <a:lnSpc>
                  <a:spcPts val="2520"/>
                </a:lnSpc>
              </a:pPr>
            </a:p>
          </p:txBody>
        </p:sp>
      </p:grpSp>
      <p:grpSp>
        <p:nvGrpSpPr>
          <p:cNvPr name="Group 13" id="13"/>
          <p:cNvGrpSpPr/>
          <p:nvPr/>
        </p:nvGrpSpPr>
        <p:grpSpPr>
          <a:xfrm rot="0">
            <a:off x="2847288" y="2586862"/>
            <a:ext cx="14550225" cy="1570425"/>
            <a:chOff x="0" y="0"/>
            <a:chExt cx="19400300" cy="2093900"/>
          </a:xfrm>
        </p:grpSpPr>
        <p:sp>
          <p:nvSpPr>
            <p:cNvPr name="Freeform 14" id="14"/>
            <p:cNvSpPr/>
            <p:nvPr/>
          </p:nvSpPr>
          <p:spPr>
            <a:xfrm flipH="false" flipV="false" rot="0">
              <a:off x="0" y="0"/>
              <a:ext cx="19400265" cy="2093849"/>
            </a:xfrm>
            <a:custGeom>
              <a:avLst/>
              <a:gdLst/>
              <a:ahLst/>
              <a:cxnLst/>
              <a:rect r="r" b="b" t="t" l="l"/>
              <a:pathLst>
                <a:path h="2093849" w="19400265">
                  <a:moveTo>
                    <a:pt x="6350" y="0"/>
                  </a:moveTo>
                  <a:lnTo>
                    <a:pt x="19393915" y="0"/>
                  </a:lnTo>
                  <a:cubicBezTo>
                    <a:pt x="19397472" y="0"/>
                    <a:pt x="19400265" y="2794"/>
                    <a:pt x="19400265" y="6350"/>
                  </a:cubicBezTo>
                  <a:lnTo>
                    <a:pt x="19400265" y="2087499"/>
                  </a:lnTo>
                  <a:cubicBezTo>
                    <a:pt x="19400265" y="2091055"/>
                    <a:pt x="19397472" y="2093849"/>
                    <a:pt x="19393915" y="2093849"/>
                  </a:cubicBezTo>
                  <a:lnTo>
                    <a:pt x="6350" y="2093849"/>
                  </a:lnTo>
                  <a:cubicBezTo>
                    <a:pt x="2794" y="2093849"/>
                    <a:pt x="0" y="2091055"/>
                    <a:pt x="0" y="2087499"/>
                  </a:cubicBezTo>
                  <a:lnTo>
                    <a:pt x="0" y="6350"/>
                  </a:lnTo>
                  <a:cubicBezTo>
                    <a:pt x="0" y="2794"/>
                    <a:pt x="2794" y="0"/>
                    <a:pt x="6350" y="0"/>
                  </a:cubicBezTo>
                  <a:moveTo>
                    <a:pt x="6350" y="12700"/>
                  </a:moveTo>
                  <a:lnTo>
                    <a:pt x="6350" y="6350"/>
                  </a:lnTo>
                  <a:lnTo>
                    <a:pt x="12700" y="6350"/>
                  </a:lnTo>
                  <a:lnTo>
                    <a:pt x="12700" y="2087499"/>
                  </a:lnTo>
                  <a:lnTo>
                    <a:pt x="6350" y="2087499"/>
                  </a:lnTo>
                  <a:lnTo>
                    <a:pt x="6350" y="2081149"/>
                  </a:lnTo>
                  <a:lnTo>
                    <a:pt x="19393915" y="2081149"/>
                  </a:lnTo>
                  <a:lnTo>
                    <a:pt x="19393915" y="2087499"/>
                  </a:lnTo>
                  <a:lnTo>
                    <a:pt x="19387565" y="2087499"/>
                  </a:lnTo>
                  <a:lnTo>
                    <a:pt x="19387565" y="6350"/>
                  </a:lnTo>
                  <a:lnTo>
                    <a:pt x="19393915" y="6350"/>
                  </a:lnTo>
                  <a:lnTo>
                    <a:pt x="19393915" y="12700"/>
                  </a:lnTo>
                  <a:lnTo>
                    <a:pt x="6350" y="12700"/>
                  </a:lnTo>
                  <a:close/>
                </a:path>
              </a:pathLst>
            </a:custGeom>
            <a:solidFill>
              <a:srgbClr val="000000"/>
            </a:solidFill>
          </p:spPr>
        </p:sp>
        <p:sp>
          <p:nvSpPr>
            <p:cNvPr name="TextBox 15" id="15"/>
            <p:cNvSpPr txBox="true"/>
            <p:nvPr/>
          </p:nvSpPr>
          <p:spPr>
            <a:xfrm>
              <a:off x="0" y="-180975"/>
              <a:ext cx="19400300" cy="2274875"/>
            </a:xfrm>
            <a:prstGeom prst="rect">
              <a:avLst/>
            </a:prstGeom>
          </p:spPr>
          <p:txBody>
            <a:bodyPr anchor="t" rtlCol="false" tIns="50800" lIns="50800" bIns="50800" rIns="50800"/>
            <a:lstStyle/>
            <a:p>
              <a:pPr algn="just">
                <a:lnSpc>
                  <a:spcPts val="4140"/>
                </a:lnSpc>
              </a:pPr>
              <a:r>
                <a:rPr lang="en-US" sz="2300">
                  <a:solidFill>
                    <a:srgbClr val="000000"/>
                  </a:solidFill>
                  <a:latin typeface="Calibri (MS)"/>
                  <a:ea typeface="Calibri (MS)"/>
                  <a:cs typeface="Calibri (MS)"/>
                  <a:sym typeface="Calibri (MS)"/>
                </a:rPr>
                <a:t>In the Philippines, pet ownership is rapidly growing, especially among millennials and Gen Z in urban areas. However, pet owners struggle to find reliable, affordable, and trustworthy pet care options when they are at work, traveling, or unavailable.</a:t>
              </a:r>
            </a:p>
            <a:p>
              <a:pPr algn="just">
                <a:lnSpc>
                  <a:spcPts val="2520"/>
                </a:lnSpc>
              </a:pPr>
            </a:p>
            <a:p>
              <a:pPr algn="just">
                <a:lnSpc>
                  <a:spcPts val="2520"/>
                </a:lnSpc>
              </a:pPr>
            </a:p>
            <a:p>
              <a:pPr algn="just">
                <a:lnSpc>
                  <a:spcPts val="2520"/>
                </a:lnSpc>
              </a:pPr>
            </a:p>
          </p:txBody>
        </p:sp>
      </p:grpSp>
      <p:sp>
        <p:nvSpPr>
          <p:cNvPr name="TextBox 16" id="16"/>
          <p:cNvSpPr txBox="true"/>
          <p:nvPr/>
        </p:nvSpPr>
        <p:spPr>
          <a:xfrm rot="0">
            <a:off x="2827329" y="7497558"/>
            <a:ext cx="7106250" cy="277900"/>
          </a:xfrm>
          <a:prstGeom prst="rect">
            <a:avLst/>
          </a:prstGeom>
        </p:spPr>
        <p:txBody>
          <a:bodyPr anchor="t" rtlCol="false" tIns="0" lIns="0" bIns="0" rIns="0">
            <a:spAutoFit/>
          </a:bodyPr>
          <a:lstStyle/>
          <a:p>
            <a:pPr algn="l">
              <a:lnSpc>
                <a:spcPts val="2160"/>
              </a:lnSpc>
            </a:pPr>
            <a:r>
              <a:rPr lang="en-US" sz="1800">
                <a:solidFill>
                  <a:srgbClr val="000000"/>
                </a:solidFill>
                <a:latin typeface=" Avenir Next Arabic"/>
                <a:ea typeface=" Avenir Next Arabic"/>
                <a:cs typeface=" Avenir Next Arabic"/>
                <a:sym typeface=" Avenir Next Arabic"/>
              </a:rPr>
              <a:t>Explain how your venture solves the problem and make its revenue. </a:t>
            </a:r>
          </a:p>
        </p:txBody>
      </p:sp>
      <p:grpSp>
        <p:nvGrpSpPr>
          <p:cNvPr name="Group 17" id="17"/>
          <p:cNvGrpSpPr/>
          <p:nvPr/>
        </p:nvGrpSpPr>
        <p:grpSpPr>
          <a:xfrm rot="0">
            <a:off x="2801012" y="7852537"/>
            <a:ext cx="14550225" cy="2115525"/>
            <a:chOff x="0" y="0"/>
            <a:chExt cx="19400300" cy="2820700"/>
          </a:xfrm>
        </p:grpSpPr>
        <p:sp>
          <p:nvSpPr>
            <p:cNvPr name="Freeform 18" id="18"/>
            <p:cNvSpPr/>
            <p:nvPr/>
          </p:nvSpPr>
          <p:spPr>
            <a:xfrm flipH="false" flipV="false" rot="0">
              <a:off x="0" y="0"/>
              <a:ext cx="19400265" cy="2820670"/>
            </a:xfrm>
            <a:custGeom>
              <a:avLst/>
              <a:gdLst/>
              <a:ahLst/>
              <a:cxnLst/>
              <a:rect r="r" b="b" t="t" l="l"/>
              <a:pathLst>
                <a:path h="2820670" w="19400265">
                  <a:moveTo>
                    <a:pt x="6350" y="0"/>
                  </a:moveTo>
                  <a:lnTo>
                    <a:pt x="19393915" y="0"/>
                  </a:lnTo>
                  <a:cubicBezTo>
                    <a:pt x="19397472" y="0"/>
                    <a:pt x="19400265" y="2794"/>
                    <a:pt x="19400265" y="6350"/>
                  </a:cubicBezTo>
                  <a:lnTo>
                    <a:pt x="19400265" y="2814320"/>
                  </a:lnTo>
                  <a:cubicBezTo>
                    <a:pt x="19400265" y="2817876"/>
                    <a:pt x="19397472" y="2820670"/>
                    <a:pt x="19393915" y="2820670"/>
                  </a:cubicBezTo>
                  <a:lnTo>
                    <a:pt x="6350" y="2820670"/>
                  </a:lnTo>
                  <a:cubicBezTo>
                    <a:pt x="2794" y="2820670"/>
                    <a:pt x="0" y="2817876"/>
                    <a:pt x="0" y="2814320"/>
                  </a:cubicBezTo>
                  <a:lnTo>
                    <a:pt x="0" y="6350"/>
                  </a:lnTo>
                  <a:cubicBezTo>
                    <a:pt x="0" y="2794"/>
                    <a:pt x="2794" y="0"/>
                    <a:pt x="6350" y="0"/>
                  </a:cubicBezTo>
                  <a:moveTo>
                    <a:pt x="6350" y="12700"/>
                  </a:moveTo>
                  <a:lnTo>
                    <a:pt x="6350" y="6350"/>
                  </a:lnTo>
                  <a:lnTo>
                    <a:pt x="12700" y="6350"/>
                  </a:lnTo>
                  <a:lnTo>
                    <a:pt x="12700" y="2814320"/>
                  </a:lnTo>
                  <a:lnTo>
                    <a:pt x="6350" y="2814320"/>
                  </a:lnTo>
                  <a:lnTo>
                    <a:pt x="6350" y="2807970"/>
                  </a:lnTo>
                  <a:lnTo>
                    <a:pt x="19393915" y="2807970"/>
                  </a:lnTo>
                  <a:lnTo>
                    <a:pt x="19393915" y="2814320"/>
                  </a:lnTo>
                  <a:lnTo>
                    <a:pt x="19387565" y="2814320"/>
                  </a:lnTo>
                  <a:lnTo>
                    <a:pt x="19387565" y="6350"/>
                  </a:lnTo>
                  <a:lnTo>
                    <a:pt x="19393915" y="6350"/>
                  </a:lnTo>
                  <a:lnTo>
                    <a:pt x="19393915" y="12700"/>
                  </a:lnTo>
                  <a:lnTo>
                    <a:pt x="6350" y="12700"/>
                  </a:lnTo>
                  <a:close/>
                </a:path>
              </a:pathLst>
            </a:custGeom>
            <a:solidFill>
              <a:srgbClr val="000000"/>
            </a:solidFill>
          </p:spPr>
        </p:sp>
        <p:sp>
          <p:nvSpPr>
            <p:cNvPr name="TextBox 19" id="19"/>
            <p:cNvSpPr txBox="true"/>
            <p:nvPr/>
          </p:nvSpPr>
          <p:spPr>
            <a:xfrm>
              <a:off x="0" y="-133350"/>
              <a:ext cx="19400300" cy="2954050"/>
            </a:xfrm>
            <a:prstGeom prst="rect">
              <a:avLst/>
            </a:prstGeom>
          </p:spPr>
          <p:txBody>
            <a:bodyPr anchor="t" rtlCol="false" tIns="50800" lIns="50800" bIns="50800" rIns="50800"/>
            <a:lstStyle/>
            <a:p>
              <a:pPr algn="just">
                <a:lnSpc>
                  <a:spcPts val="3060"/>
                </a:lnSpc>
              </a:pPr>
              <a:r>
                <a:rPr lang="en-US" sz="1700">
                  <a:solidFill>
                    <a:srgbClr val="000000"/>
                  </a:solidFill>
                  <a:latin typeface="Calibri (MS)"/>
                  <a:ea typeface="Calibri (MS)"/>
                  <a:cs typeface="Calibri (MS)"/>
                  <a:sym typeface="Calibri (MS)"/>
                </a:rPr>
                <a:t>Furriend solves the problem of unreliable and expensive pet care in the Philippines by connecting pet owners with trusted, verified sitters through a convenient mobile app. Instead of relying on busy relatives, costly vet boarding, or unverified sitters, owners can easily book safe, affordable, and flexible pet care while receiving real-time photo and video updates for peace of mind. The venture generates revenue through a small booking commission (10–15%), premium sitter profiles for boosted visibility, an in-app pet care marketplace, sponsored ads from pet brands, and optional subscription plans offering added benefits like discounts and emergency vet support.</a:t>
              </a:r>
            </a:p>
          </p:txBody>
        </p:sp>
      </p:grpSp>
      <p:grpSp>
        <p:nvGrpSpPr>
          <p:cNvPr name="Group 20" id="20"/>
          <p:cNvGrpSpPr>
            <a:grpSpLocks noChangeAspect="true"/>
          </p:cNvGrpSpPr>
          <p:nvPr/>
        </p:nvGrpSpPr>
        <p:grpSpPr>
          <a:xfrm rot="0">
            <a:off x="796141" y="5074619"/>
            <a:ext cx="1290307" cy="1414469"/>
            <a:chOff x="0" y="0"/>
            <a:chExt cx="1720409" cy="1885959"/>
          </a:xfrm>
        </p:grpSpPr>
        <p:sp>
          <p:nvSpPr>
            <p:cNvPr name="Freeform 21" id="21" descr="Lightbulb and gear with solid fill"/>
            <p:cNvSpPr/>
            <p:nvPr/>
          </p:nvSpPr>
          <p:spPr>
            <a:xfrm flipH="false" flipV="false" rot="0">
              <a:off x="0" y="0"/>
              <a:ext cx="1720469" cy="1885950"/>
            </a:xfrm>
            <a:custGeom>
              <a:avLst/>
              <a:gdLst/>
              <a:ahLst/>
              <a:cxnLst/>
              <a:rect r="r" b="b" t="t" l="l"/>
              <a:pathLst>
                <a:path h="1885950" w="1720469">
                  <a:moveTo>
                    <a:pt x="0" y="0"/>
                  </a:moveTo>
                  <a:lnTo>
                    <a:pt x="1720469" y="0"/>
                  </a:lnTo>
                  <a:lnTo>
                    <a:pt x="1720469" y="1885950"/>
                  </a:lnTo>
                  <a:lnTo>
                    <a:pt x="0" y="1885950"/>
                  </a:lnTo>
                  <a:lnTo>
                    <a:pt x="0" y="0"/>
                  </a:lnTo>
                  <a:close/>
                </a:path>
              </a:pathLst>
            </a:custGeom>
            <a:blipFill>
              <a:blip r:embed="rId5"/>
              <a:stretch>
                <a:fillRect l="0" t="0" r="-9618" b="0"/>
              </a:stretch>
            </a:blipFill>
          </p:spPr>
        </p:sp>
      </p:grpSp>
      <p:grpSp>
        <p:nvGrpSpPr>
          <p:cNvPr name="Group 22" id="22"/>
          <p:cNvGrpSpPr>
            <a:grpSpLocks noChangeAspect="true"/>
          </p:cNvGrpSpPr>
          <p:nvPr/>
        </p:nvGrpSpPr>
        <p:grpSpPr>
          <a:xfrm rot="0">
            <a:off x="834920" y="2737856"/>
            <a:ext cx="1251527" cy="1186444"/>
            <a:chOff x="0" y="0"/>
            <a:chExt cx="1668703" cy="1581925"/>
          </a:xfrm>
        </p:grpSpPr>
        <p:sp>
          <p:nvSpPr>
            <p:cNvPr name="Freeform 23" id="23" descr="Dance steps with solid fill"/>
            <p:cNvSpPr/>
            <p:nvPr/>
          </p:nvSpPr>
          <p:spPr>
            <a:xfrm flipH="false" flipV="false" rot="0">
              <a:off x="0" y="0"/>
              <a:ext cx="1668653" cy="1581912"/>
            </a:xfrm>
            <a:custGeom>
              <a:avLst/>
              <a:gdLst/>
              <a:ahLst/>
              <a:cxnLst/>
              <a:rect r="r" b="b" t="t" l="l"/>
              <a:pathLst>
                <a:path h="1581912" w="1668653">
                  <a:moveTo>
                    <a:pt x="0" y="0"/>
                  </a:moveTo>
                  <a:lnTo>
                    <a:pt x="1668653" y="0"/>
                  </a:lnTo>
                  <a:lnTo>
                    <a:pt x="1668653" y="1581912"/>
                  </a:lnTo>
                  <a:lnTo>
                    <a:pt x="0" y="1581912"/>
                  </a:lnTo>
                  <a:lnTo>
                    <a:pt x="0" y="0"/>
                  </a:lnTo>
                  <a:close/>
                </a:path>
              </a:pathLst>
            </a:custGeom>
            <a:blipFill>
              <a:blip r:embed="rId6"/>
              <a:stretch>
                <a:fillRect l="0" t="0" r="-2" b="-5486"/>
              </a:stretch>
            </a:blipFill>
          </p:spPr>
        </p:sp>
      </p:grpSp>
      <p:grpSp>
        <p:nvGrpSpPr>
          <p:cNvPr name="Group 24" id="24"/>
          <p:cNvGrpSpPr>
            <a:grpSpLocks noChangeAspect="true"/>
          </p:cNvGrpSpPr>
          <p:nvPr/>
        </p:nvGrpSpPr>
        <p:grpSpPr>
          <a:xfrm rot="0">
            <a:off x="15047404" y="322975"/>
            <a:ext cx="2905267" cy="916975"/>
            <a:chOff x="0" y="0"/>
            <a:chExt cx="3873689" cy="1222633"/>
          </a:xfrm>
        </p:grpSpPr>
        <p:sp>
          <p:nvSpPr>
            <p:cNvPr name="Freeform 25" id="25"/>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7"/>
              <a:stretch>
                <a:fillRect l="0" t="0" r="-1"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496973" y="2384832"/>
          <a:ext cx="17335500" cy="7450206"/>
        </p:xfrm>
        <a:graphic>
          <a:graphicData uri="http://schemas.openxmlformats.org/drawingml/2006/table">
            <a:tbl>
              <a:tblPr/>
              <a:tblGrid>
                <a:gridCol w="5777927"/>
                <a:gridCol w="5777927"/>
                <a:gridCol w="5779645"/>
              </a:tblGrid>
              <a:tr h="3525931">
                <a:tc>
                  <a:txBody>
                    <a:bodyPr anchor="t" rtlCol="false"/>
                    <a:lstStyle/>
                    <a:p>
                      <a:pPr algn="just">
                        <a:lnSpc>
                          <a:spcPts val="2279"/>
                        </a:lnSpc>
                        <a:defRPr/>
                      </a:pPr>
                      <a:r>
                        <a:rPr lang="en-US" b="true" sz="1899">
                          <a:solidFill>
                            <a:srgbClr val="000000"/>
                          </a:solidFill>
                          <a:latin typeface="Verdana Bold"/>
                          <a:ea typeface="Verdana Bold"/>
                          <a:cs typeface="Verdana Bold"/>
                          <a:sym typeface="Verdana Bold"/>
                        </a:rPr>
                        <a:t>CONTEXT</a:t>
                      </a:r>
                      <a:endParaRPr lang="en-US" sz="1100"/>
                    </a:p>
                    <a:p>
                      <a:pPr algn="just">
                        <a:lnSpc>
                          <a:spcPts val="2279"/>
                        </a:lnSpc>
                      </a:pPr>
                      <a:r>
                        <a:rPr lang="en-US" sz="1899">
                          <a:solidFill>
                            <a:srgbClr val="000000"/>
                          </a:solidFill>
                          <a:latin typeface="Verdana"/>
                          <a:ea typeface="Verdana"/>
                          <a:cs typeface="Verdana"/>
                          <a:sym typeface="Verdana"/>
                        </a:rPr>
                        <a:t>When does the problem occur?</a:t>
                      </a:r>
                    </a:p>
                    <a:p>
                      <a:pPr algn="just" marL="337185" indent="-168592" lvl="1">
                        <a:lnSpc>
                          <a:spcPts val="2279"/>
                        </a:lnSpc>
                        <a:buFont typeface="Arial"/>
                        <a:buChar char="•"/>
                      </a:pPr>
                      <a:r>
                        <a:rPr lang="en-US" sz="1899">
                          <a:solidFill>
                            <a:srgbClr val="000000"/>
                          </a:solidFill>
                          <a:latin typeface="Verdana"/>
                          <a:ea typeface="Verdana"/>
                          <a:cs typeface="Verdana"/>
                          <a:sym typeface="Verdana"/>
                        </a:rPr>
                        <a:t>The problem usually happens when I’m at work for long hours, during overnight shifts, or whenever I need to travel. I also feel it on weekends if I have social events, since I can’t always bring my pet with me. Basically, it occurs any time I can’t be physically present to care for my pet.</a:t>
                      </a:r>
                    </a:p>
                  </a:txBody>
                  <a:tcPr marL="0" marR="0" marT="0" marB="0" anchor="ctr">
                    <a:lnL cmpd="sng" algn="ctr" cap="flat" w="9525">
                      <a:solidFill>
                        <a:srgbClr val="FBBD00"/>
                      </a:solidFill>
                      <a:prstDash val="solid"/>
                      <a:round/>
                      <a:headEnd type="none" w="med" len="med"/>
                      <a:tailEnd type="none" w="med" len="med"/>
                    </a:lnL>
                    <a:lnR cmpd="sng" algn="ctr" cap="flat" w="12700">
                      <a:solidFill>
                        <a:srgbClr val="FBBD00"/>
                      </a:solidFill>
                      <a:prstDash val="solid"/>
                      <a:round/>
                      <a:headEnd type="none" w="med" len="med"/>
                      <a:tailEnd type="none" w="med" len="med"/>
                    </a:lnR>
                    <a:lnT cmpd="sng" algn="ctr" cap="flat" w="9525">
                      <a:solidFill>
                        <a:srgbClr val="FBBD00"/>
                      </a:solidFill>
                      <a:prstDash val="solid"/>
                      <a:round/>
                      <a:headEnd type="none" w="med" len="med"/>
                      <a:tailEnd type="none" w="med" len="med"/>
                    </a:lnT>
                    <a:lnB cmpd="sng" algn="ctr" cap="flat" w="9525">
                      <a:solidFill>
                        <a:srgbClr val="FBBD00"/>
                      </a:solidFill>
                      <a:prstDash val="solid"/>
                      <a:round/>
                      <a:headEnd type="none" w="med" len="med"/>
                      <a:tailEnd type="none" w="med" len="med"/>
                    </a:lnB>
                    <a:solidFill>
                      <a:srgbClr val="FFFFFF"/>
                    </a:solidFill>
                  </a:tcPr>
                </a:tc>
                <a:tc>
                  <a:txBody>
                    <a:bodyPr anchor="t" rtlCol="false"/>
                    <a:lstStyle/>
                    <a:p>
                      <a:pPr algn="just">
                        <a:lnSpc>
                          <a:spcPts val="2400"/>
                        </a:lnSpc>
                        <a:defRPr/>
                      </a:pPr>
                      <a:r>
                        <a:rPr lang="en-US" b="true" sz="2000">
                          <a:solidFill>
                            <a:srgbClr val="000000"/>
                          </a:solidFill>
                          <a:latin typeface="Verdana Bold"/>
                          <a:ea typeface="Verdana Bold"/>
                          <a:cs typeface="Verdana Bold"/>
                          <a:sym typeface="Verdana Bold"/>
                        </a:rPr>
                        <a:t>PROBLEM</a:t>
                      </a:r>
                      <a:endParaRPr lang="en-US" sz="1100"/>
                    </a:p>
                    <a:p>
                      <a:pPr algn="just">
                        <a:lnSpc>
                          <a:spcPts val="2400"/>
                        </a:lnSpc>
                      </a:pPr>
                      <a:r>
                        <a:rPr lang="en-US" sz="2000">
                          <a:solidFill>
                            <a:srgbClr val="000000"/>
                          </a:solidFill>
                          <a:latin typeface="Verdana"/>
                          <a:ea typeface="Verdana"/>
                          <a:cs typeface="Verdana"/>
                          <a:sym typeface="Verdana"/>
                        </a:rPr>
                        <a:t>What is the root cause of the problem?</a:t>
                      </a:r>
                    </a:p>
                    <a:p>
                      <a:pPr algn="just" marL="342900" indent="-171450" lvl="1">
                        <a:lnSpc>
                          <a:spcPts val="2400"/>
                        </a:lnSpc>
                        <a:buFont typeface="Arial"/>
                        <a:buChar char="•"/>
                      </a:pPr>
                      <a:r>
                        <a:rPr lang="en-US" sz="2000">
                          <a:solidFill>
                            <a:srgbClr val="000000"/>
                          </a:solidFill>
                          <a:latin typeface="Verdana"/>
                          <a:ea typeface="Verdana"/>
                          <a:cs typeface="Verdana"/>
                          <a:sym typeface="Verdana"/>
                        </a:rPr>
                        <a:t>The root cause is that there are very few reliable and affordable pet sitting services in the Philippines. Most options are either informal (asking friends or neighbors) or expensive (boarding at a vet or pet hotel). There’s no centralized, trustworthy system to find sitters who are verified and available when I need them.</a:t>
                      </a:r>
                    </a:p>
                  </a:txBody>
                  <a:tcPr marL="0" marR="0" marT="0" marB="0" anchor="ctr">
                    <a:lnL cmpd="sng" algn="ctr" cap="flat" w="12700">
                      <a:solidFill>
                        <a:srgbClr val="FBBD00"/>
                      </a:solidFill>
                      <a:prstDash val="solid"/>
                      <a:round/>
                      <a:headEnd type="none" w="med" len="med"/>
                      <a:tailEnd type="none" w="med" len="med"/>
                    </a:lnL>
                    <a:lnR cmpd="sng" algn="ctr" cap="flat" w="9525">
                      <a:solidFill>
                        <a:srgbClr val="FBBD00"/>
                      </a:solidFill>
                      <a:prstDash val="solid"/>
                      <a:round/>
                      <a:headEnd type="none" w="med" len="med"/>
                      <a:tailEnd type="none" w="med" len="med"/>
                    </a:lnR>
                    <a:lnT cmpd="sng" algn="ctr" cap="flat" w="9525">
                      <a:solidFill>
                        <a:srgbClr val="FBBD00"/>
                      </a:solidFill>
                      <a:prstDash val="solid"/>
                      <a:round/>
                      <a:headEnd type="none" w="med" len="med"/>
                      <a:tailEnd type="none" w="med" len="med"/>
                    </a:lnT>
                    <a:lnB cmpd="sng" algn="ctr" cap="flat" w="9525">
                      <a:solidFill>
                        <a:srgbClr val="FBBD00"/>
                      </a:solidFill>
                      <a:prstDash val="solid"/>
                      <a:round/>
                      <a:headEnd type="none" w="med" len="med"/>
                      <a:tailEnd type="none" w="med" len="med"/>
                    </a:lnB>
                    <a:solidFill>
                      <a:srgbClr val="FFFFFF"/>
                    </a:solidFill>
                  </a:tcPr>
                </a:tc>
                <a:tc>
                  <a:txBody>
                    <a:bodyPr anchor="t" rtlCol="false"/>
                    <a:lstStyle/>
                    <a:p>
                      <a:pPr algn="just">
                        <a:lnSpc>
                          <a:spcPts val="2279"/>
                        </a:lnSpc>
                        <a:defRPr/>
                      </a:pPr>
                      <a:r>
                        <a:rPr lang="en-US" b="true" sz="1899">
                          <a:solidFill>
                            <a:srgbClr val="000000"/>
                          </a:solidFill>
                          <a:latin typeface="Verdana Bold"/>
                          <a:ea typeface="Verdana Bold"/>
                          <a:cs typeface="Verdana Bold"/>
                          <a:sym typeface="Verdana Bold"/>
                        </a:rPr>
                        <a:t>ALTERNATIVES</a:t>
                      </a:r>
                      <a:endParaRPr lang="en-US" sz="1100"/>
                    </a:p>
                    <a:p>
                      <a:pPr algn="just">
                        <a:lnSpc>
                          <a:spcPts val="2279"/>
                        </a:lnSpc>
                      </a:pPr>
                      <a:r>
                        <a:rPr lang="en-US" sz="1899">
                          <a:solidFill>
                            <a:srgbClr val="000000"/>
                          </a:solidFill>
                          <a:latin typeface="Verdana"/>
                          <a:ea typeface="Verdana"/>
                          <a:cs typeface="Verdana"/>
                          <a:sym typeface="Verdana"/>
                        </a:rPr>
                        <a:t>What do customers do now to ﬁx the problem?</a:t>
                      </a:r>
                    </a:p>
                    <a:p>
                      <a:pPr algn="just" marL="337185" indent="-168592" lvl="1">
                        <a:lnSpc>
                          <a:spcPts val="2621"/>
                        </a:lnSpc>
                        <a:buFont typeface="Arial"/>
                        <a:buChar char="•"/>
                      </a:pPr>
                      <a:r>
                        <a:rPr lang="en-US" sz="1899">
                          <a:solidFill>
                            <a:srgbClr val="000000"/>
                          </a:solidFill>
                          <a:latin typeface="Verdana"/>
                          <a:ea typeface="Verdana"/>
                          <a:cs typeface="Verdana"/>
                          <a:sym typeface="Verdana"/>
                        </a:rPr>
                        <a:t>Right now, I usually rely on family or neighbors, but they are often busy or forgetful. Sometimes I use vet boarding, but it’s costly and stressful for my pet. If I can’t find anyone, I just leave food and water out and hope for the best, which makes me really anxious.</a:t>
                      </a:r>
                    </a:p>
                    <a:p>
                      <a:pPr algn="l" marL="308610" indent="-154305" lvl="1">
                        <a:lnSpc>
                          <a:spcPts val="1680"/>
                        </a:lnSpc>
                        <a:buFont typeface="Arial"/>
                        <a:buChar char="•"/>
                      </a:pPr>
                    </a:p>
                  </a:txBody>
                  <a:tcPr marL="0" marR="0" marT="0" marB="0" anchor="ctr">
                    <a:lnL cmpd="sng" algn="ctr" cap="flat" w="9525">
                      <a:solidFill>
                        <a:srgbClr val="FBBD00"/>
                      </a:solidFill>
                      <a:prstDash val="solid"/>
                      <a:round/>
                      <a:headEnd type="none" w="med" len="med"/>
                      <a:tailEnd type="none" w="med" len="med"/>
                    </a:lnL>
                    <a:lnR cmpd="sng" algn="ctr" cap="flat" w="9525">
                      <a:solidFill>
                        <a:srgbClr val="FBBD00"/>
                      </a:solidFill>
                      <a:prstDash val="solid"/>
                      <a:round/>
                      <a:headEnd type="none" w="med" len="med"/>
                      <a:tailEnd type="none" w="med" len="med"/>
                    </a:lnR>
                    <a:lnT cmpd="sng" algn="ctr" cap="flat" w="9525">
                      <a:solidFill>
                        <a:srgbClr val="FBBD00"/>
                      </a:solidFill>
                      <a:prstDash val="solid"/>
                      <a:round/>
                      <a:headEnd type="none" w="med" len="med"/>
                      <a:tailEnd type="none" w="med" len="med"/>
                    </a:lnT>
                    <a:lnB cmpd="sng" algn="ctr" cap="flat" w="9525">
                      <a:solidFill>
                        <a:srgbClr val="FBBD00"/>
                      </a:solidFill>
                      <a:prstDash val="solid"/>
                      <a:round/>
                      <a:headEnd type="none" w="med" len="med"/>
                      <a:tailEnd type="none" w="med" len="med"/>
                    </a:lnB>
                    <a:solidFill>
                      <a:srgbClr val="FFFFFF"/>
                    </a:solidFill>
                  </a:tcPr>
                </a:tc>
              </a:tr>
              <a:tr h="1287521">
                <a:tc rowSpan="2">
                  <a:txBody>
                    <a:bodyPr anchor="t" rtlCol="false"/>
                    <a:lstStyle/>
                    <a:p>
                      <a:pPr algn="just">
                        <a:lnSpc>
                          <a:spcPts val="2520"/>
                        </a:lnSpc>
                        <a:defRPr/>
                      </a:pPr>
                      <a:r>
                        <a:rPr lang="en-US" b="true" sz="2100">
                          <a:solidFill>
                            <a:srgbClr val="000000"/>
                          </a:solidFill>
                          <a:latin typeface="Verdana Bold"/>
                          <a:ea typeface="Verdana Bold"/>
                          <a:cs typeface="Verdana Bold"/>
                          <a:sym typeface="Verdana Bold"/>
                        </a:rPr>
                        <a:t>CUSTOMERS</a:t>
                      </a:r>
                      <a:endParaRPr lang="en-US" sz="1100"/>
                    </a:p>
                    <a:p>
                      <a:pPr algn="just">
                        <a:lnSpc>
                          <a:spcPts val="2520"/>
                        </a:lnSpc>
                      </a:pPr>
                      <a:r>
                        <a:rPr lang="en-US" sz="2100">
                          <a:solidFill>
                            <a:srgbClr val="000000"/>
                          </a:solidFill>
                          <a:latin typeface="Verdana"/>
                          <a:ea typeface="Verdana"/>
                          <a:cs typeface="Verdana"/>
                          <a:sym typeface="Verdana"/>
                        </a:rPr>
                        <a:t>Who has the problem most often?</a:t>
                      </a:r>
                    </a:p>
                    <a:p>
                      <a:pPr algn="just" marL="348614" indent="-174307" lvl="1">
                        <a:lnSpc>
                          <a:spcPts val="2520"/>
                        </a:lnSpc>
                        <a:buFont typeface="Arial"/>
                        <a:buChar char="•"/>
                      </a:pPr>
                      <a:r>
                        <a:rPr lang="en-US" sz="2100">
                          <a:solidFill>
                            <a:srgbClr val="000000"/>
                          </a:solidFill>
                          <a:latin typeface="Verdana"/>
                          <a:ea typeface="Verdana"/>
                          <a:cs typeface="Verdana"/>
                          <a:sym typeface="Verdana"/>
                        </a:rPr>
                        <a:t>I think this problem is most common among pet owners in urban areas like Manila, especially young professionals, call center agents, nurses, and students who have irregular or long schedules. Basically, anyone who works away from home a lot and owns a pet faces this problem.</a:t>
                      </a:r>
                    </a:p>
                  </a:txBody>
                  <a:tcPr marL="0" marR="0" marT="0" marB="0" anchor="ctr">
                    <a:lnL cmpd="sng" algn="ctr" cap="flat" w="9525">
                      <a:solidFill>
                        <a:srgbClr val="FBBD00"/>
                      </a:solidFill>
                      <a:prstDash val="solid"/>
                      <a:round/>
                      <a:headEnd type="none" w="med" len="med"/>
                      <a:tailEnd type="none" w="med" len="med"/>
                    </a:lnL>
                    <a:lnR cmpd="sng" algn="ctr" cap="flat" w="12700">
                      <a:solidFill>
                        <a:srgbClr val="FBBD00"/>
                      </a:solidFill>
                      <a:prstDash val="solid"/>
                      <a:round/>
                      <a:headEnd type="none" w="med" len="med"/>
                      <a:tailEnd type="none" w="med" len="med"/>
                    </a:lnR>
                    <a:lnT cmpd="sng" algn="ctr" cap="flat" w="9525">
                      <a:solidFill>
                        <a:srgbClr val="FBBD00"/>
                      </a:solidFill>
                      <a:prstDash val="solid"/>
                      <a:round/>
                      <a:headEnd type="none" w="med" len="med"/>
                      <a:tailEnd type="none" w="med" len="med"/>
                    </a:lnT>
                    <a:lnB cmpd="sng" algn="ctr" cap="flat" w="9525">
                      <a:solidFill>
                        <a:srgbClr val="FBBD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b="true" sz="2000">
                          <a:solidFill>
                            <a:srgbClr val="000000"/>
                          </a:solidFill>
                          <a:latin typeface="Verdana Bold"/>
                          <a:ea typeface="Verdana Bold"/>
                          <a:cs typeface="Verdana Bold"/>
                          <a:sym typeface="Verdana Bold"/>
                        </a:rPr>
                        <a:t>EMOTIONAL IMPACT</a:t>
                      </a:r>
                      <a:endParaRPr lang="en-US" sz="1100"/>
                    </a:p>
                    <a:p>
                      <a:pPr algn="l">
                        <a:lnSpc>
                          <a:spcPts val="2400"/>
                        </a:lnSpc>
                      </a:pPr>
                      <a:r>
                        <a:rPr lang="en-US" sz="2000">
                          <a:solidFill>
                            <a:srgbClr val="000000"/>
                          </a:solidFill>
                          <a:latin typeface="Verdana"/>
                          <a:ea typeface="Verdana"/>
                          <a:cs typeface="Verdana"/>
                          <a:sym typeface="Verdana"/>
                        </a:rPr>
                        <a:t>How does  the customer  feel?</a:t>
                      </a:r>
                    </a:p>
                    <a:p>
                      <a:pPr algn="l" marL="342900" indent="-171450" lvl="1">
                        <a:lnSpc>
                          <a:spcPts val="2400"/>
                        </a:lnSpc>
                        <a:buFont typeface="Arial"/>
                        <a:buChar char="•"/>
                      </a:pPr>
                      <a:r>
                        <a:rPr lang="en-US" sz="2000">
                          <a:solidFill>
                            <a:srgbClr val="000000"/>
                          </a:solidFill>
                          <a:latin typeface="Verdana"/>
                          <a:ea typeface="Verdana"/>
                          <a:cs typeface="Verdana"/>
                          <a:sym typeface="Verdana"/>
                        </a:rPr>
                        <a:t>I feel anxious and guilty when I leave my pet behind.</a:t>
                      </a:r>
                    </a:p>
                  </a:txBody>
                  <a:tcPr marL="0" marR="0" marT="0" marB="0" anchor="ctr">
                    <a:lnL cmpd="sng" algn="ctr" cap="flat" w="12700">
                      <a:solidFill>
                        <a:srgbClr val="FBBD00"/>
                      </a:solidFill>
                      <a:prstDash val="solid"/>
                      <a:round/>
                      <a:headEnd type="none" w="med" len="med"/>
                      <a:tailEnd type="none" w="med" len="med"/>
                    </a:lnL>
                    <a:lnR cmpd="sng" algn="ctr" cap="flat" w="9525">
                      <a:solidFill>
                        <a:srgbClr val="FBBD00"/>
                      </a:solidFill>
                      <a:prstDash val="solid"/>
                      <a:round/>
                      <a:headEnd type="none" w="med" len="med"/>
                      <a:tailEnd type="none" w="med" len="med"/>
                    </a:lnR>
                    <a:lnT cmpd="sng" algn="ctr" cap="flat" w="9525">
                      <a:solidFill>
                        <a:srgbClr val="FBBD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rowSpan="2">
                  <a:txBody>
                    <a:bodyPr anchor="t" rtlCol="false"/>
                    <a:lstStyle/>
                    <a:p>
                      <a:pPr algn="just">
                        <a:lnSpc>
                          <a:spcPts val="2520"/>
                        </a:lnSpc>
                        <a:defRPr/>
                      </a:pPr>
                      <a:r>
                        <a:rPr lang="en-US" b="true" sz="2100">
                          <a:solidFill>
                            <a:srgbClr val="000000"/>
                          </a:solidFill>
                          <a:latin typeface="Verdana Bold"/>
                          <a:ea typeface="Verdana Bold"/>
                          <a:cs typeface="Verdana Bold"/>
                          <a:sym typeface="Verdana Bold"/>
                        </a:rPr>
                        <a:t>ALTERNATIVE SHORTCOMINGS</a:t>
                      </a:r>
                      <a:endParaRPr lang="en-US" sz="1100"/>
                    </a:p>
                    <a:p>
                      <a:pPr algn="just">
                        <a:lnSpc>
                          <a:spcPts val="2520"/>
                        </a:lnSpc>
                      </a:pPr>
                      <a:r>
                        <a:rPr lang="en-US" sz="2100">
                          <a:solidFill>
                            <a:srgbClr val="000000"/>
                          </a:solidFill>
                          <a:latin typeface="Verdana"/>
                          <a:ea typeface="Verdana"/>
                          <a:cs typeface="Verdana"/>
                          <a:sym typeface="Verdana"/>
                        </a:rPr>
                        <a:t>What are the disadvantages of the  alternatives?</a:t>
                      </a:r>
                    </a:p>
                    <a:p>
                      <a:pPr algn="just" marL="348614" indent="-174307" lvl="1">
                        <a:lnSpc>
                          <a:spcPts val="2520"/>
                        </a:lnSpc>
                        <a:buFont typeface="Arial"/>
                        <a:buChar char="•"/>
                      </a:pPr>
                      <a:r>
                        <a:rPr lang="en-US" sz="2100">
                          <a:solidFill>
                            <a:srgbClr val="000000"/>
                          </a:solidFill>
                          <a:latin typeface="Verdana"/>
                          <a:ea typeface="Verdana"/>
                          <a:cs typeface="Verdana"/>
                          <a:sym typeface="Verdana"/>
                        </a:rPr>
                        <a:t>Family and neighbors are unreliable since they have their own priorities. Vet boarding is expensive and stressful for my pet. Leaving food and water out isn’t safe because it doesn’t guarantee my pet is properly cared for. Basically, none of the alternatives give me the peace of mind I really want.</a:t>
                      </a:r>
                    </a:p>
                  </a:txBody>
                  <a:tcPr marL="0" marR="0" marT="0" marB="0" anchor="ctr">
                    <a:lnL cmpd="sng" algn="ctr" cap="flat" w="9525">
                      <a:solidFill>
                        <a:srgbClr val="FBBD00"/>
                      </a:solidFill>
                      <a:prstDash val="solid"/>
                      <a:round/>
                      <a:headEnd type="none" w="med" len="med"/>
                      <a:tailEnd type="none" w="med" len="med"/>
                    </a:lnL>
                    <a:lnR cmpd="sng" algn="ctr" cap="flat" w="9525">
                      <a:solidFill>
                        <a:srgbClr val="FBBD00"/>
                      </a:solidFill>
                      <a:prstDash val="solid"/>
                      <a:round/>
                      <a:headEnd type="none" w="med" len="med"/>
                      <a:tailEnd type="none" w="med" len="med"/>
                    </a:lnR>
                    <a:lnT cmpd="sng" algn="ctr" cap="flat" w="9525">
                      <a:solidFill>
                        <a:srgbClr val="FBBD00"/>
                      </a:solidFill>
                      <a:prstDash val="solid"/>
                      <a:round/>
                      <a:headEnd type="none" w="med" len="med"/>
                      <a:tailEnd type="none" w="med" len="med"/>
                    </a:lnT>
                    <a:lnB cmpd="sng" algn="ctr" cap="flat" w="9525">
                      <a:solidFill>
                        <a:srgbClr val="FBBD00"/>
                      </a:solidFill>
                      <a:prstDash val="solid"/>
                      <a:round/>
                      <a:headEnd type="none" w="med" len="med"/>
                      <a:tailEnd type="none" w="med" len="med"/>
                    </a:lnB>
                    <a:solidFill>
                      <a:srgbClr val="FFFFFF"/>
                    </a:solidFill>
                  </a:tcPr>
                </a:tc>
              </a:tr>
              <a:tr h="2636755">
                <a:tc vMerge="true">
                  <a:txBody>
                    <a:bodyPr anchor="t" rtlCol="false"/>
                    <a:lstStyle/>
                    <a:p>
                      <a:pPr algn="just">
                        <a:lnSpc>
                          <a:spcPts val="2520"/>
                        </a:lnSpc>
                        <a:defRPr/>
                      </a:pPr>
                      <a:r>
                        <a:rPr lang="en-US" b="true" sz="2100">
                          <a:solidFill>
                            <a:srgbClr val="000000"/>
                          </a:solidFill>
                          <a:latin typeface="Verdana Bold"/>
                          <a:ea typeface="Verdana Bold"/>
                          <a:cs typeface="Verdana Bold"/>
                          <a:sym typeface="Verdana Bold"/>
                        </a:rPr>
                        <a:t>CUSTOMERS</a:t>
                      </a:r>
                      <a:endParaRPr lang="en-US" sz="1100"/>
                    </a:p>
                    <a:p>
                      <a:pPr algn="just">
                        <a:lnSpc>
                          <a:spcPts val="2520"/>
                        </a:lnSpc>
                      </a:pPr>
                      <a:r>
                        <a:rPr lang="en-US" sz="2100">
                          <a:solidFill>
                            <a:srgbClr val="000000"/>
                          </a:solidFill>
                          <a:latin typeface="Verdana"/>
                          <a:ea typeface="Verdana"/>
                          <a:cs typeface="Verdana"/>
                          <a:sym typeface="Verdana"/>
                        </a:rPr>
                        <a:t>Who has the problem most often?</a:t>
                      </a:r>
                    </a:p>
                    <a:p>
                      <a:pPr algn="just" marL="348614" indent="-174307" lvl="1">
                        <a:lnSpc>
                          <a:spcPts val="2520"/>
                        </a:lnSpc>
                        <a:buFont typeface="Arial"/>
                        <a:buChar char="•"/>
                      </a:pPr>
                      <a:r>
                        <a:rPr lang="en-US" sz="2100">
                          <a:solidFill>
                            <a:srgbClr val="000000"/>
                          </a:solidFill>
                          <a:latin typeface="Verdana"/>
                          <a:ea typeface="Verdana"/>
                          <a:cs typeface="Verdana"/>
                          <a:sym typeface="Verdana"/>
                        </a:rPr>
                        <a:t>I think this problem is most common among pet owners in urban areas like Manila, especially young professionals, call center agents, nurses, and students who have irregular or long schedules. Basically, anyone who works away from home a lot and owns a pet faces this problem.</a:t>
                      </a:r>
                    </a:p>
                  </a:txBody>
                  <a:tcPr marL="0" marR="0" marT="0" marB="0" anchor="ctr">
                    <a:lnL cmpd="sng" algn="ctr" cap="flat" w="9525">
                      <a:solidFill>
                        <a:srgbClr val="FBBD00"/>
                      </a:solidFill>
                      <a:prstDash val="solid"/>
                      <a:round/>
                      <a:headEnd type="none" w="med" len="med"/>
                      <a:tailEnd type="none" w="med" len="med"/>
                    </a:lnL>
                    <a:lnR cmpd="sng" algn="ctr" cap="flat" w="12700">
                      <a:solidFill>
                        <a:srgbClr val="FBBD00"/>
                      </a:solidFill>
                      <a:prstDash val="solid"/>
                      <a:round/>
                      <a:headEnd type="none" w="med" len="med"/>
                      <a:tailEnd type="none" w="med" len="med"/>
                    </a:lnR>
                    <a:lnT cmpd="sng" algn="ctr" cap="flat" w="9525">
                      <a:solidFill>
                        <a:srgbClr val="FBBD00"/>
                      </a:solidFill>
                      <a:prstDash val="solid"/>
                      <a:round/>
                      <a:headEnd type="none" w="med" len="med"/>
                      <a:tailEnd type="none" w="med" len="med"/>
                    </a:lnT>
                    <a:lnB cmpd="sng" algn="ctr" cap="flat" w="9525">
                      <a:solidFill>
                        <a:srgbClr val="FBBD00"/>
                      </a:solidFill>
                      <a:prstDash val="solid"/>
                      <a:round/>
                      <a:headEnd type="none" w="med" len="med"/>
                      <a:tailEnd type="none" w="med" len="med"/>
                    </a:lnB>
                    <a:solidFill>
                      <a:srgbClr val="FFFFFF"/>
                    </a:solidFill>
                  </a:tcPr>
                </a:tc>
                <a:tc>
                  <a:txBody>
                    <a:bodyPr anchor="t" rtlCol="false"/>
                    <a:lstStyle/>
                    <a:p>
                      <a:pPr algn="l">
                        <a:lnSpc>
                          <a:spcPts val="1680"/>
                        </a:lnSpc>
                        <a:defRPr/>
                      </a:pPr>
                      <a:endParaRPr lang="en-US" sz="1100"/>
                    </a:p>
                    <a:p>
                      <a:pPr algn="just">
                        <a:lnSpc>
                          <a:spcPts val="2040"/>
                        </a:lnSpc>
                      </a:pPr>
                      <a:r>
                        <a:rPr lang="en-US" b="true" sz="1700">
                          <a:solidFill>
                            <a:srgbClr val="000000"/>
                          </a:solidFill>
                          <a:latin typeface="Verdana Bold"/>
                          <a:ea typeface="Verdana Bold"/>
                          <a:cs typeface="Verdana Bold"/>
                          <a:sym typeface="Verdana Bold"/>
                        </a:rPr>
                        <a:t>QUANTIFIABLE IMPACT</a:t>
                      </a:r>
                    </a:p>
                    <a:p>
                      <a:pPr algn="just">
                        <a:lnSpc>
                          <a:spcPts val="2040"/>
                        </a:lnSpc>
                      </a:pPr>
                      <a:r>
                        <a:rPr lang="en-US" sz="1700">
                          <a:solidFill>
                            <a:srgbClr val="000000"/>
                          </a:solidFill>
                          <a:latin typeface="Verdana"/>
                          <a:ea typeface="Verdana"/>
                          <a:cs typeface="Verdana"/>
                          <a:sym typeface="Verdana"/>
                        </a:rPr>
                        <a:t>What is the measurable impact  (include units)?</a:t>
                      </a:r>
                    </a:p>
                    <a:p>
                      <a:pPr algn="just" marL="344806" indent="-172403" lvl="1">
                        <a:lnSpc>
                          <a:spcPts val="2040"/>
                        </a:lnSpc>
                        <a:buFont typeface="Arial"/>
                        <a:buChar char="•"/>
                      </a:pPr>
                      <a:r>
                        <a:rPr lang="en-US" sz="1700">
                          <a:solidFill>
                            <a:srgbClr val="000000"/>
                          </a:solidFill>
                          <a:latin typeface="Verdana"/>
                          <a:ea typeface="Verdana"/>
                          <a:cs typeface="Verdana"/>
                          <a:sym typeface="Verdana"/>
                        </a:rPr>
                        <a:t>Based on what I’ve seen, around 70% of my friends who have pets also struggle to find sitters. Sometimes I even cancel travel plans or turn down extra work shifts because I don’t want to leave my pet alone, which affects my income and opportunities.</a:t>
                      </a:r>
                    </a:p>
                  </a:txBody>
                  <a:tcPr marL="0" marR="0" marT="0" marB="0" anchor="ctr">
                    <a:lnL cmpd="sng" algn="ctr" cap="flat" w="12700">
                      <a:solidFill>
                        <a:srgbClr val="FBBD00"/>
                      </a:solidFill>
                      <a:prstDash val="solid"/>
                      <a:round/>
                      <a:headEnd type="none" w="med" len="med"/>
                      <a:tailEnd type="none" w="med" len="med"/>
                    </a:lnL>
                    <a:lnR cmpd="sng" algn="ctr" cap="flat" w="9525">
                      <a:solidFill>
                        <a:srgbClr val="FBBD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FBBD00"/>
                      </a:solidFill>
                      <a:prstDash val="solid"/>
                      <a:round/>
                      <a:headEnd type="none" w="med" len="med"/>
                      <a:tailEnd type="none" w="med" len="med"/>
                    </a:lnB>
                    <a:solidFill>
                      <a:srgbClr val="FFFFFF"/>
                    </a:solidFill>
                  </a:tcPr>
                </a:tc>
                <a:tc vMerge="true">
                  <a:txBody>
                    <a:bodyPr anchor="t" rtlCol="false"/>
                    <a:lstStyle/>
                    <a:p>
                      <a:pPr algn="just">
                        <a:lnSpc>
                          <a:spcPts val="2520"/>
                        </a:lnSpc>
                        <a:defRPr/>
                      </a:pPr>
                      <a:r>
                        <a:rPr lang="en-US" b="true" sz="2100">
                          <a:solidFill>
                            <a:srgbClr val="000000"/>
                          </a:solidFill>
                          <a:latin typeface="Verdana Bold"/>
                          <a:ea typeface="Verdana Bold"/>
                          <a:cs typeface="Verdana Bold"/>
                          <a:sym typeface="Verdana Bold"/>
                        </a:rPr>
                        <a:t>ALTERNATIVE SHORTCOMINGS</a:t>
                      </a:r>
                      <a:endParaRPr lang="en-US" sz="1100"/>
                    </a:p>
                    <a:p>
                      <a:pPr algn="just">
                        <a:lnSpc>
                          <a:spcPts val="2520"/>
                        </a:lnSpc>
                      </a:pPr>
                      <a:r>
                        <a:rPr lang="en-US" sz="2100">
                          <a:solidFill>
                            <a:srgbClr val="000000"/>
                          </a:solidFill>
                          <a:latin typeface="Verdana"/>
                          <a:ea typeface="Verdana"/>
                          <a:cs typeface="Verdana"/>
                          <a:sym typeface="Verdana"/>
                        </a:rPr>
                        <a:t>What are the disadvantages of the  alternatives?</a:t>
                      </a:r>
                    </a:p>
                    <a:p>
                      <a:pPr algn="just" marL="348614" indent="-174307" lvl="1">
                        <a:lnSpc>
                          <a:spcPts val="2520"/>
                        </a:lnSpc>
                        <a:buFont typeface="Arial"/>
                        <a:buChar char="•"/>
                      </a:pPr>
                      <a:r>
                        <a:rPr lang="en-US" sz="2100">
                          <a:solidFill>
                            <a:srgbClr val="000000"/>
                          </a:solidFill>
                          <a:latin typeface="Verdana"/>
                          <a:ea typeface="Verdana"/>
                          <a:cs typeface="Verdana"/>
                          <a:sym typeface="Verdana"/>
                        </a:rPr>
                        <a:t>Family and neighbors are unreliable since they have their own priorities. Vet boarding is expensive and stressful for my pet. Leaving food and water out isn’t safe because it doesn’t guarantee my pet is properly cared for. Basically, none of the alternatives give me the peace of mind I really want.</a:t>
                      </a:r>
                    </a:p>
                  </a:txBody>
                  <a:tcPr marL="0" marR="0" marT="0" marB="0" anchor="ctr">
                    <a:lnL cmpd="sng" algn="ctr" cap="flat" w="9525">
                      <a:solidFill>
                        <a:srgbClr val="FBBD00"/>
                      </a:solidFill>
                      <a:prstDash val="solid"/>
                      <a:round/>
                      <a:headEnd type="none" w="med" len="med"/>
                      <a:tailEnd type="none" w="med" len="med"/>
                    </a:lnL>
                    <a:lnR cmpd="sng" algn="ctr" cap="flat" w="9525">
                      <a:solidFill>
                        <a:srgbClr val="FBBD00"/>
                      </a:solidFill>
                      <a:prstDash val="solid"/>
                      <a:round/>
                      <a:headEnd type="none" w="med" len="med"/>
                      <a:tailEnd type="none" w="med" len="med"/>
                    </a:lnR>
                    <a:lnT cmpd="sng" algn="ctr" cap="flat" w="9525">
                      <a:solidFill>
                        <a:srgbClr val="FBBD00"/>
                      </a:solidFill>
                      <a:prstDash val="solid"/>
                      <a:round/>
                      <a:headEnd type="none" w="med" len="med"/>
                      <a:tailEnd type="none" w="med" len="med"/>
                    </a:lnT>
                    <a:lnB cmpd="sng" algn="ctr" cap="flat" w="9525">
                      <a:solidFill>
                        <a:srgbClr val="FBBD00"/>
                      </a:solidFill>
                      <a:prstDash val="solid"/>
                      <a:round/>
                      <a:headEnd type="none" w="med" len="med"/>
                      <a:tailEnd type="none" w="med" len="med"/>
                    </a:lnB>
                    <a:solidFill>
                      <a:srgbClr val="FFFFFF"/>
                    </a:solidFill>
                  </a:tcPr>
                </a:tc>
              </a:tr>
            </a:tbl>
          </a:graphicData>
        </a:graphic>
      </p:graphicFrame>
      <p:grpSp>
        <p:nvGrpSpPr>
          <p:cNvPr name="Group 3" id="3"/>
          <p:cNvGrpSpPr/>
          <p:nvPr/>
        </p:nvGrpSpPr>
        <p:grpSpPr>
          <a:xfrm rot="0">
            <a:off x="6718838" y="6602494"/>
            <a:ext cx="2187529" cy="203796"/>
            <a:chOff x="0" y="0"/>
            <a:chExt cx="2916705" cy="271728"/>
          </a:xfrm>
        </p:grpSpPr>
        <p:sp>
          <p:nvSpPr>
            <p:cNvPr name="Freeform 4" id="4"/>
            <p:cNvSpPr/>
            <p:nvPr/>
          </p:nvSpPr>
          <p:spPr>
            <a:xfrm flipH="false" flipV="false" rot="0">
              <a:off x="0" y="0"/>
              <a:ext cx="2916705" cy="271728"/>
            </a:xfrm>
            <a:custGeom>
              <a:avLst/>
              <a:gdLst/>
              <a:ahLst/>
              <a:cxnLst/>
              <a:rect r="r" b="b" t="t" l="l"/>
              <a:pathLst>
                <a:path h="271728" w="2916705">
                  <a:moveTo>
                    <a:pt x="0" y="0"/>
                  </a:moveTo>
                  <a:lnTo>
                    <a:pt x="2916705" y="0"/>
                  </a:lnTo>
                  <a:lnTo>
                    <a:pt x="2916705" y="271728"/>
                  </a:lnTo>
                  <a:lnTo>
                    <a:pt x="0" y="271728"/>
                  </a:lnTo>
                  <a:close/>
                </a:path>
              </a:pathLst>
            </a:custGeom>
          </p:spPr>
        </p:sp>
        <p:sp>
          <p:nvSpPr>
            <p:cNvPr name="TextBox 5" id="5"/>
            <p:cNvSpPr txBox="true"/>
            <p:nvPr/>
          </p:nvSpPr>
          <p:spPr>
            <a:xfrm>
              <a:off x="0" y="0"/>
              <a:ext cx="2916705" cy="271728"/>
            </a:xfrm>
            <a:prstGeom prst="rect">
              <a:avLst/>
            </a:prstGeom>
          </p:spPr>
          <p:txBody>
            <a:bodyPr anchor="ctr" rtlCol="false" tIns="0" lIns="0" bIns="0" rIns="0"/>
            <a:lstStyle/>
            <a:p>
              <a:pPr algn="r">
                <a:lnSpc>
                  <a:spcPts val="1439"/>
                </a:lnSpc>
              </a:pPr>
              <a:r>
                <a:rPr lang="en-US" sz="1200">
                  <a:solidFill>
                    <a:srgbClr val="888888"/>
                  </a:solidFill>
                  <a:latin typeface="Verdana"/>
                  <a:ea typeface="Verdana"/>
                  <a:cs typeface="Verdana"/>
                  <a:sym typeface="Verdana"/>
                </a:rPr>
                <a:t>‹#›</a:t>
              </a:r>
            </a:p>
          </p:txBody>
        </p:sp>
      </p:grpSp>
      <p:grpSp>
        <p:nvGrpSpPr>
          <p:cNvPr name="Group 6" id="6"/>
          <p:cNvGrpSpPr/>
          <p:nvPr/>
        </p:nvGrpSpPr>
        <p:grpSpPr>
          <a:xfrm rot="0">
            <a:off x="304800" y="256304"/>
            <a:ext cx="15304200" cy="1147135"/>
            <a:chOff x="0" y="0"/>
            <a:chExt cx="20405600" cy="1529514"/>
          </a:xfrm>
        </p:grpSpPr>
        <p:sp>
          <p:nvSpPr>
            <p:cNvPr name="Freeform 7" id="7"/>
            <p:cNvSpPr/>
            <p:nvPr/>
          </p:nvSpPr>
          <p:spPr>
            <a:xfrm flipH="false" flipV="false" rot="0">
              <a:off x="0" y="0"/>
              <a:ext cx="20405599" cy="1529514"/>
            </a:xfrm>
            <a:custGeom>
              <a:avLst/>
              <a:gdLst/>
              <a:ahLst/>
              <a:cxnLst/>
              <a:rect r="r" b="b" t="t" l="l"/>
              <a:pathLst>
                <a:path h="1529514" w="20405599">
                  <a:moveTo>
                    <a:pt x="0" y="0"/>
                  </a:moveTo>
                  <a:lnTo>
                    <a:pt x="20405599" y="0"/>
                  </a:lnTo>
                  <a:lnTo>
                    <a:pt x="20405599" y="1529514"/>
                  </a:lnTo>
                  <a:lnTo>
                    <a:pt x="0" y="1529514"/>
                  </a:lnTo>
                  <a:close/>
                </a:path>
              </a:pathLst>
            </a:custGeom>
          </p:spPr>
        </p:sp>
        <p:sp>
          <p:nvSpPr>
            <p:cNvPr name="TextBox 8" id="8"/>
            <p:cNvSpPr txBox="true"/>
            <p:nvPr/>
          </p:nvSpPr>
          <p:spPr>
            <a:xfrm>
              <a:off x="0" y="-381000"/>
              <a:ext cx="20405600" cy="1910514"/>
            </a:xfrm>
            <a:prstGeom prst="rect">
              <a:avLst/>
            </a:prstGeom>
          </p:spPr>
          <p:txBody>
            <a:bodyPr anchor="ctr" rtlCol="false" tIns="0" lIns="0" bIns="0" rIns="0"/>
            <a:lstStyle/>
            <a:p>
              <a:pPr algn="l">
                <a:lnSpc>
                  <a:spcPts val="10496"/>
                </a:lnSpc>
              </a:pPr>
              <a:r>
                <a:rPr lang="en-US" b="true" sz="5400">
                  <a:solidFill>
                    <a:srgbClr val="000000"/>
                  </a:solidFill>
                  <a:latin typeface="Quicksand Bold"/>
                  <a:ea typeface="Quicksand Bold"/>
                  <a:cs typeface="Quicksand Bold"/>
                  <a:sym typeface="Quicksand Bold"/>
                </a:rPr>
                <a:t>Problem/Opportunity</a:t>
              </a:r>
            </a:p>
          </p:txBody>
        </p:sp>
      </p:grpSp>
      <p:sp>
        <p:nvSpPr>
          <p:cNvPr name="TextBox 9" id="9"/>
          <p:cNvSpPr txBox="true"/>
          <p:nvPr/>
        </p:nvSpPr>
        <p:spPr>
          <a:xfrm rot="0">
            <a:off x="588400" y="1088450"/>
            <a:ext cx="12742050" cy="1065375"/>
          </a:xfrm>
          <a:prstGeom prst="rect">
            <a:avLst/>
          </a:prstGeom>
        </p:spPr>
        <p:txBody>
          <a:bodyPr anchor="t" rtlCol="false" tIns="0" lIns="0" bIns="0" rIns="0">
            <a:spAutoFit/>
          </a:bodyPr>
          <a:lstStyle/>
          <a:p>
            <a:pPr algn="l">
              <a:lnSpc>
                <a:spcPts val="2639"/>
              </a:lnSpc>
            </a:pPr>
            <a:r>
              <a:rPr lang="en-US" sz="2199">
                <a:solidFill>
                  <a:srgbClr val="000000"/>
                </a:solidFill>
                <a:latin typeface="Calibri (MS)"/>
                <a:ea typeface="Calibri (MS)"/>
                <a:cs typeface="Calibri (MS)"/>
                <a:sym typeface="Calibri (MS)"/>
              </a:rPr>
              <a:t>Name: Jeffrey Lobaton</a:t>
            </a:r>
          </a:p>
          <a:p>
            <a:pPr algn="l">
              <a:lnSpc>
                <a:spcPts val="2639"/>
              </a:lnSpc>
            </a:pPr>
            <a:r>
              <a:rPr lang="en-US" sz="2199">
                <a:solidFill>
                  <a:srgbClr val="000000"/>
                </a:solidFill>
                <a:latin typeface="Calibri (MS)"/>
                <a:ea typeface="Calibri (MS)"/>
                <a:cs typeface="Calibri (MS)"/>
                <a:sym typeface="Calibri (MS)"/>
              </a:rPr>
              <a:t>Problem:  Struggle to find reliable, affordable, and trustworthy pet care options when I’m at work, traveling, or unavailable.</a:t>
            </a:r>
          </a:p>
        </p:txBody>
      </p:sp>
      <p:grpSp>
        <p:nvGrpSpPr>
          <p:cNvPr name="Group 10" id="10"/>
          <p:cNvGrpSpPr>
            <a:grpSpLocks noChangeAspect="true"/>
          </p:cNvGrpSpPr>
          <p:nvPr/>
        </p:nvGrpSpPr>
        <p:grpSpPr>
          <a:xfrm rot="0">
            <a:off x="15047404" y="322975"/>
            <a:ext cx="2905267" cy="916975"/>
            <a:chOff x="0" y="0"/>
            <a:chExt cx="3873689" cy="1222633"/>
          </a:xfrm>
        </p:grpSpPr>
        <p:sp>
          <p:nvSpPr>
            <p:cNvPr name="Freeform 11" id="11"/>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3"/>
              <a:stretch>
                <a:fillRect l="0" t="0" r="-1"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TextBox 2" id="2"/>
          <p:cNvSpPr txBox="true"/>
          <p:nvPr/>
        </p:nvSpPr>
        <p:spPr>
          <a:xfrm rot="0">
            <a:off x="514350" y="418145"/>
            <a:ext cx="12338400" cy="994219"/>
          </a:xfrm>
          <a:prstGeom prst="rect">
            <a:avLst/>
          </a:prstGeom>
        </p:spPr>
        <p:txBody>
          <a:bodyPr anchor="t" rtlCol="false" tIns="0" lIns="0" bIns="0" rIns="0">
            <a:spAutoFit/>
          </a:bodyPr>
          <a:lstStyle/>
          <a:p>
            <a:pPr algn="l">
              <a:lnSpc>
                <a:spcPts val="8746"/>
              </a:lnSpc>
            </a:pPr>
            <a:r>
              <a:rPr lang="en-US" b="true" sz="4500">
                <a:solidFill>
                  <a:srgbClr val="000000"/>
                </a:solidFill>
                <a:latin typeface="Quicksand Bold"/>
                <a:ea typeface="Quicksand Bold"/>
                <a:cs typeface="Quicksand Bold"/>
                <a:sym typeface="Quicksand Bold"/>
              </a:rPr>
              <a:t>Problem Interviews And Surveys Results  </a:t>
            </a:r>
          </a:p>
        </p:txBody>
      </p:sp>
      <p:sp>
        <p:nvSpPr>
          <p:cNvPr name="TextBox 3" id="3"/>
          <p:cNvSpPr txBox="true"/>
          <p:nvPr/>
        </p:nvSpPr>
        <p:spPr>
          <a:xfrm rot="0">
            <a:off x="514350" y="1666891"/>
            <a:ext cx="9332850" cy="8002428"/>
          </a:xfrm>
          <a:prstGeom prst="rect">
            <a:avLst/>
          </a:prstGeom>
        </p:spPr>
        <p:txBody>
          <a:bodyPr anchor="t" rtlCol="false" tIns="0" lIns="0" bIns="0" rIns="0">
            <a:spAutoFit/>
          </a:bodyPr>
          <a:lstStyle/>
          <a:p>
            <a:pPr algn="just">
              <a:lnSpc>
                <a:spcPts val="2640"/>
              </a:lnSpc>
            </a:pPr>
            <a:r>
              <a:rPr lang="en-US" b="true" sz="2200">
                <a:solidFill>
                  <a:srgbClr val="757070"/>
                </a:solidFill>
                <a:latin typeface="Quicksand Bold"/>
                <a:ea typeface="Quicksand Bold"/>
                <a:cs typeface="Quicksand Bold"/>
                <a:sym typeface="Quicksand Bold"/>
              </a:rPr>
              <a:t>We conducted a survey with 40 pet owners in the Philippines through Google Forms to better understand the challenges in finding reliable pet care.</a:t>
            </a:r>
          </a:p>
          <a:p>
            <a:pPr algn="just">
              <a:lnSpc>
                <a:spcPts val="2640"/>
              </a:lnSpc>
            </a:pPr>
            <a:r>
              <a:rPr lang="en-US" b="true" sz="2200">
                <a:solidFill>
                  <a:srgbClr val="000000"/>
                </a:solidFill>
                <a:latin typeface="Quicksand Bold"/>
                <a:ea typeface="Quicksand Bold"/>
                <a:cs typeface="Quicksand Bold"/>
                <a:sym typeface="Quicksand Bold"/>
              </a:rPr>
              <a:t>Demographics of respondents:</a:t>
            </a:r>
          </a:p>
          <a:p>
            <a:pPr algn="just" marL="474986" indent="-237493" lvl="1">
              <a:lnSpc>
                <a:spcPts val="2640"/>
              </a:lnSpc>
              <a:buFont typeface="Arial"/>
              <a:buChar char="•"/>
            </a:pPr>
            <a:r>
              <a:rPr lang="en-US" b="true" sz="2200">
                <a:solidFill>
                  <a:srgbClr val="000000"/>
                </a:solidFill>
                <a:latin typeface="Quicksand Bold"/>
                <a:ea typeface="Quicksand Bold"/>
                <a:cs typeface="Quicksand Bold"/>
                <a:sym typeface="Quicksand Bold"/>
              </a:rPr>
              <a:t>Age: </a:t>
            </a:r>
            <a:r>
              <a:rPr lang="en-US" b="true" sz="2200">
                <a:solidFill>
                  <a:srgbClr val="757070"/>
                </a:solidFill>
                <a:latin typeface="Quicksand Bold"/>
                <a:ea typeface="Quicksand Bold"/>
                <a:cs typeface="Quicksand Bold"/>
                <a:sym typeface="Quicksand Bold"/>
              </a:rPr>
              <a:t>Majority were 18–35 years old (65%), followed by 36–50 years old (25%), and 51 years old and above (10%).</a:t>
            </a:r>
          </a:p>
          <a:p>
            <a:pPr algn="just" marL="474986" indent="-237493" lvl="1">
              <a:lnSpc>
                <a:spcPts val="2640"/>
              </a:lnSpc>
              <a:buFont typeface="Arial"/>
              <a:buChar char="•"/>
            </a:pPr>
            <a:r>
              <a:rPr lang="en-US" b="true" sz="2200">
                <a:solidFill>
                  <a:srgbClr val="000000"/>
                </a:solidFill>
                <a:latin typeface="Quicksand Bold"/>
                <a:ea typeface="Quicksand Bold"/>
                <a:cs typeface="Quicksand Bold"/>
                <a:sym typeface="Quicksand Bold"/>
              </a:rPr>
              <a:t>Gender: </a:t>
            </a:r>
            <a:r>
              <a:rPr lang="en-US" b="true" sz="2200">
                <a:solidFill>
                  <a:srgbClr val="757070"/>
                </a:solidFill>
                <a:latin typeface="Quicksand Bold"/>
                <a:ea typeface="Quicksand Bold"/>
                <a:cs typeface="Quicksand Bold"/>
                <a:sym typeface="Quicksand Bold"/>
              </a:rPr>
              <a:t>70% female and 30% male.</a:t>
            </a:r>
          </a:p>
          <a:p>
            <a:pPr algn="just" marL="474986" indent="-237493" lvl="1">
              <a:lnSpc>
                <a:spcPts val="2640"/>
              </a:lnSpc>
              <a:buFont typeface="Arial"/>
              <a:buChar char="•"/>
            </a:pPr>
            <a:r>
              <a:rPr lang="en-US" b="true" sz="2200">
                <a:solidFill>
                  <a:srgbClr val="000000"/>
                </a:solidFill>
                <a:latin typeface="Quicksand Bold"/>
                <a:ea typeface="Quicksand Bold"/>
                <a:cs typeface="Quicksand Bold"/>
                <a:sym typeface="Quicksand Bold"/>
              </a:rPr>
              <a:t>Type of pets owned: </a:t>
            </a:r>
            <a:r>
              <a:rPr lang="en-US" b="true" sz="2200">
                <a:solidFill>
                  <a:srgbClr val="757070"/>
                </a:solidFill>
                <a:latin typeface="Quicksand Bold"/>
                <a:ea typeface="Quicksand Bold"/>
                <a:cs typeface="Quicksand Bold"/>
                <a:sym typeface="Quicksand Bold"/>
              </a:rPr>
              <a:t>Dogs (75%) were the most common, followed by cats (50%), and a smaller percentage owned other pets such as birds, hamsters, or fish (15%).</a:t>
            </a:r>
          </a:p>
          <a:p>
            <a:pPr algn="just">
              <a:lnSpc>
                <a:spcPts val="2640"/>
              </a:lnSpc>
            </a:pPr>
            <a:r>
              <a:rPr lang="en-US" b="true" sz="2200">
                <a:solidFill>
                  <a:srgbClr val="000000"/>
                </a:solidFill>
                <a:latin typeface="Quicksand Bold"/>
                <a:ea typeface="Quicksand Bold"/>
                <a:cs typeface="Quicksand Bold"/>
                <a:sym typeface="Quicksand Bold"/>
              </a:rPr>
              <a:t>Key Findings:</a:t>
            </a:r>
          </a:p>
          <a:p>
            <a:pPr algn="just" marL="474986" indent="-237493" lvl="1">
              <a:lnSpc>
                <a:spcPts val="2640"/>
              </a:lnSpc>
              <a:buFont typeface="Arial"/>
              <a:buChar char="•"/>
            </a:pPr>
            <a:r>
              <a:rPr lang="en-US" b="true" sz="2200">
                <a:solidFill>
                  <a:srgbClr val="757070"/>
                </a:solidFill>
                <a:latin typeface="Quicksand Bold"/>
                <a:ea typeface="Quicksand Bold"/>
                <a:cs typeface="Quicksand Bold"/>
                <a:sym typeface="Quicksand Bold"/>
              </a:rPr>
              <a:t>32 respondents (80%) agreed that finding reliable pet care is a real problem and expressed strong interest in a new solution, such as a mobile application that connects them to verified pet sitters.</a:t>
            </a:r>
          </a:p>
          <a:p>
            <a:pPr algn="just" marL="474984" indent="-237492" lvl="1">
              <a:lnSpc>
                <a:spcPts val="2640"/>
              </a:lnSpc>
              <a:buFont typeface="Arial"/>
              <a:buChar char="•"/>
            </a:pPr>
            <a:r>
              <a:rPr lang="en-US" b="true" sz="2200">
                <a:solidFill>
                  <a:srgbClr val="757070"/>
                </a:solidFill>
                <a:latin typeface="Quicksand Bold"/>
                <a:ea typeface="Quicksand Bold"/>
                <a:cs typeface="Quicksand Bold"/>
                <a:sym typeface="Quicksand Bold"/>
              </a:rPr>
              <a:t>8 respondents (20%) indicated that they do not feel the need for a new solution, as they are currently satisfied with their existing arrangements (e.g., relying on family, neighbors, or vet boarding).</a:t>
            </a:r>
          </a:p>
          <a:p>
            <a:pPr algn="just">
              <a:lnSpc>
                <a:spcPts val="2640"/>
              </a:lnSpc>
            </a:pPr>
            <a:r>
              <a:rPr lang="en-US" b="true" sz="2200">
                <a:solidFill>
                  <a:srgbClr val="000000"/>
                </a:solidFill>
                <a:latin typeface="Quicksand Bold"/>
                <a:ea typeface="Quicksand Bold"/>
                <a:cs typeface="Quicksand Bold"/>
                <a:sym typeface="Quicksand Bold"/>
              </a:rPr>
              <a:t>Insight:</a:t>
            </a:r>
          </a:p>
          <a:p>
            <a:pPr algn="just">
              <a:lnSpc>
                <a:spcPts val="2640"/>
              </a:lnSpc>
            </a:pPr>
            <a:r>
              <a:rPr lang="en-US" b="true" sz="2200">
                <a:solidFill>
                  <a:srgbClr val="000000"/>
                </a:solidFill>
                <a:latin typeface="Quicksand Bold"/>
                <a:ea typeface="Quicksand Bold"/>
                <a:cs typeface="Quicksand Bold"/>
                <a:sym typeface="Quicksand Bold"/>
              </a:rPr>
              <a:t> The results highlight that a significant majority of pet owners (4 out of 5) are actively looking for more trustworthy and convenient options for pet care, especially those with busy lifestyles and multiple pets. This validates the potential demand for a pet-sitting mobile app in the Philippine market.</a:t>
            </a:r>
          </a:p>
          <a:p>
            <a:pPr algn="just">
              <a:lnSpc>
                <a:spcPts val="2640"/>
              </a:lnSpc>
            </a:pPr>
          </a:p>
        </p:txBody>
      </p:sp>
      <p:grpSp>
        <p:nvGrpSpPr>
          <p:cNvPr name="Group 4" id="4"/>
          <p:cNvGrpSpPr>
            <a:grpSpLocks noChangeAspect="true"/>
          </p:cNvGrpSpPr>
          <p:nvPr/>
        </p:nvGrpSpPr>
        <p:grpSpPr>
          <a:xfrm rot="0">
            <a:off x="15047404" y="322975"/>
            <a:ext cx="2905267" cy="916975"/>
            <a:chOff x="0" y="0"/>
            <a:chExt cx="3873689" cy="1222633"/>
          </a:xfrm>
        </p:grpSpPr>
        <p:sp>
          <p:nvSpPr>
            <p:cNvPr name="Freeform 5" id="5"/>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3"/>
              <a:stretch>
                <a:fillRect l="0" t="0" r="-1" b="0"/>
              </a:stretch>
            </a:blipFill>
          </p:spPr>
        </p:sp>
      </p:grpSp>
      <p:grpSp>
        <p:nvGrpSpPr>
          <p:cNvPr name="Group 6" id="6"/>
          <p:cNvGrpSpPr>
            <a:grpSpLocks noChangeAspect="true"/>
          </p:cNvGrpSpPr>
          <p:nvPr/>
        </p:nvGrpSpPr>
        <p:grpSpPr>
          <a:xfrm rot="0">
            <a:off x="10182450" y="1716170"/>
            <a:ext cx="7953149" cy="7953149"/>
            <a:chOff x="0" y="0"/>
            <a:chExt cx="10604199" cy="10604199"/>
          </a:xfrm>
        </p:grpSpPr>
        <p:sp>
          <p:nvSpPr>
            <p:cNvPr name="Freeform 7" id="7"/>
            <p:cNvSpPr/>
            <p:nvPr/>
          </p:nvSpPr>
          <p:spPr>
            <a:xfrm flipH="false" flipV="false" rot="0">
              <a:off x="0" y="0"/>
              <a:ext cx="10604246" cy="10604246"/>
            </a:xfrm>
            <a:custGeom>
              <a:avLst/>
              <a:gdLst/>
              <a:ahLst/>
              <a:cxnLst/>
              <a:rect r="r" b="b" t="t" l="l"/>
              <a:pathLst>
                <a:path h="10604246" w="10604246">
                  <a:moveTo>
                    <a:pt x="0" y="0"/>
                  </a:moveTo>
                  <a:lnTo>
                    <a:pt x="10604246" y="0"/>
                  </a:lnTo>
                  <a:lnTo>
                    <a:pt x="10604246" y="10604246"/>
                  </a:lnTo>
                  <a:lnTo>
                    <a:pt x="0" y="10604246"/>
                  </a:lnTo>
                  <a:lnTo>
                    <a:pt x="0" y="0"/>
                  </a:lnTo>
                  <a:close/>
                </a:path>
              </a:pathLst>
            </a:custGeom>
            <a:blipFill>
              <a:blip r:embed="rId4"/>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p:nvPr/>
        </p:nvGrpSpPr>
        <p:grpSpPr>
          <a:xfrm rot="0">
            <a:off x="483121" y="1588586"/>
            <a:ext cx="8520639" cy="8271592"/>
            <a:chOff x="0" y="0"/>
            <a:chExt cx="11360852" cy="11028789"/>
          </a:xfrm>
        </p:grpSpPr>
        <p:sp>
          <p:nvSpPr>
            <p:cNvPr name="Freeform 3" id="3"/>
            <p:cNvSpPr/>
            <p:nvPr/>
          </p:nvSpPr>
          <p:spPr>
            <a:xfrm flipH="false" flipV="false" rot="0">
              <a:off x="26924" y="27051"/>
              <a:ext cx="11277600" cy="10947908"/>
            </a:xfrm>
            <a:custGeom>
              <a:avLst/>
              <a:gdLst/>
              <a:ahLst/>
              <a:cxnLst/>
              <a:rect r="r" b="b" t="t" l="l"/>
              <a:pathLst>
                <a:path h="10947908" w="11277600">
                  <a:moveTo>
                    <a:pt x="0" y="5473954"/>
                  </a:moveTo>
                  <a:cubicBezTo>
                    <a:pt x="0" y="2450719"/>
                    <a:pt x="2524633" y="0"/>
                    <a:pt x="5638800" y="0"/>
                  </a:cubicBezTo>
                  <a:cubicBezTo>
                    <a:pt x="8752967" y="0"/>
                    <a:pt x="11277600" y="2450846"/>
                    <a:pt x="11277600" y="5473954"/>
                  </a:cubicBezTo>
                  <a:cubicBezTo>
                    <a:pt x="11277600" y="8497062"/>
                    <a:pt x="8752967" y="10947908"/>
                    <a:pt x="5638800" y="10947908"/>
                  </a:cubicBezTo>
                  <a:cubicBezTo>
                    <a:pt x="2524633" y="10947908"/>
                    <a:pt x="0" y="8497062"/>
                    <a:pt x="0" y="5473954"/>
                  </a:cubicBezTo>
                  <a:close/>
                </a:path>
              </a:pathLst>
            </a:custGeom>
            <a:solidFill>
              <a:srgbClr val="FCE5CD"/>
            </a:solidFill>
          </p:spPr>
        </p:sp>
        <p:sp>
          <p:nvSpPr>
            <p:cNvPr name="Freeform 4" id="4"/>
            <p:cNvSpPr/>
            <p:nvPr/>
          </p:nvSpPr>
          <p:spPr>
            <a:xfrm flipH="false" flipV="false" rot="0">
              <a:off x="0" y="0"/>
              <a:ext cx="11331575" cy="11002010"/>
            </a:xfrm>
            <a:custGeom>
              <a:avLst/>
              <a:gdLst/>
              <a:ahLst/>
              <a:cxnLst/>
              <a:rect r="r" b="b" t="t" l="l"/>
              <a:pathLst>
                <a:path h="11002010" w="11331575">
                  <a:moveTo>
                    <a:pt x="0" y="5501005"/>
                  </a:moveTo>
                  <a:cubicBezTo>
                    <a:pt x="0" y="2462149"/>
                    <a:pt x="2537460" y="0"/>
                    <a:pt x="5665724" y="0"/>
                  </a:cubicBezTo>
                  <a:lnTo>
                    <a:pt x="5665724" y="26924"/>
                  </a:lnTo>
                  <a:lnTo>
                    <a:pt x="5665724" y="0"/>
                  </a:lnTo>
                  <a:cubicBezTo>
                    <a:pt x="8794115" y="0"/>
                    <a:pt x="11331575" y="2462149"/>
                    <a:pt x="11331575" y="5501005"/>
                  </a:cubicBezTo>
                  <a:lnTo>
                    <a:pt x="11304651" y="5501005"/>
                  </a:lnTo>
                  <a:lnTo>
                    <a:pt x="11331575" y="5501005"/>
                  </a:lnTo>
                  <a:cubicBezTo>
                    <a:pt x="11331575" y="8539861"/>
                    <a:pt x="8794115" y="11002010"/>
                    <a:pt x="5665851" y="11002010"/>
                  </a:cubicBezTo>
                  <a:lnTo>
                    <a:pt x="5665851" y="10975086"/>
                  </a:lnTo>
                  <a:lnTo>
                    <a:pt x="5665851" y="11002010"/>
                  </a:lnTo>
                  <a:cubicBezTo>
                    <a:pt x="2537460" y="11001883"/>
                    <a:pt x="0" y="8539861"/>
                    <a:pt x="0" y="5501005"/>
                  </a:cubicBezTo>
                  <a:moveTo>
                    <a:pt x="53975" y="5501005"/>
                  </a:moveTo>
                  <a:lnTo>
                    <a:pt x="26924" y="5501005"/>
                  </a:lnTo>
                  <a:lnTo>
                    <a:pt x="53975" y="5501005"/>
                  </a:lnTo>
                  <a:cubicBezTo>
                    <a:pt x="53975" y="8508492"/>
                    <a:pt x="2565654" y="10948035"/>
                    <a:pt x="5665724" y="10948035"/>
                  </a:cubicBezTo>
                  <a:cubicBezTo>
                    <a:pt x="8765794" y="10948035"/>
                    <a:pt x="11277600" y="8508492"/>
                    <a:pt x="11277600" y="5501005"/>
                  </a:cubicBezTo>
                  <a:cubicBezTo>
                    <a:pt x="11277600" y="2493518"/>
                    <a:pt x="8765794" y="53975"/>
                    <a:pt x="5665724" y="53975"/>
                  </a:cubicBezTo>
                  <a:lnTo>
                    <a:pt x="5665724" y="26924"/>
                  </a:lnTo>
                  <a:lnTo>
                    <a:pt x="5665724" y="53975"/>
                  </a:lnTo>
                  <a:cubicBezTo>
                    <a:pt x="2565654" y="53975"/>
                    <a:pt x="53975" y="2493391"/>
                    <a:pt x="53975" y="5501005"/>
                  </a:cubicBezTo>
                  <a:close/>
                </a:path>
              </a:pathLst>
            </a:custGeom>
            <a:solidFill>
              <a:srgbClr val="DF873F"/>
            </a:solidFill>
          </p:spPr>
        </p:sp>
      </p:grpSp>
      <p:grpSp>
        <p:nvGrpSpPr>
          <p:cNvPr name="Group 5" id="5"/>
          <p:cNvGrpSpPr/>
          <p:nvPr/>
        </p:nvGrpSpPr>
        <p:grpSpPr>
          <a:xfrm rot="0">
            <a:off x="2984176" y="1934600"/>
            <a:ext cx="3518503" cy="1608745"/>
            <a:chOff x="0" y="0"/>
            <a:chExt cx="4691337" cy="2144993"/>
          </a:xfrm>
        </p:grpSpPr>
        <p:sp>
          <p:nvSpPr>
            <p:cNvPr name="Freeform 6" id="6"/>
            <p:cNvSpPr/>
            <p:nvPr/>
          </p:nvSpPr>
          <p:spPr>
            <a:xfrm flipH="false" flipV="false" rot="0">
              <a:off x="0" y="0"/>
              <a:ext cx="4691380" cy="2145030"/>
            </a:xfrm>
            <a:custGeom>
              <a:avLst/>
              <a:gdLst/>
              <a:ahLst/>
              <a:cxnLst/>
              <a:rect r="r" b="b" t="t" l="l"/>
              <a:pathLst>
                <a:path h="2145030" w="4691380">
                  <a:moveTo>
                    <a:pt x="0" y="0"/>
                  </a:moveTo>
                  <a:lnTo>
                    <a:pt x="4691380" y="0"/>
                  </a:lnTo>
                  <a:lnTo>
                    <a:pt x="4691380" y="2145030"/>
                  </a:lnTo>
                  <a:lnTo>
                    <a:pt x="0" y="2145030"/>
                  </a:lnTo>
                  <a:close/>
                </a:path>
              </a:pathLst>
            </a:custGeom>
            <a:solidFill>
              <a:srgbClr val="FCE5CD"/>
            </a:solidFill>
          </p:spPr>
        </p:sp>
        <p:sp>
          <p:nvSpPr>
            <p:cNvPr name="TextBox 7" id="7"/>
            <p:cNvSpPr txBox="true"/>
            <p:nvPr/>
          </p:nvSpPr>
          <p:spPr>
            <a:xfrm>
              <a:off x="0" y="19050"/>
              <a:ext cx="4691337" cy="2125943"/>
            </a:xfrm>
            <a:prstGeom prst="rect">
              <a:avLst/>
            </a:prstGeom>
          </p:spPr>
          <p:txBody>
            <a:bodyPr anchor="ctr" rtlCol="false" tIns="50800" lIns="50800" bIns="50800" rIns="50800"/>
            <a:lstStyle/>
            <a:p>
              <a:pPr algn="ctr">
                <a:lnSpc>
                  <a:spcPts val="2081"/>
                </a:lnSpc>
              </a:pPr>
              <a:r>
                <a:rPr lang="en-US" b="true" sz="1926">
                  <a:solidFill>
                    <a:srgbClr val="000000"/>
                  </a:solidFill>
                  <a:latin typeface="Montserrat Medium"/>
                  <a:ea typeface="Montserrat Medium"/>
                  <a:cs typeface="Montserrat Medium"/>
                  <a:sym typeface="Montserrat Medium"/>
                </a:rPr>
                <a:t>₱60B – </a:t>
              </a:r>
              <a:r>
                <a:rPr lang="en-US" b="true" sz="1926">
                  <a:solidFill>
                    <a:srgbClr val="000000"/>
                  </a:solidFill>
                  <a:latin typeface="Montserrat Bold"/>
                  <a:ea typeface="Montserrat Bold"/>
                  <a:cs typeface="Montserrat Bold"/>
                  <a:sym typeface="Montserrat Bold"/>
                </a:rPr>
                <a:t>Total Addressable Market:</a:t>
              </a:r>
              <a:r>
                <a:rPr lang="en-US" b="true" sz="1926">
                  <a:solidFill>
                    <a:srgbClr val="000000"/>
                  </a:solidFill>
                  <a:latin typeface="Montserrat Medium"/>
                  <a:ea typeface="Montserrat Medium"/>
                  <a:cs typeface="Montserrat Medium"/>
                  <a:sym typeface="Montserrat Medium"/>
                </a:rPr>
                <a:t> All pet-owning households in the Philippines (~12M)</a:t>
              </a:r>
            </a:p>
          </p:txBody>
        </p:sp>
      </p:grpSp>
      <p:grpSp>
        <p:nvGrpSpPr>
          <p:cNvPr name="Group 8" id="8"/>
          <p:cNvGrpSpPr/>
          <p:nvPr/>
        </p:nvGrpSpPr>
        <p:grpSpPr>
          <a:xfrm rot="0">
            <a:off x="1540393" y="3641326"/>
            <a:ext cx="6406092" cy="6218850"/>
            <a:chOff x="0" y="0"/>
            <a:chExt cx="8541456" cy="8291800"/>
          </a:xfrm>
        </p:grpSpPr>
        <p:sp>
          <p:nvSpPr>
            <p:cNvPr name="Freeform 9" id="9"/>
            <p:cNvSpPr/>
            <p:nvPr/>
          </p:nvSpPr>
          <p:spPr>
            <a:xfrm flipH="false" flipV="false" rot="0">
              <a:off x="26924" y="26924"/>
              <a:ext cx="8458200" cy="8211058"/>
            </a:xfrm>
            <a:custGeom>
              <a:avLst/>
              <a:gdLst/>
              <a:ahLst/>
              <a:cxnLst/>
              <a:rect r="r" b="b" t="t" l="l"/>
              <a:pathLst>
                <a:path h="8211058" w="8458200">
                  <a:moveTo>
                    <a:pt x="0" y="4105529"/>
                  </a:moveTo>
                  <a:cubicBezTo>
                    <a:pt x="0" y="1838071"/>
                    <a:pt x="1893443" y="0"/>
                    <a:pt x="4229100" y="0"/>
                  </a:cubicBezTo>
                  <a:cubicBezTo>
                    <a:pt x="6564757" y="0"/>
                    <a:pt x="8458200" y="1838071"/>
                    <a:pt x="8458200" y="4105529"/>
                  </a:cubicBezTo>
                  <a:cubicBezTo>
                    <a:pt x="8458200" y="6372987"/>
                    <a:pt x="6564757" y="8211058"/>
                    <a:pt x="4229100" y="8211058"/>
                  </a:cubicBezTo>
                  <a:cubicBezTo>
                    <a:pt x="1893443" y="8211058"/>
                    <a:pt x="0" y="6372987"/>
                    <a:pt x="0" y="4105529"/>
                  </a:cubicBezTo>
                  <a:close/>
                </a:path>
              </a:pathLst>
            </a:custGeom>
            <a:solidFill>
              <a:srgbClr val="F79646"/>
            </a:solidFill>
          </p:spPr>
        </p:sp>
        <p:sp>
          <p:nvSpPr>
            <p:cNvPr name="Freeform 10" id="10"/>
            <p:cNvSpPr/>
            <p:nvPr/>
          </p:nvSpPr>
          <p:spPr>
            <a:xfrm flipH="false" flipV="false" rot="0">
              <a:off x="0" y="0"/>
              <a:ext cx="8512175" cy="8264906"/>
            </a:xfrm>
            <a:custGeom>
              <a:avLst/>
              <a:gdLst/>
              <a:ahLst/>
              <a:cxnLst/>
              <a:rect r="r" b="b" t="t" l="l"/>
              <a:pathLst>
                <a:path h="8264906" w="8512175">
                  <a:moveTo>
                    <a:pt x="0" y="4132453"/>
                  </a:moveTo>
                  <a:cubicBezTo>
                    <a:pt x="0" y="1849374"/>
                    <a:pt x="1906270" y="0"/>
                    <a:pt x="4256024" y="0"/>
                  </a:cubicBezTo>
                  <a:lnTo>
                    <a:pt x="4256024" y="26924"/>
                  </a:lnTo>
                  <a:lnTo>
                    <a:pt x="4256024" y="0"/>
                  </a:lnTo>
                  <a:cubicBezTo>
                    <a:pt x="6605905" y="0"/>
                    <a:pt x="8512175" y="1849374"/>
                    <a:pt x="8512175" y="4132453"/>
                  </a:cubicBezTo>
                  <a:lnTo>
                    <a:pt x="8485251" y="4132453"/>
                  </a:lnTo>
                  <a:lnTo>
                    <a:pt x="8512175" y="4132453"/>
                  </a:lnTo>
                  <a:cubicBezTo>
                    <a:pt x="8512175" y="6415532"/>
                    <a:pt x="6605905" y="8264906"/>
                    <a:pt x="4256151" y="8264906"/>
                  </a:cubicBezTo>
                  <a:lnTo>
                    <a:pt x="4256151" y="8237982"/>
                  </a:lnTo>
                  <a:lnTo>
                    <a:pt x="4256151" y="8264906"/>
                  </a:lnTo>
                  <a:cubicBezTo>
                    <a:pt x="1906270" y="8264906"/>
                    <a:pt x="0" y="6415532"/>
                    <a:pt x="0" y="4132453"/>
                  </a:cubicBezTo>
                  <a:lnTo>
                    <a:pt x="26924" y="4132453"/>
                  </a:lnTo>
                  <a:lnTo>
                    <a:pt x="53975" y="4132453"/>
                  </a:lnTo>
                  <a:lnTo>
                    <a:pt x="26924" y="4132453"/>
                  </a:lnTo>
                  <a:lnTo>
                    <a:pt x="0" y="4132453"/>
                  </a:lnTo>
                  <a:moveTo>
                    <a:pt x="53975" y="4132453"/>
                  </a:moveTo>
                  <a:cubicBezTo>
                    <a:pt x="53975" y="4147312"/>
                    <a:pt x="41910" y="4159377"/>
                    <a:pt x="27051" y="4159377"/>
                  </a:cubicBezTo>
                  <a:cubicBezTo>
                    <a:pt x="12192" y="4159377"/>
                    <a:pt x="0" y="4147312"/>
                    <a:pt x="0" y="4132453"/>
                  </a:cubicBezTo>
                  <a:cubicBezTo>
                    <a:pt x="0" y="4117594"/>
                    <a:pt x="12065" y="4105529"/>
                    <a:pt x="26924" y="4105529"/>
                  </a:cubicBezTo>
                  <a:cubicBezTo>
                    <a:pt x="41783" y="4105529"/>
                    <a:pt x="53848" y="4117594"/>
                    <a:pt x="53848" y="4132453"/>
                  </a:cubicBezTo>
                  <a:cubicBezTo>
                    <a:pt x="53848" y="6384163"/>
                    <a:pt x="1934464" y="8210931"/>
                    <a:pt x="4255897" y="8210931"/>
                  </a:cubicBezTo>
                  <a:cubicBezTo>
                    <a:pt x="6577330" y="8210931"/>
                    <a:pt x="8458200" y="6384163"/>
                    <a:pt x="8458200" y="4132453"/>
                  </a:cubicBezTo>
                  <a:cubicBezTo>
                    <a:pt x="8458200" y="1880743"/>
                    <a:pt x="6577584" y="53975"/>
                    <a:pt x="4256024" y="53975"/>
                  </a:cubicBezTo>
                  <a:lnTo>
                    <a:pt x="4256024" y="26924"/>
                  </a:lnTo>
                  <a:lnTo>
                    <a:pt x="4256024" y="53975"/>
                  </a:lnTo>
                  <a:cubicBezTo>
                    <a:pt x="1934591" y="53975"/>
                    <a:pt x="53975" y="1880743"/>
                    <a:pt x="53975" y="4132453"/>
                  </a:cubicBezTo>
                  <a:close/>
                </a:path>
              </a:pathLst>
            </a:custGeom>
            <a:solidFill>
              <a:srgbClr val="DF873F"/>
            </a:solidFill>
          </p:spPr>
        </p:sp>
      </p:grpSp>
      <p:grpSp>
        <p:nvGrpSpPr>
          <p:cNvPr name="Group 11" id="11"/>
          <p:cNvGrpSpPr/>
          <p:nvPr/>
        </p:nvGrpSpPr>
        <p:grpSpPr>
          <a:xfrm rot="0">
            <a:off x="3265383" y="4061778"/>
            <a:ext cx="2956079" cy="1662719"/>
            <a:chOff x="0" y="0"/>
            <a:chExt cx="3941439" cy="2216959"/>
          </a:xfrm>
        </p:grpSpPr>
        <p:sp>
          <p:nvSpPr>
            <p:cNvPr name="Freeform 12" id="12"/>
            <p:cNvSpPr/>
            <p:nvPr/>
          </p:nvSpPr>
          <p:spPr>
            <a:xfrm flipH="false" flipV="false" rot="0">
              <a:off x="0" y="0"/>
              <a:ext cx="3941445" cy="2216993"/>
            </a:xfrm>
            <a:custGeom>
              <a:avLst/>
              <a:gdLst/>
              <a:ahLst/>
              <a:cxnLst/>
              <a:rect r="r" b="b" t="t" l="l"/>
              <a:pathLst>
                <a:path h="2216993" w="3941445">
                  <a:moveTo>
                    <a:pt x="0" y="0"/>
                  </a:moveTo>
                  <a:lnTo>
                    <a:pt x="3941445" y="0"/>
                  </a:lnTo>
                  <a:lnTo>
                    <a:pt x="3941445" y="2216993"/>
                  </a:lnTo>
                  <a:lnTo>
                    <a:pt x="0" y="2216993"/>
                  </a:lnTo>
                  <a:close/>
                </a:path>
              </a:pathLst>
            </a:custGeom>
            <a:solidFill>
              <a:srgbClr val="F79646"/>
            </a:solidFill>
          </p:spPr>
        </p:sp>
        <p:sp>
          <p:nvSpPr>
            <p:cNvPr name="TextBox 13" id="13"/>
            <p:cNvSpPr txBox="true"/>
            <p:nvPr/>
          </p:nvSpPr>
          <p:spPr>
            <a:xfrm>
              <a:off x="0" y="19050"/>
              <a:ext cx="3941439" cy="2197909"/>
            </a:xfrm>
            <a:prstGeom prst="rect">
              <a:avLst/>
            </a:prstGeom>
          </p:spPr>
          <p:txBody>
            <a:bodyPr anchor="ctr" rtlCol="false" tIns="50800" lIns="50800" bIns="50800" rIns="50800"/>
            <a:lstStyle/>
            <a:p>
              <a:pPr algn="ctr">
                <a:lnSpc>
                  <a:spcPts val="2081"/>
                </a:lnSpc>
              </a:pPr>
              <a:r>
                <a:rPr lang="en-US" b="true" sz="1926">
                  <a:solidFill>
                    <a:srgbClr val="000000"/>
                  </a:solidFill>
                  <a:latin typeface="Montserrat Medium"/>
                  <a:ea typeface="Montserrat Medium"/>
                  <a:cs typeface="Montserrat Medium"/>
                  <a:sym typeface="Montserrat Medium"/>
                </a:rPr>
                <a:t>₱20B – </a:t>
              </a:r>
              <a:r>
                <a:rPr lang="en-US" b="true" sz="1926">
                  <a:solidFill>
                    <a:srgbClr val="000000"/>
                  </a:solidFill>
                  <a:latin typeface="Montserrat Bold"/>
                  <a:ea typeface="Montserrat Bold"/>
                  <a:cs typeface="Montserrat Bold"/>
                  <a:sym typeface="Montserrat Bold"/>
                </a:rPr>
                <a:t>Serviceable Available Market</a:t>
              </a:r>
              <a:r>
                <a:rPr lang="en-US" b="true" sz="1926">
                  <a:solidFill>
                    <a:srgbClr val="000000"/>
                  </a:solidFill>
                  <a:latin typeface="Montserrat Medium"/>
                  <a:ea typeface="Montserrat Medium"/>
                  <a:cs typeface="Montserrat Medium"/>
                  <a:sym typeface="Montserrat Medium"/>
                </a:rPr>
                <a:t>: Urban households in Metro Manila, Cebu, Davao (~4M)</a:t>
              </a:r>
            </a:p>
            <a:p>
              <a:pPr algn="ctr">
                <a:lnSpc>
                  <a:spcPts val="1512"/>
                </a:lnSpc>
              </a:pPr>
            </a:p>
          </p:txBody>
        </p:sp>
      </p:grpSp>
      <p:grpSp>
        <p:nvGrpSpPr>
          <p:cNvPr name="Group 14" id="14"/>
          <p:cNvGrpSpPr/>
          <p:nvPr/>
        </p:nvGrpSpPr>
        <p:grpSpPr>
          <a:xfrm rot="0">
            <a:off x="2597654" y="5694068"/>
            <a:ext cx="4291507" cy="4166072"/>
            <a:chOff x="0" y="0"/>
            <a:chExt cx="5722010" cy="5554763"/>
          </a:xfrm>
        </p:grpSpPr>
        <p:sp>
          <p:nvSpPr>
            <p:cNvPr name="Freeform 15" id="15"/>
            <p:cNvSpPr/>
            <p:nvPr/>
          </p:nvSpPr>
          <p:spPr>
            <a:xfrm flipH="false" flipV="false" rot="0">
              <a:off x="26924" y="26924"/>
              <a:ext cx="5638800" cy="5473954"/>
            </a:xfrm>
            <a:custGeom>
              <a:avLst/>
              <a:gdLst/>
              <a:ahLst/>
              <a:cxnLst/>
              <a:rect r="r" b="b" t="t" l="l"/>
              <a:pathLst>
                <a:path h="5473954" w="5638800">
                  <a:moveTo>
                    <a:pt x="0" y="2736977"/>
                  </a:moveTo>
                  <a:cubicBezTo>
                    <a:pt x="0" y="1225423"/>
                    <a:pt x="1262253" y="0"/>
                    <a:pt x="2819400" y="0"/>
                  </a:cubicBezTo>
                  <a:cubicBezTo>
                    <a:pt x="4376547" y="0"/>
                    <a:pt x="5638800" y="1225423"/>
                    <a:pt x="5638800" y="2736977"/>
                  </a:cubicBezTo>
                  <a:cubicBezTo>
                    <a:pt x="5638800" y="4248531"/>
                    <a:pt x="4376547" y="5473954"/>
                    <a:pt x="2819400" y="5473954"/>
                  </a:cubicBezTo>
                  <a:cubicBezTo>
                    <a:pt x="1262253" y="5473954"/>
                    <a:pt x="0" y="4248531"/>
                    <a:pt x="0" y="2736977"/>
                  </a:cubicBezTo>
                  <a:close/>
                </a:path>
              </a:pathLst>
            </a:custGeom>
            <a:solidFill>
              <a:srgbClr val="B45F06"/>
            </a:solidFill>
          </p:spPr>
        </p:sp>
        <p:sp>
          <p:nvSpPr>
            <p:cNvPr name="Freeform 16" id="16"/>
            <p:cNvSpPr/>
            <p:nvPr/>
          </p:nvSpPr>
          <p:spPr>
            <a:xfrm flipH="false" flipV="false" rot="0">
              <a:off x="0" y="0"/>
              <a:ext cx="5692648" cy="5527802"/>
            </a:xfrm>
            <a:custGeom>
              <a:avLst/>
              <a:gdLst/>
              <a:ahLst/>
              <a:cxnLst/>
              <a:rect r="r" b="b" t="t" l="l"/>
              <a:pathLst>
                <a:path h="5527802" w="5692648">
                  <a:moveTo>
                    <a:pt x="0" y="2763901"/>
                  </a:moveTo>
                  <a:cubicBezTo>
                    <a:pt x="0" y="1236726"/>
                    <a:pt x="1275080" y="0"/>
                    <a:pt x="2846324" y="0"/>
                  </a:cubicBezTo>
                  <a:lnTo>
                    <a:pt x="2846324" y="26924"/>
                  </a:lnTo>
                  <a:lnTo>
                    <a:pt x="2846324" y="0"/>
                  </a:lnTo>
                  <a:cubicBezTo>
                    <a:pt x="4417568" y="0"/>
                    <a:pt x="5692648" y="1236726"/>
                    <a:pt x="5692648" y="2763901"/>
                  </a:cubicBezTo>
                  <a:lnTo>
                    <a:pt x="5665724" y="2763901"/>
                  </a:lnTo>
                  <a:lnTo>
                    <a:pt x="5692648" y="2763901"/>
                  </a:lnTo>
                  <a:cubicBezTo>
                    <a:pt x="5692648" y="4291076"/>
                    <a:pt x="4417568" y="5527802"/>
                    <a:pt x="2846324" y="5527802"/>
                  </a:cubicBezTo>
                  <a:lnTo>
                    <a:pt x="2846324" y="5500878"/>
                  </a:lnTo>
                  <a:lnTo>
                    <a:pt x="2846324" y="5527802"/>
                  </a:lnTo>
                  <a:cubicBezTo>
                    <a:pt x="1275080" y="5527929"/>
                    <a:pt x="0" y="4291203"/>
                    <a:pt x="0" y="2763901"/>
                  </a:cubicBezTo>
                  <a:lnTo>
                    <a:pt x="26924" y="2763901"/>
                  </a:lnTo>
                  <a:lnTo>
                    <a:pt x="53975" y="2763901"/>
                  </a:lnTo>
                  <a:lnTo>
                    <a:pt x="26924" y="2763901"/>
                  </a:lnTo>
                  <a:lnTo>
                    <a:pt x="0" y="2763901"/>
                  </a:lnTo>
                  <a:moveTo>
                    <a:pt x="53975" y="2763901"/>
                  </a:moveTo>
                  <a:cubicBezTo>
                    <a:pt x="53975" y="2778760"/>
                    <a:pt x="41910" y="2790825"/>
                    <a:pt x="27051" y="2790825"/>
                  </a:cubicBezTo>
                  <a:cubicBezTo>
                    <a:pt x="12192" y="2790825"/>
                    <a:pt x="0" y="2778887"/>
                    <a:pt x="0" y="2763901"/>
                  </a:cubicBezTo>
                  <a:cubicBezTo>
                    <a:pt x="0" y="2748915"/>
                    <a:pt x="12065" y="2736977"/>
                    <a:pt x="26924" y="2736977"/>
                  </a:cubicBezTo>
                  <a:cubicBezTo>
                    <a:pt x="41783" y="2736977"/>
                    <a:pt x="53848" y="2749042"/>
                    <a:pt x="53848" y="2763901"/>
                  </a:cubicBezTo>
                  <a:cubicBezTo>
                    <a:pt x="53848" y="4259834"/>
                    <a:pt x="1303274" y="5473827"/>
                    <a:pt x="2846197" y="5473827"/>
                  </a:cubicBezTo>
                  <a:cubicBezTo>
                    <a:pt x="4389120" y="5473827"/>
                    <a:pt x="5638800" y="4259834"/>
                    <a:pt x="5638800" y="2763901"/>
                  </a:cubicBezTo>
                  <a:cubicBezTo>
                    <a:pt x="5638800" y="1267968"/>
                    <a:pt x="4389247" y="53975"/>
                    <a:pt x="2846324" y="53975"/>
                  </a:cubicBezTo>
                  <a:lnTo>
                    <a:pt x="2846324" y="26924"/>
                  </a:lnTo>
                  <a:lnTo>
                    <a:pt x="2846324" y="53975"/>
                  </a:lnTo>
                  <a:cubicBezTo>
                    <a:pt x="1303401" y="53975"/>
                    <a:pt x="53975" y="1267968"/>
                    <a:pt x="53975" y="2763901"/>
                  </a:cubicBezTo>
                  <a:close/>
                </a:path>
              </a:pathLst>
            </a:custGeom>
            <a:solidFill>
              <a:srgbClr val="FF9900"/>
            </a:solidFill>
          </p:spPr>
        </p:sp>
      </p:grpSp>
      <p:grpSp>
        <p:nvGrpSpPr>
          <p:cNvPr name="Group 17" id="17"/>
          <p:cNvGrpSpPr/>
          <p:nvPr/>
        </p:nvGrpSpPr>
        <p:grpSpPr>
          <a:xfrm rot="0">
            <a:off x="3248225" y="7181822"/>
            <a:ext cx="2990334" cy="1621681"/>
            <a:chOff x="0" y="0"/>
            <a:chExt cx="3987112" cy="2162241"/>
          </a:xfrm>
        </p:grpSpPr>
        <p:sp>
          <p:nvSpPr>
            <p:cNvPr name="Freeform 18" id="18"/>
            <p:cNvSpPr/>
            <p:nvPr/>
          </p:nvSpPr>
          <p:spPr>
            <a:xfrm flipH="false" flipV="false" rot="0">
              <a:off x="0" y="0"/>
              <a:ext cx="3987165" cy="2162274"/>
            </a:xfrm>
            <a:custGeom>
              <a:avLst/>
              <a:gdLst/>
              <a:ahLst/>
              <a:cxnLst/>
              <a:rect r="r" b="b" t="t" l="l"/>
              <a:pathLst>
                <a:path h="2162274" w="3987165">
                  <a:moveTo>
                    <a:pt x="0" y="0"/>
                  </a:moveTo>
                  <a:lnTo>
                    <a:pt x="3987165" y="0"/>
                  </a:lnTo>
                  <a:lnTo>
                    <a:pt x="3987165" y="2162274"/>
                  </a:lnTo>
                  <a:lnTo>
                    <a:pt x="0" y="2162274"/>
                  </a:lnTo>
                  <a:close/>
                </a:path>
              </a:pathLst>
            </a:custGeom>
            <a:solidFill>
              <a:srgbClr val="B45F06"/>
            </a:solidFill>
          </p:spPr>
        </p:sp>
        <p:sp>
          <p:nvSpPr>
            <p:cNvPr name="TextBox 19" id="19"/>
            <p:cNvSpPr txBox="true"/>
            <p:nvPr/>
          </p:nvSpPr>
          <p:spPr>
            <a:xfrm>
              <a:off x="0" y="19050"/>
              <a:ext cx="3987112" cy="2143191"/>
            </a:xfrm>
            <a:prstGeom prst="rect">
              <a:avLst/>
            </a:prstGeom>
          </p:spPr>
          <p:txBody>
            <a:bodyPr anchor="ctr" rtlCol="false" tIns="50800" lIns="50800" bIns="50800" rIns="50800"/>
            <a:lstStyle/>
            <a:p>
              <a:pPr algn="ctr">
                <a:lnSpc>
                  <a:spcPts val="2081"/>
                </a:lnSpc>
              </a:pPr>
              <a:r>
                <a:rPr lang="en-US" b="true" sz="1926">
                  <a:solidFill>
                    <a:srgbClr val="000000"/>
                  </a:solidFill>
                  <a:latin typeface="Montserrat Medium"/>
                  <a:ea typeface="Montserrat Medium"/>
                  <a:cs typeface="Montserrat Medium"/>
                  <a:sym typeface="Montserrat Medium"/>
                </a:rPr>
                <a:t>₱400M – </a:t>
              </a:r>
              <a:r>
                <a:rPr lang="en-US" b="true" sz="1926">
                  <a:solidFill>
                    <a:srgbClr val="000000"/>
                  </a:solidFill>
                  <a:latin typeface="Montserrat Bold"/>
                  <a:ea typeface="Montserrat Bold"/>
                  <a:cs typeface="Montserrat Bold"/>
                  <a:sym typeface="Montserrat Bold"/>
                </a:rPr>
                <a:t>Serviceable Obtainable Market</a:t>
              </a:r>
              <a:r>
                <a:rPr lang="en-US" b="true" sz="1926">
                  <a:solidFill>
                    <a:srgbClr val="000000"/>
                  </a:solidFill>
                  <a:latin typeface="Montserrat Medium"/>
                  <a:ea typeface="Montserrat Medium"/>
                  <a:cs typeface="Montserrat Medium"/>
                  <a:sym typeface="Montserrat Medium"/>
                </a:rPr>
                <a:t>: Furriend’s target share (2%)</a:t>
              </a:r>
            </a:p>
            <a:p>
              <a:pPr algn="ctr">
                <a:lnSpc>
                  <a:spcPts val="1512"/>
                </a:lnSpc>
              </a:pPr>
            </a:p>
            <a:p>
              <a:pPr algn="ctr">
                <a:lnSpc>
                  <a:spcPts val="1512"/>
                </a:lnSpc>
              </a:pPr>
            </a:p>
          </p:txBody>
        </p:sp>
      </p:grpSp>
      <p:grpSp>
        <p:nvGrpSpPr>
          <p:cNvPr name="Group 20" id="20"/>
          <p:cNvGrpSpPr/>
          <p:nvPr/>
        </p:nvGrpSpPr>
        <p:grpSpPr>
          <a:xfrm rot="0">
            <a:off x="9068175" y="2390361"/>
            <a:ext cx="7816600" cy="7088488"/>
            <a:chOff x="0" y="0"/>
            <a:chExt cx="10422133" cy="9451318"/>
          </a:xfrm>
        </p:grpSpPr>
        <p:sp>
          <p:nvSpPr>
            <p:cNvPr name="Freeform 21" id="21"/>
            <p:cNvSpPr/>
            <p:nvPr/>
          </p:nvSpPr>
          <p:spPr>
            <a:xfrm flipH="false" flipV="false" rot="0">
              <a:off x="0" y="0"/>
              <a:ext cx="10422128" cy="9451297"/>
            </a:xfrm>
            <a:custGeom>
              <a:avLst/>
              <a:gdLst/>
              <a:ahLst/>
              <a:cxnLst/>
              <a:rect r="r" b="b" t="t" l="l"/>
              <a:pathLst>
                <a:path h="9451297" w="10422128">
                  <a:moveTo>
                    <a:pt x="0" y="1581308"/>
                  </a:moveTo>
                  <a:cubicBezTo>
                    <a:pt x="0" y="707933"/>
                    <a:pt x="654558" y="0"/>
                    <a:pt x="1462024" y="0"/>
                  </a:cubicBezTo>
                  <a:lnTo>
                    <a:pt x="8960104" y="0"/>
                  </a:lnTo>
                  <a:lnTo>
                    <a:pt x="8960104" y="9206"/>
                  </a:lnTo>
                  <a:lnTo>
                    <a:pt x="8960104" y="0"/>
                  </a:lnTo>
                  <a:cubicBezTo>
                    <a:pt x="9767570" y="0"/>
                    <a:pt x="10422128" y="707933"/>
                    <a:pt x="10422128" y="1581308"/>
                  </a:cubicBezTo>
                  <a:lnTo>
                    <a:pt x="10413619" y="1581308"/>
                  </a:lnTo>
                  <a:lnTo>
                    <a:pt x="10422128" y="1581308"/>
                  </a:lnTo>
                  <a:lnTo>
                    <a:pt x="10422128" y="7869989"/>
                  </a:lnTo>
                  <a:lnTo>
                    <a:pt x="10413619" y="7869989"/>
                  </a:lnTo>
                  <a:lnTo>
                    <a:pt x="10422128" y="7869989"/>
                  </a:lnTo>
                  <a:cubicBezTo>
                    <a:pt x="10422128" y="8743363"/>
                    <a:pt x="9767570" y="9451297"/>
                    <a:pt x="8960104" y="9451297"/>
                  </a:cubicBezTo>
                  <a:lnTo>
                    <a:pt x="8960104" y="9442090"/>
                  </a:lnTo>
                  <a:lnTo>
                    <a:pt x="8960104" y="9451297"/>
                  </a:lnTo>
                  <a:lnTo>
                    <a:pt x="1462024" y="9451297"/>
                  </a:lnTo>
                  <a:lnTo>
                    <a:pt x="1462024" y="9442090"/>
                  </a:lnTo>
                  <a:lnTo>
                    <a:pt x="1462024" y="9451297"/>
                  </a:lnTo>
                  <a:cubicBezTo>
                    <a:pt x="654558" y="9451297"/>
                    <a:pt x="0" y="8743363"/>
                    <a:pt x="0" y="7869989"/>
                  </a:cubicBezTo>
                  <a:lnTo>
                    <a:pt x="0" y="1581308"/>
                  </a:lnTo>
                  <a:lnTo>
                    <a:pt x="8509" y="1581308"/>
                  </a:lnTo>
                  <a:lnTo>
                    <a:pt x="0" y="1581308"/>
                  </a:lnTo>
                  <a:moveTo>
                    <a:pt x="16891" y="1581308"/>
                  </a:moveTo>
                  <a:lnTo>
                    <a:pt x="16891" y="7869989"/>
                  </a:lnTo>
                  <a:lnTo>
                    <a:pt x="8509" y="7869989"/>
                  </a:lnTo>
                  <a:lnTo>
                    <a:pt x="17018" y="7869989"/>
                  </a:lnTo>
                  <a:cubicBezTo>
                    <a:pt x="17018" y="8733195"/>
                    <a:pt x="663956" y="9433021"/>
                    <a:pt x="1462151" y="9433021"/>
                  </a:cubicBezTo>
                  <a:lnTo>
                    <a:pt x="8960231" y="9433021"/>
                  </a:lnTo>
                  <a:cubicBezTo>
                    <a:pt x="9758300" y="9433021"/>
                    <a:pt x="10405364" y="8733195"/>
                    <a:pt x="10405364" y="7869989"/>
                  </a:cubicBezTo>
                  <a:lnTo>
                    <a:pt x="10405364" y="1581308"/>
                  </a:lnTo>
                  <a:cubicBezTo>
                    <a:pt x="10405364" y="718102"/>
                    <a:pt x="9758426" y="18275"/>
                    <a:pt x="8960231" y="18275"/>
                  </a:cubicBezTo>
                  <a:lnTo>
                    <a:pt x="1462024" y="18275"/>
                  </a:lnTo>
                  <a:lnTo>
                    <a:pt x="1462024" y="9206"/>
                  </a:lnTo>
                  <a:lnTo>
                    <a:pt x="1462024" y="18413"/>
                  </a:lnTo>
                  <a:cubicBezTo>
                    <a:pt x="663956" y="18275"/>
                    <a:pt x="16891" y="718102"/>
                    <a:pt x="16891" y="1581308"/>
                  </a:cubicBezTo>
                  <a:close/>
                </a:path>
              </a:pathLst>
            </a:custGeom>
            <a:solidFill>
              <a:srgbClr val="757070"/>
            </a:solidFill>
          </p:spPr>
        </p:sp>
        <p:sp>
          <p:nvSpPr>
            <p:cNvPr name="TextBox 22" id="22"/>
            <p:cNvSpPr txBox="true"/>
            <p:nvPr/>
          </p:nvSpPr>
          <p:spPr>
            <a:xfrm>
              <a:off x="0" y="-38100"/>
              <a:ext cx="10422133" cy="9489418"/>
            </a:xfrm>
            <a:prstGeom prst="rect">
              <a:avLst/>
            </a:prstGeom>
          </p:spPr>
          <p:txBody>
            <a:bodyPr anchor="ctr" rtlCol="false" tIns="50800" lIns="50800" bIns="50800" rIns="50800"/>
            <a:lstStyle/>
            <a:p>
              <a:pPr algn="just">
                <a:lnSpc>
                  <a:spcPts val="2879"/>
                </a:lnSpc>
              </a:pPr>
              <a:r>
                <a:rPr lang="en-US" b="true" sz="2400">
                  <a:solidFill>
                    <a:srgbClr val="000000"/>
                  </a:solidFill>
                  <a:latin typeface="Calibri (MS) Bold"/>
                  <a:ea typeface="Calibri (MS) Bold"/>
                  <a:cs typeface="Calibri (MS) Bold"/>
                  <a:sym typeface="Calibri (MS) Bold"/>
                </a:rPr>
                <a:t>How did we calculate the market size?</a:t>
              </a:r>
            </a:p>
            <a:p>
              <a:pPr algn="just">
                <a:lnSpc>
                  <a:spcPts val="1680"/>
                </a:lnSpc>
              </a:pPr>
            </a:p>
            <a:p>
              <a:pPr algn="just">
                <a:lnSpc>
                  <a:spcPts val="2160"/>
                </a:lnSpc>
              </a:pPr>
              <a:r>
                <a:rPr lang="en-US" sz="1800">
                  <a:solidFill>
                    <a:srgbClr val="000000"/>
                  </a:solidFill>
                  <a:latin typeface="Calibri (MS)"/>
                  <a:ea typeface="Calibri (MS)"/>
                  <a:cs typeface="Calibri (MS)"/>
                  <a:sym typeface="Calibri (MS)"/>
                </a:rPr>
                <a:t>1. Start with Total Addressable Market (TAM)</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94% of Filipino households own pets (</a:t>
              </a:r>
              <a:r>
                <a:rPr lang="en-US" sz="1800" u="sng">
                  <a:solidFill>
                    <a:srgbClr val="0000FF"/>
                  </a:solidFill>
                  <a:latin typeface="Calibri (MS)"/>
                  <a:ea typeface="Calibri (MS)"/>
                  <a:cs typeface="Calibri (MS)"/>
                  <a:sym typeface="Calibri (MS)"/>
                  <a:hlinkClick r:id="rId3" tooltip="https://www.trade.gov/market-intelligence/philippines-upscale-pet-food-and-supplies"/>
                </a:rPr>
                <a:t>Trade.gov / Kantar</a:t>
              </a:r>
              <a:r>
                <a:rPr lang="en-US" sz="1800">
                  <a:solidFill>
                    <a:srgbClr val="000000"/>
                  </a:solidFill>
                  <a:latin typeface="Calibri (MS)"/>
                  <a:ea typeface="Calibri (MS)"/>
                  <a:cs typeface="Calibri (MS)"/>
                  <a:sym typeface="Calibri (MS)"/>
                </a:rPr>
                <a:t>).</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About 12M pet-owning households (</a:t>
              </a:r>
              <a:r>
                <a:rPr lang="en-US" sz="1800" u="sng">
                  <a:solidFill>
                    <a:srgbClr val="0000FF"/>
                  </a:solidFill>
                  <a:latin typeface="Calibri (MS)"/>
                  <a:ea typeface="Calibri (MS)"/>
                  <a:cs typeface="Calibri (MS)"/>
                  <a:sym typeface="Calibri (MS)"/>
                  <a:hlinkClick r:id="rId4" tooltip="https://www.dogster.com/statistics/pet-ownership-statistics-philippines"/>
                </a:rPr>
                <a:t>Dogster, 2024</a:t>
              </a:r>
              <a:r>
                <a:rPr lang="en-US" sz="1800">
                  <a:solidFill>
                    <a:srgbClr val="000000"/>
                  </a:solidFill>
                  <a:latin typeface="Calibri (MS)"/>
                  <a:ea typeface="Calibri (MS)"/>
                  <a:cs typeface="Calibri (MS)"/>
                  <a:sym typeface="Calibri (MS)"/>
                </a:rPr>
                <a:t>).</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If each spends ₱5,000/year on pet services →</a:t>
              </a:r>
            </a:p>
            <a:p>
              <a:pPr algn="just" marL="331470" indent="-165735" lvl="1">
                <a:lnSpc>
                  <a:spcPts val="2160"/>
                </a:lnSpc>
              </a:pPr>
              <a:r>
                <a:rPr lang="en-US" sz="1800">
                  <a:solidFill>
                    <a:srgbClr val="000000"/>
                  </a:solidFill>
                  <a:latin typeface="Calibri (MS)"/>
                  <a:ea typeface="Calibri (MS)"/>
                  <a:cs typeface="Calibri (MS)"/>
                  <a:sym typeface="Calibri (MS)"/>
                </a:rPr>
                <a:t>TAM = ₱60 Billion/year (~$1B USD).</a:t>
              </a:r>
            </a:p>
            <a:p>
              <a:pPr algn="just" marL="257810" indent="-128905" lvl="1">
                <a:lnSpc>
                  <a:spcPts val="1680"/>
                </a:lnSpc>
              </a:pPr>
            </a:p>
            <a:p>
              <a:pPr algn="just" marL="331470" indent="-165735" lvl="1">
                <a:lnSpc>
                  <a:spcPts val="2160"/>
                </a:lnSpc>
              </a:pPr>
              <a:r>
                <a:rPr lang="en-US" sz="1800">
                  <a:solidFill>
                    <a:srgbClr val="000000"/>
                  </a:solidFill>
                  <a:latin typeface="Calibri (MS)"/>
                  <a:ea typeface="Calibri (MS)"/>
                  <a:cs typeface="Calibri (MS)"/>
                  <a:sym typeface="Calibri (MS)"/>
                </a:rPr>
                <a:t>2. Take your target market (SAM)</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Narrow down to urban areas where Furriend can realistically operate.</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Focus: Metro Manila, Cebu, Davao (~30% of households = ~4M).</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At ₱5,000/year spending →</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SAM = ₱20 Billion/year (~$350M USD).</a:t>
              </a:r>
            </a:p>
            <a:p>
              <a:pPr algn="just" marL="257810" indent="-128905" lvl="1">
                <a:lnSpc>
                  <a:spcPts val="1680"/>
                </a:lnSpc>
              </a:pPr>
            </a:p>
            <a:p>
              <a:pPr algn="just" marL="331470" indent="-165735" lvl="1">
                <a:lnSpc>
                  <a:spcPts val="2160"/>
                </a:lnSpc>
              </a:pPr>
              <a:r>
                <a:rPr lang="en-US" sz="1800">
                  <a:solidFill>
                    <a:srgbClr val="000000"/>
                  </a:solidFill>
                  <a:latin typeface="Calibri (MS)"/>
                  <a:ea typeface="Calibri (MS)"/>
                  <a:cs typeface="Calibri (MS)"/>
                  <a:sym typeface="Calibri (MS)"/>
                </a:rPr>
                <a:t>3. By conducting research with existing competitors, distributors etc., understand the likely penetration rate</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Since no centralized sitter app currently exists in PH, but looking at benchmarks like </a:t>
              </a:r>
              <a:r>
                <a:rPr lang="en-US" sz="1800" u="sng">
                  <a:solidFill>
                    <a:srgbClr val="0000FF"/>
                  </a:solidFill>
                  <a:latin typeface="Calibri (MS)"/>
                  <a:ea typeface="Calibri (MS)"/>
                  <a:cs typeface="Calibri (MS)"/>
                  <a:sym typeface="Calibri (MS)"/>
                  <a:hlinkClick r:id="rId5" tooltip="https://www.rover.com/"/>
                </a:rPr>
                <a:t>Rover (US)</a:t>
              </a:r>
              <a:r>
                <a:rPr lang="en-US" sz="1800">
                  <a:solidFill>
                    <a:srgbClr val="000000"/>
                  </a:solidFill>
                  <a:latin typeface="Calibri (MS)"/>
                  <a:ea typeface="Calibri (MS)"/>
                  <a:cs typeface="Calibri (MS)"/>
                  <a:sym typeface="Calibri (MS)"/>
                </a:rPr>
                <a:t> and </a:t>
              </a:r>
              <a:r>
                <a:rPr lang="en-US" sz="1800" u="sng">
                  <a:solidFill>
                    <a:srgbClr val="0000FF"/>
                  </a:solidFill>
                  <a:latin typeface="Calibri (MS)"/>
                  <a:ea typeface="Calibri (MS)"/>
                  <a:cs typeface="Calibri (MS)"/>
                  <a:sym typeface="Calibri (MS)"/>
                  <a:hlinkClick r:id="rId6" tooltip="https://www.petbacker.com.sg/"/>
                </a:rPr>
                <a:t>PetBacker (SG),</a:t>
              </a:r>
              <a:r>
                <a:rPr lang="en-US" sz="1800">
                  <a:solidFill>
                    <a:srgbClr val="000000"/>
                  </a:solidFill>
                  <a:latin typeface="Calibri (MS)"/>
                  <a:ea typeface="Calibri (MS)"/>
                  <a:cs typeface="Calibri (MS)"/>
                  <a:sym typeface="Calibri (MS)"/>
                </a:rPr>
                <a:t> a conservative 2% adoption rate of SAM is realistic in 3–5 years.</a:t>
              </a:r>
            </a:p>
            <a:p>
              <a:pPr algn="just" marL="257810" indent="-128905" lvl="1">
                <a:lnSpc>
                  <a:spcPts val="1680"/>
                </a:lnSpc>
              </a:pPr>
            </a:p>
            <a:p>
              <a:pPr algn="just" marL="331470" indent="-165735" lvl="1">
                <a:lnSpc>
                  <a:spcPts val="2160"/>
                </a:lnSpc>
              </a:pPr>
              <a:r>
                <a:rPr lang="en-US" sz="1800">
                  <a:solidFill>
                    <a:srgbClr val="000000"/>
                  </a:solidFill>
                  <a:latin typeface="Calibri (MS)"/>
                  <a:ea typeface="Calibri (MS)"/>
                  <a:cs typeface="Calibri (MS)"/>
                  <a:sym typeface="Calibri (MS)"/>
                </a:rPr>
                <a:t>4. Multiply target market by penetration rate to find your market size</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2% of SAM (₱20B) = ₱400M/year (~$7M USD) gross bookings.</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With Furriend’s 10–15% commission fee → ₱40–60M/year (~$700k–$1M USD) in actual revenue.</a:t>
              </a:r>
            </a:p>
            <a:p>
              <a:pPr algn="just" marL="257810" indent="-128905" lvl="1">
                <a:lnSpc>
                  <a:spcPts val="1680"/>
                </a:lnSpc>
              </a:pPr>
            </a:p>
            <a:p>
              <a:pPr algn="ctr" marL="497205" indent="-248602" lvl="1">
                <a:lnSpc>
                  <a:spcPts val="3240"/>
                </a:lnSpc>
              </a:pPr>
              <a:r>
                <a:rPr lang="en-US" sz="2700">
                  <a:solidFill>
                    <a:srgbClr val="FFFFFF"/>
                  </a:solidFill>
                  <a:latin typeface="Calibri (MS)"/>
                  <a:ea typeface="Calibri (MS)"/>
                  <a:cs typeface="Calibri (MS)"/>
                  <a:sym typeface="Calibri (MS)"/>
                </a:rPr>
                <a:t> </a:t>
              </a:r>
            </a:p>
          </p:txBody>
        </p:sp>
      </p:grpSp>
      <p:sp>
        <p:nvSpPr>
          <p:cNvPr name="TextBox 23" id="23"/>
          <p:cNvSpPr txBox="true"/>
          <p:nvPr/>
        </p:nvSpPr>
        <p:spPr>
          <a:xfrm rot="0">
            <a:off x="331374" y="383290"/>
            <a:ext cx="5492989" cy="533400"/>
          </a:xfrm>
          <a:prstGeom prst="rect">
            <a:avLst/>
          </a:prstGeom>
        </p:spPr>
        <p:txBody>
          <a:bodyPr anchor="t" rtlCol="false" tIns="0" lIns="0" bIns="0" rIns="0">
            <a:spAutoFit/>
          </a:bodyPr>
          <a:lstStyle/>
          <a:p>
            <a:pPr algn="l">
              <a:lnSpc>
                <a:spcPts val="4320"/>
              </a:lnSpc>
            </a:pPr>
            <a:r>
              <a:rPr lang="en-US" b="true" sz="3600">
                <a:solidFill>
                  <a:srgbClr val="262626"/>
                </a:solidFill>
                <a:latin typeface="Quicksand Bold"/>
                <a:ea typeface="Quicksand Bold"/>
                <a:cs typeface="Quicksand Bold"/>
                <a:sym typeface="Quicksand Bold"/>
              </a:rPr>
              <a:t>Market Size Estimation </a:t>
            </a:r>
          </a:p>
        </p:txBody>
      </p:sp>
      <p:sp>
        <p:nvSpPr>
          <p:cNvPr name="TextBox 24" id="24"/>
          <p:cNvSpPr txBox="true"/>
          <p:nvPr/>
        </p:nvSpPr>
        <p:spPr>
          <a:xfrm rot="0">
            <a:off x="6232038" y="5004534"/>
            <a:ext cx="65936" cy="277932"/>
          </a:xfrm>
          <a:prstGeom prst="rect">
            <a:avLst/>
          </a:prstGeom>
        </p:spPr>
        <p:txBody>
          <a:bodyPr anchor="t" rtlCol="false" tIns="0" lIns="0" bIns="0" rIns="0">
            <a:spAutoFit/>
          </a:bodyPr>
          <a:lstStyle/>
          <a:p>
            <a:pPr algn="l">
              <a:lnSpc>
                <a:spcPts val="2160"/>
              </a:lnSpc>
            </a:pPr>
            <a:r>
              <a:rPr lang="en-US" sz="1800">
                <a:solidFill>
                  <a:srgbClr val="2E475D"/>
                </a:solidFill>
                <a:latin typeface="Lexend Deca"/>
                <a:ea typeface="Lexend Deca"/>
                <a:cs typeface="Lexend Deca"/>
                <a:sym typeface="Lexend Deca"/>
              </a:rPr>
              <a:t>.</a:t>
            </a:r>
          </a:p>
        </p:txBody>
      </p:sp>
      <p:grpSp>
        <p:nvGrpSpPr>
          <p:cNvPr name="Group 25" id="25"/>
          <p:cNvGrpSpPr>
            <a:grpSpLocks noChangeAspect="true"/>
          </p:cNvGrpSpPr>
          <p:nvPr/>
        </p:nvGrpSpPr>
        <p:grpSpPr>
          <a:xfrm rot="0">
            <a:off x="15047404" y="322975"/>
            <a:ext cx="2905267" cy="916975"/>
            <a:chOff x="0" y="0"/>
            <a:chExt cx="3873689" cy="1222633"/>
          </a:xfrm>
        </p:grpSpPr>
        <p:sp>
          <p:nvSpPr>
            <p:cNvPr name="Freeform 26" id="26"/>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7"/>
              <a:stretch>
                <a:fillRect l="0" t="0" r="-1"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41665"/>
            <a:ext cx="18362074" cy="10328666"/>
            <a:chOff x="0" y="0"/>
            <a:chExt cx="24482765" cy="13771555"/>
          </a:xfrm>
        </p:grpSpPr>
        <p:sp>
          <p:nvSpPr>
            <p:cNvPr name="Freeform 3" id="3"/>
            <p:cNvSpPr/>
            <p:nvPr/>
          </p:nvSpPr>
          <p:spPr>
            <a:xfrm flipH="false" flipV="false" rot="0">
              <a:off x="0" y="0"/>
              <a:ext cx="24482806" cy="13771499"/>
            </a:xfrm>
            <a:custGeom>
              <a:avLst/>
              <a:gdLst/>
              <a:ahLst/>
              <a:cxnLst/>
              <a:rect r="r" b="b" t="t" l="l"/>
              <a:pathLst>
                <a:path h="13771499" w="24482806">
                  <a:moveTo>
                    <a:pt x="0" y="0"/>
                  </a:moveTo>
                  <a:lnTo>
                    <a:pt x="24482806" y="0"/>
                  </a:lnTo>
                  <a:lnTo>
                    <a:pt x="24482806" y="13771499"/>
                  </a:lnTo>
                  <a:lnTo>
                    <a:pt x="0" y="13771499"/>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15047401" y="322975"/>
            <a:ext cx="2452450" cy="774050"/>
            <a:chOff x="0" y="0"/>
            <a:chExt cx="3269933" cy="1032067"/>
          </a:xfrm>
        </p:grpSpPr>
        <p:sp>
          <p:nvSpPr>
            <p:cNvPr name="Freeform 5" id="5"/>
            <p:cNvSpPr/>
            <p:nvPr/>
          </p:nvSpPr>
          <p:spPr>
            <a:xfrm flipH="false" flipV="false" rot="0">
              <a:off x="0" y="0"/>
              <a:ext cx="3269996" cy="1032129"/>
            </a:xfrm>
            <a:custGeom>
              <a:avLst/>
              <a:gdLst/>
              <a:ahLst/>
              <a:cxnLst/>
              <a:rect r="r" b="b" t="t" l="l"/>
              <a:pathLst>
                <a:path h="1032129" w="3269996">
                  <a:moveTo>
                    <a:pt x="0" y="0"/>
                  </a:moveTo>
                  <a:lnTo>
                    <a:pt x="3269996" y="0"/>
                  </a:lnTo>
                  <a:lnTo>
                    <a:pt x="3269996" y="1032129"/>
                  </a:lnTo>
                  <a:lnTo>
                    <a:pt x="0" y="1032129"/>
                  </a:lnTo>
                  <a:lnTo>
                    <a:pt x="0" y="0"/>
                  </a:lnTo>
                  <a:close/>
                </a:path>
              </a:pathLst>
            </a:custGeom>
            <a:blipFill>
              <a:blip r:embed="rId4"/>
              <a:stretch>
                <a:fillRect l="0" t="0" r="1" b="5"/>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p:nvPr/>
        </p:nvGrpSpPr>
        <p:grpSpPr>
          <a:xfrm rot="0">
            <a:off x="-970925" y="0"/>
            <a:ext cx="9848100" cy="1143000"/>
            <a:chOff x="0" y="0"/>
            <a:chExt cx="13130800" cy="1524000"/>
          </a:xfrm>
        </p:grpSpPr>
        <p:sp>
          <p:nvSpPr>
            <p:cNvPr name="Freeform 3" id="3"/>
            <p:cNvSpPr/>
            <p:nvPr/>
          </p:nvSpPr>
          <p:spPr>
            <a:xfrm flipH="false" flipV="false" rot="0">
              <a:off x="0" y="0"/>
              <a:ext cx="13130800" cy="1524000"/>
            </a:xfrm>
            <a:custGeom>
              <a:avLst/>
              <a:gdLst/>
              <a:ahLst/>
              <a:cxnLst/>
              <a:rect r="r" b="b" t="t" l="l"/>
              <a:pathLst>
                <a:path h="1524000" w="13130800">
                  <a:moveTo>
                    <a:pt x="0" y="0"/>
                  </a:moveTo>
                  <a:lnTo>
                    <a:pt x="13130800" y="0"/>
                  </a:lnTo>
                  <a:lnTo>
                    <a:pt x="13130800" y="1524000"/>
                  </a:lnTo>
                  <a:lnTo>
                    <a:pt x="0" y="1524000"/>
                  </a:lnTo>
                  <a:close/>
                </a:path>
              </a:pathLst>
            </a:custGeom>
          </p:spPr>
        </p:sp>
        <p:sp>
          <p:nvSpPr>
            <p:cNvPr name="TextBox 4" id="4"/>
            <p:cNvSpPr txBox="true"/>
            <p:nvPr/>
          </p:nvSpPr>
          <p:spPr>
            <a:xfrm>
              <a:off x="0" y="-9525"/>
              <a:ext cx="13130800" cy="1533525"/>
            </a:xfrm>
            <a:prstGeom prst="rect">
              <a:avLst/>
            </a:prstGeom>
          </p:spPr>
          <p:txBody>
            <a:bodyPr anchor="ctr" rtlCol="false" tIns="0" lIns="0" bIns="0" rIns="0"/>
            <a:lstStyle/>
            <a:p>
              <a:pPr algn="ctr">
                <a:lnSpc>
                  <a:spcPts val="5280"/>
                </a:lnSpc>
              </a:pPr>
              <a:r>
                <a:rPr lang="en-US" b="true" sz="4400">
                  <a:solidFill>
                    <a:srgbClr val="000000"/>
                  </a:solidFill>
                  <a:latin typeface="Quicksand Bold"/>
                  <a:ea typeface="Quicksand Bold"/>
                  <a:cs typeface="Quicksand Bold"/>
                  <a:sym typeface="Quicksand Bold"/>
                </a:rPr>
                <a:t>Value Proposition Canvas</a:t>
              </a:r>
            </a:p>
          </p:txBody>
        </p:sp>
      </p:grpSp>
      <p:grpSp>
        <p:nvGrpSpPr>
          <p:cNvPr name="Group 5" id="5"/>
          <p:cNvGrpSpPr>
            <a:grpSpLocks noChangeAspect="true"/>
          </p:cNvGrpSpPr>
          <p:nvPr/>
        </p:nvGrpSpPr>
        <p:grpSpPr>
          <a:xfrm rot="0">
            <a:off x="76200" y="1018625"/>
            <a:ext cx="18135600" cy="9141374"/>
            <a:chOff x="0" y="0"/>
            <a:chExt cx="24180800" cy="12188499"/>
          </a:xfrm>
        </p:grpSpPr>
        <p:sp>
          <p:nvSpPr>
            <p:cNvPr name="Freeform 6" id="6"/>
            <p:cNvSpPr/>
            <p:nvPr/>
          </p:nvSpPr>
          <p:spPr>
            <a:xfrm flipH="false" flipV="false" rot="0">
              <a:off x="0" y="0"/>
              <a:ext cx="24180800" cy="12188444"/>
            </a:xfrm>
            <a:custGeom>
              <a:avLst/>
              <a:gdLst/>
              <a:ahLst/>
              <a:cxnLst/>
              <a:rect r="r" b="b" t="t" l="l"/>
              <a:pathLst>
                <a:path h="12188444" w="24180800">
                  <a:moveTo>
                    <a:pt x="0" y="0"/>
                  </a:moveTo>
                  <a:lnTo>
                    <a:pt x="24180800" y="0"/>
                  </a:lnTo>
                  <a:lnTo>
                    <a:pt x="24180800" y="12188444"/>
                  </a:lnTo>
                  <a:lnTo>
                    <a:pt x="0" y="12188444"/>
                  </a:lnTo>
                  <a:lnTo>
                    <a:pt x="0" y="0"/>
                  </a:lnTo>
                  <a:close/>
                </a:path>
              </a:pathLst>
            </a:custGeom>
            <a:blipFill>
              <a:blip r:embed="rId3"/>
              <a:stretch>
                <a:fillRect l="0" t="-5797" r="0" b="-5797"/>
              </a:stretch>
            </a:blipFill>
          </p:spPr>
        </p:sp>
      </p:grpSp>
      <p:grpSp>
        <p:nvGrpSpPr>
          <p:cNvPr name="Group 7" id="7"/>
          <p:cNvGrpSpPr>
            <a:grpSpLocks noChangeAspect="true"/>
          </p:cNvGrpSpPr>
          <p:nvPr/>
        </p:nvGrpSpPr>
        <p:grpSpPr>
          <a:xfrm rot="0">
            <a:off x="15682400" y="322975"/>
            <a:ext cx="2204041" cy="695650"/>
            <a:chOff x="0" y="0"/>
            <a:chExt cx="2938721" cy="927533"/>
          </a:xfrm>
        </p:grpSpPr>
        <p:sp>
          <p:nvSpPr>
            <p:cNvPr name="Freeform 8" id="8"/>
            <p:cNvSpPr/>
            <p:nvPr/>
          </p:nvSpPr>
          <p:spPr>
            <a:xfrm flipH="false" flipV="false" rot="0">
              <a:off x="0" y="0"/>
              <a:ext cx="2938780" cy="927481"/>
            </a:xfrm>
            <a:custGeom>
              <a:avLst/>
              <a:gdLst/>
              <a:ahLst/>
              <a:cxnLst/>
              <a:rect r="r" b="b" t="t" l="l"/>
              <a:pathLst>
                <a:path h="927481" w="2938780">
                  <a:moveTo>
                    <a:pt x="0" y="0"/>
                  </a:moveTo>
                  <a:lnTo>
                    <a:pt x="2938780" y="0"/>
                  </a:lnTo>
                  <a:lnTo>
                    <a:pt x="2938780" y="927481"/>
                  </a:lnTo>
                  <a:lnTo>
                    <a:pt x="0" y="927481"/>
                  </a:lnTo>
                  <a:lnTo>
                    <a:pt x="0" y="0"/>
                  </a:lnTo>
                  <a:close/>
                </a:path>
              </a:pathLst>
            </a:custGeom>
            <a:blipFill>
              <a:blip r:embed="rId4"/>
              <a:stretch>
                <a:fillRect l="0" t="0" r="1" b="-5"/>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TextBox 2" id="2"/>
          <p:cNvSpPr txBox="true"/>
          <p:nvPr/>
        </p:nvSpPr>
        <p:spPr>
          <a:xfrm rot="0">
            <a:off x="542159" y="-15773"/>
            <a:ext cx="11077400" cy="1194837"/>
          </a:xfrm>
          <a:prstGeom prst="rect">
            <a:avLst/>
          </a:prstGeom>
        </p:spPr>
        <p:txBody>
          <a:bodyPr anchor="t" rtlCol="false" tIns="0" lIns="0" bIns="0" rIns="0">
            <a:spAutoFit/>
          </a:bodyPr>
          <a:lstStyle/>
          <a:p>
            <a:pPr algn="l">
              <a:lnSpc>
                <a:spcPts val="10496"/>
              </a:lnSpc>
            </a:pPr>
            <a:r>
              <a:rPr lang="en-US" b="true" sz="5400">
                <a:solidFill>
                  <a:srgbClr val="000000"/>
                </a:solidFill>
                <a:latin typeface="Quicksand Bold"/>
                <a:ea typeface="Quicksand Bold"/>
                <a:cs typeface="Quicksand Bold"/>
                <a:sym typeface="Quicksand Bold"/>
              </a:rPr>
              <a:t>Solution</a:t>
            </a:r>
          </a:p>
        </p:txBody>
      </p:sp>
      <p:grpSp>
        <p:nvGrpSpPr>
          <p:cNvPr name="Group 3" id="3"/>
          <p:cNvGrpSpPr/>
          <p:nvPr/>
        </p:nvGrpSpPr>
        <p:grpSpPr>
          <a:xfrm rot="0">
            <a:off x="950662" y="2039134"/>
            <a:ext cx="7055025" cy="7770825"/>
            <a:chOff x="0" y="0"/>
            <a:chExt cx="9406700" cy="10361100"/>
          </a:xfrm>
        </p:grpSpPr>
        <p:sp>
          <p:nvSpPr>
            <p:cNvPr name="Freeform 4" id="4"/>
            <p:cNvSpPr/>
            <p:nvPr/>
          </p:nvSpPr>
          <p:spPr>
            <a:xfrm flipH="false" flipV="false" rot="0">
              <a:off x="0" y="0"/>
              <a:ext cx="9406763" cy="10361041"/>
            </a:xfrm>
            <a:custGeom>
              <a:avLst/>
              <a:gdLst/>
              <a:ahLst/>
              <a:cxnLst/>
              <a:rect r="r" b="b" t="t" l="l"/>
              <a:pathLst>
                <a:path h="10361041" w="9406763">
                  <a:moveTo>
                    <a:pt x="6350" y="0"/>
                  </a:moveTo>
                  <a:lnTo>
                    <a:pt x="9400413" y="0"/>
                  </a:lnTo>
                  <a:cubicBezTo>
                    <a:pt x="9403969" y="0"/>
                    <a:pt x="9406763" y="2794"/>
                    <a:pt x="9406763" y="6350"/>
                  </a:cubicBezTo>
                  <a:lnTo>
                    <a:pt x="9406763" y="10354691"/>
                  </a:lnTo>
                  <a:cubicBezTo>
                    <a:pt x="9406763" y="10358248"/>
                    <a:pt x="9403969" y="10361041"/>
                    <a:pt x="9400413" y="10361041"/>
                  </a:cubicBezTo>
                  <a:lnTo>
                    <a:pt x="6350" y="10361041"/>
                  </a:lnTo>
                  <a:cubicBezTo>
                    <a:pt x="2794" y="10361041"/>
                    <a:pt x="0" y="10358248"/>
                    <a:pt x="0" y="10354691"/>
                  </a:cubicBezTo>
                  <a:lnTo>
                    <a:pt x="0" y="6350"/>
                  </a:lnTo>
                  <a:cubicBezTo>
                    <a:pt x="0" y="2794"/>
                    <a:pt x="2794" y="0"/>
                    <a:pt x="6350" y="0"/>
                  </a:cubicBezTo>
                  <a:moveTo>
                    <a:pt x="6350" y="12700"/>
                  </a:moveTo>
                  <a:lnTo>
                    <a:pt x="6350" y="6350"/>
                  </a:lnTo>
                  <a:lnTo>
                    <a:pt x="12700" y="6350"/>
                  </a:lnTo>
                  <a:lnTo>
                    <a:pt x="12700" y="10354691"/>
                  </a:lnTo>
                  <a:lnTo>
                    <a:pt x="6350" y="10354691"/>
                  </a:lnTo>
                  <a:lnTo>
                    <a:pt x="6350" y="10348341"/>
                  </a:lnTo>
                  <a:lnTo>
                    <a:pt x="9400413" y="10348341"/>
                  </a:lnTo>
                  <a:lnTo>
                    <a:pt x="9400413" y="10354691"/>
                  </a:lnTo>
                  <a:lnTo>
                    <a:pt x="9394063" y="10354691"/>
                  </a:lnTo>
                  <a:lnTo>
                    <a:pt x="9394063" y="6350"/>
                  </a:lnTo>
                  <a:lnTo>
                    <a:pt x="9400413" y="6350"/>
                  </a:lnTo>
                  <a:lnTo>
                    <a:pt x="9400413" y="12700"/>
                  </a:lnTo>
                  <a:lnTo>
                    <a:pt x="6350" y="12700"/>
                  </a:lnTo>
                  <a:close/>
                </a:path>
              </a:pathLst>
            </a:custGeom>
            <a:solidFill>
              <a:srgbClr val="000000"/>
            </a:solidFill>
          </p:spPr>
        </p:sp>
        <p:sp>
          <p:nvSpPr>
            <p:cNvPr name="TextBox 5" id="5"/>
            <p:cNvSpPr txBox="true"/>
            <p:nvPr/>
          </p:nvSpPr>
          <p:spPr>
            <a:xfrm>
              <a:off x="0" y="28575"/>
              <a:ext cx="9406700" cy="10332525"/>
            </a:xfrm>
            <a:prstGeom prst="rect">
              <a:avLst/>
            </a:prstGeom>
          </p:spPr>
          <p:txBody>
            <a:bodyPr anchor="t" rtlCol="false" tIns="50800" lIns="50800" bIns="50800" rIns="50800"/>
            <a:lstStyle/>
            <a:p>
              <a:pPr algn="l">
                <a:lnSpc>
                  <a:spcPts val="1948"/>
                </a:lnSpc>
              </a:pPr>
              <a:r>
                <a:rPr lang="en-US" b="true" sz="2319">
                  <a:solidFill>
                    <a:srgbClr val="000000"/>
                  </a:solidFill>
                  <a:latin typeface="Calibri (MS) Bold"/>
                  <a:ea typeface="Calibri (MS) Bold"/>
                  <a:cs typeface="Calibri (MS) Bold"/>
                  <a:sym typeface="Calibri (MS) Bold"/>
                </a:rPr>
                <a:t>Describe your Solution:</a:t>
              </a:r>
            </a:p>
            <a:p>
              <a:pPr algn="just">
                <a:lnSpc>
                  <a:spcPts val="1948"/>
                </a:lnSpc>
              </a:pPr>
              <a:r>
                <a:rPr lang="en-US" sz="2319">
                  <a:solidFill>
                    <a:srgbClr val="000000"/>
                  </a:solidFill>
                  <a:latin typeface="Calibri (MS)"/>
                  <a:ea typeface="Calibri (MS)"/>
                  <a:cs typeface="Calibri (MS)"/>
                  <a:sym typeface="Calibri (MS)"/>
                </a:rPr>
                <a:t>We offer</a:t>
              </a:r>
              <a:r>
                <a:rPr lang="en-US" b="true" sz="2319">
                  <a:solidFill>
                    <a:srgbClr val="000000"/>
                  </a:solidFill>
                  <a:latin typeface="Calibri (MS) Bold"/>
                  <a:ea typeface="Calibri (MS) Bold"/>
                  <a:cs typeface="Calibri (MS) Bold"/>
                  <a:sym typeface="Calibri (MS) Bold"/>
                </a:rPr>
                <a:t> a mobile application </a:t>
              </a:r>
              <a:r>
                <a:rPr lang="en-US" sz="2319">
                  <a:solidFill>
                    <a:srgbClr val="000000"/>
                  </a:solidFill>
                  <a:latin typeface="Calibri (MS)"/>
                  <a:ea typeface="Calibri (MS)"/>
                  <a:cs typeface="Calibri (MS)"/>
                  <a:sym typeface="Calibri (MS)"/>
                </a:rPr>
                <a:t>called </a:t>
              </a:r>
              <a:r>
                <a:rPr lang="en-US" b="true" sz="2319" i="true">
                  <a:solidFill>
                    <a:srgbClr val="000000"/>
                  </a:solidFill>
                  <a:latin typeface="Calibri (MS) Bold Italics"/>
                  <a:ea typeface="Calibri (MS) Bold Italics"/>
                  <a:cs typeface="Calibri (MS) Bold Italics"/>
                  <a:sym typeface="Calibri (MS) Bold Italics"/>
                </a:rPr>
                <a:t>Furriend </a:t>
              </a:r>
              <a:r>
                <a:rPr lang="en-US" sz="2319">
                  <a:solidFill>
                    <a:srgbClr val="000000"/>
                  </a:solidFill>
                  <a:latin typeface="Calibri (MS)"/>
                  <a:ea typeface="Calibri (MS)"/>
                  <a:cs typeface="Calibri (MS)"/>
                  <a:sym typeface="Calibri (MS)"/>
                </a:rPr>
                <a:t>that connects pet owners with trusted and verified sitters nearby, providing a safe, affordable, and convenient way to ensure pets are cared for when their owners are busy, traveling, or unavailable.</a:t>
              </a:r>
            </a:p>
            <a:p>
              <a:pPr algn="just">
                <a:lnSpc>
                  <a:spcPts val="1176"/>
                </a:lnSpc>
              </a:pPr>
            </a:p>
            <a:p>
              <a:pPr algn="l">
                <a:lnSpc>
                  <a:spcPts val="1948"/>
                </a:lnSpc>
              </a:pPr>
              <a:r>
                <a:rPr lang="en-US" sz="2319">
                  <a:solidFill>
                    <a:srgbClr val="000000"/>
                  </a:solidFill>
                  <a:latin typeface="Calibri (MS)"/>
                  <a:ea typeface="Calibri (MS)"/>
                  <a:cs typeface="Calibri (MS)"/>
                  <a:sym typeface="Calibri (MS)"/>
                </a:rPr>
                <a:t>The details of our offering consist of:</a:t>
              </a:r>
            </a:p>
            <a:p>
              <a:pPr algn="l" marL="361187" indent="-180594" lvl="1">
                <a:lnSpc>
                  <a:spcPts val="1948"/>
                </a:lnSpc>
                <a:buAutoNum type="arabicPeriod" startAt="1"/>
              </a:pPr>
              <a:r>
                <a:rPr lang="en-US" sz="2319" i="true">
                  <a:solidFill>
                    <a:srgbClr val="000000"/>
                  </a:solidFill>
                  <a:latin typeface="Calibri (MS) Italics"/>
                  <a:ea typeface="Calibri (MS) Italics"/>
                  <a:cs typeface="Calibri (MS) Italics"/>
                  <a:sym typeface="Calibri (MS) Italics"/>
                </a:rPr>
                <a:t>Verified Sitter Profiles</a:t>
              </a:r>
              <a:r>
                <a:rPr lang="en-US" sz="2319">
                  <a:solidFill>
                    <a:srgbClr val="000000"/>
                  </a:solidFill>
                  <a:latin typeface="Calibri (MS)"/>
                  <a:ea typeface="Calibri (MS)"/>
                  <a:cs typeface="Calibri (MS)"/>
                  <a:sym typeface="Calibri (MS)"/>
                </a:rPr>
                <a:t> – Sitters undergo verification, with ratings and reviews available for transparency.</a:t>
              </a:r>
            </a:p>
            <a:p>
              <a:pPr algn="l" marL="217958" indent="-108979" lvl="1">
                <a:lnSpc>
                  <a:spcPts val="1176"/>
                </a:lnSpc>
              </a:pPr>
            </a:p>
            <a:p>
              <a:pPr algn="l" marL="361187" indent="-180594" lvl="1">
                <a:lnSpc>
                  <a:spcPts val="1948"/>
                </a:lnSpc>
                <a:buAutoNum type="arabicPeriod" startAt="1"/>
              </a:pPr>
              <a:r>
                <a:rPr lang="en-US" sz="2319" i="true">
                  <a:solidFill>
                    <a:srgbClr val="000000"/>
                  </a:solidFill>
                  <a:latin typeface="Calibri (MS) Italics"/>
                  <a:ea typeface="Calibri (MS) Italics"/>
                  <a:cs typeface="Calibri (MS) Italics"/>
                  <a:sym typeface="Calibri (MS) Italics"/>
                </a:rPr>
                <a:t>Pet Profiles &amp; Booking System</a:t>
              </a:r>
              <a:r>
                <a:rPr lang="en-US" sz="2319">
                  <a:solidFill>
                    <a:srgbClr val="000000"/>
                  </a:solidFill>
                  <a:latin typeface="Calibri (MS)"/>
                  <a:ea typeface="Calibri (MS)"/>
                  <a:cs typeface="Calibri (MS)"/>
                  <a:sym typeface="Calibri (MS)"/>
                </a:rPr>
                <a:t> – Owners create detailed pet profiles (breed, age, needs, behavior) and schedule services through the app.</a:t>
              </a:r>
            </a:p>
            <a:p>
              <a:pPr algn="l" marL="217958" indent="-108979" lvl="1">
                <a:lnSpc>
                  <a:spcPts val="1176"/>
                </a:lnSpc>
              </a:pPr>
            </a:p>
            <a:p>
              <a:pPr algn="l" marL="361187" indent="-180594" lvl="1">
                <a:lnSpc>
                  <a:spcPts val="1948"/>
                </a:lnSpc>
                <a:buAutoNum type="arabicPeriod" startAt="1"/>
              </a:pPr>
              <a:r>
                <a:rPr lang="en-US" sz="2319" i="true">
                  <a:solidFill>
                    <a:srgbClr val="000000"/>
                  </a:solidFill>
                  <a:latin typeface="Calibri (MS) Italics"/>
                  <a:ea typeface="Calibri (MS) Italics"/>
                  <a:cs typeface="Calibri (MS) Italics"/>
                  <a:sym typeface="Calibri (MS) Italics"/>
                </a:rPr>
                <a:t>In-App Chat, Updates, and Secure Payments</a:t>
              </a:r>
              <a:r>
                <a:rPr lang="en-US" sz="2319">
                  <a:solidFill>
                    <a:srgbClr val="000000"/>
                  </a:solidFill>
                  <a:latin typeface="Calibri (MS)"/>
                  <a:ea typeface="Calibri (MS)"/>
                  <a:cs typeface="Calibri (MS)"/>
                  <a:sym typeface="Calibri (MS)"/>
                </a:rPr>
                <a:t> – Owners can chat with sitters, receive photo/video updates, and pay securely in-app.</a:t>
              </a:r>
            </a:p>
            <a:p>
              <a:pPr algn="l" marL="217958" indent="-108979" lvl="1">
                <a:lnSpc>
                  <a:spcPts val="1176"/>
                </a:lnSpc>
              </a:pPr>
            </a:p>
            <a:p>
              <a:pPr algn="l" marL="361187" indent="-180594" lvl="1">
                <a:lnSpc>
                  <a:spcPts val="1948"/>
                </a:lnSpc>
                <a:buAutoNum type="arabicPeriod" startAt="1"/>
              </a:pPr>
              <a:r>
                <a:rPr lang="en-US" sz="2319" i="true">
                  <a:solidFill>
                    <a:srgbClr val="000000"/>
                  </a:solidFill>
                  <a:latin typeface="Calibri (MS) Italics"/>
                  <a:ea typeface="Calibri (MS) Italics"/>
                  <a:cs typeface="Calibri (MS) Italics"/>
                  <a:sym typeface="Calibri (MS) Italics"/>
                </a:rPr>
                <a:t>Pet Care Marketplace</a:t>
              </a:r>
              <a:r>
                <a:rPr lang="en-US" sz="2319">
                  <a:solidFill>
                    <a:srgbClr val="000000"/>
                  </a:solidFill>
                  <a:latin typeface="Calibri (MS)"/>
                  <a:ea typeface="Calibri (MS)"/>
                  <a:cs typeface="Calibri (MS)"/>
                  <a:sym typeface="Calibri (MS)"/>
                </a:rPr>
                <a:t> – In-app store for pet food, toys, grooming supplies, and accessories.</a:t>
              </a:r>
            </a:p>
            <a:p>
              <a:pPr algn="l" marL="217958" indent="-108979" lvl="1">
                <a:lnSpc>
                  <a:spcPts val="1176"/>
                </a:lnSpc>
              </a:pPr>
            </a:p>
            <a:p>
              <a:pPr algn="l" marL="361187" indent="-180594" lvl="1">
                <a:lnSpc>
                  <a:spcPts val="1948"/>
                </a:lnSpc>
                <a:buAutoNum type="arabicPeriod" startAt="1"/>
              </a:pPr>
              <a:r>
                <a:rPr lang="en-US" sz="2319" i="true">
                  <a:solidFill>
                    <a:srgbClr val="000000"/>
                  </a:solidFill>
                  <a:latin typeface="Calibri (MS) Italics"/>
                  <a:ea typeface="Calibri (MS) Italics"/>
                  <a:cs typeface="Calibri (MS) Italics"/>
                  <a:sym typeface="Calibri (MS) Italics"/>
                </a:rPr>
                <a:t>Premium Services</a:t>
              </a:r>
              <a:r>
                <a:rPr lang="en-US" sz="2319">
                  <a:solidFill>
                    <a:srgbClr val="000000"/>
                  </a:solidFill>
                  <a:latin typeface="Calibri (MS)"/>
                  <a:ea typeface="Calibri (MS)"/>
                  <a:cs typeface="Calibri (MS)"/>
                  <a:sym typeface="Calibri (MS)"/>
                </a:rPr>
                <a:t> – Subscription plans offering discounts, insurance, and emergency vet support.</a:t>
              </a:r>
            </a:p>
          </p:txBody>
        </p:sp>
      </p:grpSp>
      <p:grpSp>
        <p:nvGrpSpPr>
          <p:cNvPr name="Group 6" id="6"/>
          <p:cNvGrpSpPr/>
          <p:nvPr/>
        </p:nvGrpSpPr>
        <p:grpSpPr>
          <a:xfrm rot="0">
            <a:off x="9095912" y="2039137"/>
            <a:ext cx="6707325" cy="7770825"/>
            <a:chOff x="0" y="0"/>
            <a:chExt cx="8943100" cy="10361100"/>
          </a:xfrm>
        </p:grpSpPr>
        <p:sp>
          <p:nvSpPr>
            <p:cNvPr name="Freeform 7" id="7"/>
            <p:cNvSpPr/>
            <p:nvPr/>
          </p:nvSpPr>
          <p:spPr>
            <a:xfrm flipH="false" flipV="false" rot="0">
              <a:off x="0" y="0"/>
              <a:ext cx="8943086" cy="10361041"/>
            </a:xfrm>
            <a:custGeom>
              <a:avLst/>
              <a:gdLst/>
              <a:ahLst/>
              <a:cxnLst/>
              <a:rect r="r" b="b" t="t" l="l"/>
              <a:pathLst>
                <a:path h="10361041" w="8943086">
                  <a:moveTo>
                    <a:pt x="6350" y="0"/>
                  </a:moveTo>
                  <a:lnTo>
                    <a:pt x="8936736" y="0"/>
                  </a:lnTo>
                  <a:cubicBezTo>
                    <a:pt x="8940292" y="0"/>
                    <a:pt x="8943086" y="2794"/>
                    <a:pt x="8943086" y="6350"/>
                  </a:cubicBezTo>
                  <a:lnTo>
                    <a:pt x="8943086" y="10354691"/>
                  </a:lnTo>
                  <a:cubicBezTo>
                    <a:pt x="8943086" y="10358248"/>
                    <a:pt x="8940292" y="10361041"/>
                    <a:pt x="8936736" y="10361041"/>
                  </a:cubicBezTo>
                  <a:lnTo>
                    <a:pt x="6350" y="10361041"/>
                  </a:lnTo>
                  <a:cubicBezTo>
                    <a:pt x="2794" y="10361041"/>
                    <a:pt x="0" y="10358248"/>
                    <a:pt x="0" y="10354691"/>
                  </a:cubicBezTo>
                  <a:lnTo>
                    <a:pt x="0" y="6350"/>
                  </a:lnTo>
                  <a:cubicBezTo>
                    <a:pt x="0" y="2794"/>
                    <a:pt x="2794" y="0"/>
                    <a:pt x="6350" y="0"/>
                  </a:cubicBezTo>
                  <a:moveTo>
                    <a:pt x="6350" y="12700"/>
                  </a:moveTo>
                  <a:lnTo>
                    <a:pt x="6350" y="6350"/>
                  </a:lnTo>
                  <a:lnTo>
                    <a:pt x="12700" y="6350"/>
                  </a:lnTo>
                  <a:lnTo>
                    <a:pt x="12700" y="10354691"/>
                  </a:lnTo>
                  <a:lnTo>
                    <a:pt x="6350" y="10354691"/>
                  </a:lnTo>
                  <a:lnTo>
                    <a:pt x="6350" y="10348341"/>
                  </a:lnTo>
                  <a:lnTo>
                    <a:pt x="8936736" y="10348341"/>
                  </a:lnTo>
                  <a:lnTo>
                    <a:pt x="8936736" y="10354691"/>
                  </a:lnTo>
                  <a:lnTo>
                    <a:pt x="8930386" y="10354691"/>
                  </a:lnTo>
                  <a:lnTo>
                    <a:pt x="8930386" y="6350"/>
                  </a:lnTo>
                  <a:lnTo>
                    <a:pt x="8936736" y="6350"/>
                  </a:lnTo>
                  <a:lnTo>
                    <a:pt x="8936736" y="12700"/>
                  </a:lnTo>
                  <a:lnTo>
                    <a:pt x="6350" y="12700"/>
                  </a:lnTo>
                  <a:close/>
                </a:path>
              </a:pathLst>
            </a:custGeom>
            <a:solidFill>
              <a:srgbClr val="000000"/>
            </a:solidFill>
          </p:spPr>
        </p:sp>
        <p:sp>
          <p:nvSpPr>
            <p:cNvPr name="TextBox 8" id="8"/>
            <p:cNvSpPr txBox="true"/>
            <p:nvPr/>
          </p:nvSpPr>
          <p:spPr>
            <a:xfrm>
              <a:off x="0" y="-38100"/>
              <a:ext cx="8943100" cy="10399200"/>
            </a:xfrm>
            <a:prstGeom prst="rect">
              <a:avLst/>
            </a:prstGeom>
          </p:spPr>
          <p:txBody>
            <a:bodyPr anchor="t" rtlCol="false" tIns="50800" lIns="50800" bIns="50800" rIns="50800"/>
            <a:lstStyle/>
            <a:p>
              <a:pPr algn="just">
                <a:lnSpc>
                  <a:spcPts val="2879"/>
                </a:lnSpc>
              </a:pPr>
              <a:r>
                <a:rPr lang="en-US" b="true" sz="2400">
                  <a:solidFill>
                    <a:srgbClr val="000000"/>
                  </a:solidFill>
                  <a:latin typeface="Calibri (MS) Bold"/>
                  <a:ea typeface="Calibri (MS) Bold"/>
                  <a:cs typeface="Calibri (MS) Bold"/>
                  <a:sym typeface="Calibri (MS) Bold"/>
                </a:rPr>
                <a:t>List the Benefits of Your solutions</a:t>
              </a:r>
            </a:p>
            <a:p>
              <a:pPr algn="just">
                <a:lnSpc>
                  <a:spcPts val="2760"/>
                </a:lnSpc>
              </a:pPr>
              <a:r>
                <a:rPr lang="en-US" sz="2300">
                  <a:solidFill>
                    <a:srgbClr val="000000"/>
                  </a:solidFill>
                  <a:latin typeface="Calibri (MS)"/>
                  <a:ea typeface="Calibri (MS)"/>
                  <a:cs typeface="Calibri (MS)"/>
                  <a:sym typeface="Calibri (MS)"/>
                </a:rPr>
                <a:t>Verified Sitter Profiles → Builds trust and peace of mind, ensuring pets are in safe hands.</a:t>
              </a:r>
            </a:p>
            <a:p>
              <a:pPr algn="just">
                <a:lnSpc>
                  <a:spcPts val="1680"/>
                </a:lnSpc>
              </a:pPr>
            </a:p>
            <a:p>
              <a:pPr algn="just" marL="354329" indent="-177165" lvl="1">
                <a:lnSpc>
                  <a:spcPts val="2639"/>
                </a:lnSpc>
                <a:buAutoNum type="arabicPeriod" startAt="1"/>
              </a:pPr>
              <a:r>
                <a:rPr lang="en-US" sz="2199" i="true">
                  <a:solidFill>
                    <a:srgbClr val="000000"/>
                  </a:solidFill>
                  <a:latin typeface="Calibri (MS) Italics"/>
                  <a:ea typeface="Calibri (MS) Italics"/>
                  <a:cs typeface="Calibri (MS) Italics"/>
                  <a:sym typeface="Calibri (MS) Italics"/>
                </a:rPr>
                <a:t>Verified Sitter Profiles → </a:t>
              </a:r>
              <a:r>
                <a:rPr lang="en-US" sz="2199">
                  <a:solidFill>
                    <a:srgbClr val="000000"/>
                  </a:solidFill>
                  <a:latin typeface="Calibri (MS)"/>
                  <a:ea typeface="Calibri (MS)"/>
                  <a:cs typeface="Calibri (MS)"/>
                  <a:sym typeface="Calibri (MS)"/>
                </a:rPr>
                <a:t>Builds trust and peace of mind, ensuring pets are in safe hands.</a:t>
              </a:r>
            </a:p>
            <a:p>
              <a:pPr algn="just" marL="225483" indent="-112741" lvl="1">
                <a:lnSpc>
                  <a:spcPts val="1680"/>
                </a:lnSpc>
              </a:pPr>
            </a:p>
            <a:p>
              <a:pPr algn="just" marL="354329" indent="-177165" lvl="1">
                <a:lnSpc>
                  <a:spcPts val="2639"/>
                </a:lnSpc>
                <a:buAutoNum type="arabicPeriod" startAt="1"/>
              </a:pPr>
              <a:r>
                <a:rPr lang="en-US" sz="2199" i="true">
                  <a:solidFill>
                    <a:srgbClr val="000000"/>
                  </a:solidFill>
                  <a:latin typeface="Calibri (MS) Italics"/>
                  <a:ea typeface="Calibri (MS) Italics"/>
                  <a:cs typeface="Calibri (MS) Italics"/>
                  <a:sym typeface="Calibri (MS) Italics"/>
                </a:rPr>
                <a:t>Pet Profiles &amp; Booking System → </a:t>
              </a:r>
              <a:r>
                <a:rPr lang="en-US" sz="2199">
                  <a:solidFill>
                    <a:srgbClr val="000000"/>
                  </a:solidFill>
                  <a:latin typeface="Calibri (MS)"/>
                  <a:ea typeface="Calibri (MS)"/>
                  <a:cs typeface="Calibri (MS)"/>
                  <a:sym typeface="Calibri (MS)"/>
                </a:rPr>
                <a:t>Provides personalized care and makes scheduling fast and convenient.</a:t>
              </a:r>
            </a:p>
            <a:p>
              <a:pPr algn="just" marL="225483" indent="-112741" lvl="1">
                <a:lnSpc>
                  <a:spcPts val="1680"/>
                </a:lnSpc>
              </a:pPr>
            </a:p>
            <a:p>
              <a:pPr algn="just" marL="354329" indent="-177165" lvl="1">
                <a:lnSpc>
                  <a:spcPts val="2639"/>
                </a:lnSpc>
                <a:buAutoNum type="arabicPeriod" startAt="1"/>
              </a:pPr>
              <a:r>
                <a:rPr lang="en-US" sz="2199" i="true">
                  <a:solidFill>
                    <a:srgbClr val="000000"/>
                  </a:solidFill>
                  <a:latin typeface="Calibri (MS) Italics"/>
                  <a:ea typeface="Calibri (MS) Italics"/>
                  <a:cs typeface="Calibri (MS) Italics"/>
                  <a:sym typeface="Calibri (MS) Italics"/>
                </a:rPr>
                <a:t>In-App Chat, Updates, and Secure Payments → </a:t>
              </a:r>
              <a:r>
                <a:rPr lang="en-US" sz="2199">
                  <a:solidFill>
                    <a:srgbClr val="000000"/>
                  </a:solidFill>
                  <a:latin typeface="Calibri (MS)"/>
                  <a:ea typeface="Calibri (MS)"/>
                  <a:cs typeface="Calibri (MS)"/>
                  <a:sym typeface="Calibri (MS)"/>
                </a:rPr>
                <a:t>Gives owners real-time assurance and hassle-free transactions.</a:t>
              </a:r>
            </a:p>
            <a:p>
              <a:pPr algn="just" marL="225483" indent="-112741" lvl="1">
                <a:lnSpc>
                  <a:spcPts val="1680"/>
                </a:lnSpc>
              </a:pPr>
            </a:p>
            <a:p>
              <a:pPr algn="just" marL="354329" indent="-177165" lvl="1">
                <a:lnSpc>
                  <a:spcPts val="2639"/>
                </a:lnSpc>
                <a:buAutoNum type="arabicPeriod" startAt="1"/>
              </a:pPr>
              <a:r>
                <a:rPr lang="en-US" sz="2199" i="true">
                  <a:solidFill>
                    <a:srgbClr val="000000"/>
                  </a:solidFill>
                  <a:latin typeface="Calibri (MS) Italics"/>
                  <a:ea typeface="Calibri (MS) Italics"/>
                  <a:cs typeface="Calibri (MS) Italics"/>
                  <a:sym typeface="Calibri (MS) Italics"/>
                </a:rPr>
                <a:t>Pet Care Marketplace → </a:t>
              </a:r>
              <a:r>
                <a:rPr lang="en-US" sz="2199">
                  <a:solidFill>
                    <a:srgbClr val="000000"/>
                  </a:solidFill>
                  <a:latin typeface="Calibri (MS)"/>
                  <a:ea typeface="Calibri (MS)"/>
                  <a:cs typeface="Calibri (MS)"/>
                  <a:sym typeface="Calibri (MS)"/>
                </a:rPr>
                <a:t>Offers one-stop convenience for pet needs without leaving the app.</a:t>
              </a:r>
            </a:p>
            <a:p>
              <a:pPr algn="just" marL="225483" indent="-112741" lvl="1">
                <a:lnSpc>
                  <a:spcPts val="1680"/>
                </a:lnSpc>
              </a:pPr>
            </a:p>
            <a:p>
              <a:pPr algn="just" marL="354329" indent="-177165" lvl="1">
                <a:lnSpc>
                  <a:spcPts val="2639"/>
                </a:lnSpc>
                <a:buAutoNum type="arabicPeriod" startAt="1"/>
              </a:pPr>
              <a:r>
                <a:rPr lang="en-US" sz="2199" i="true">
                  <a:solidFill>
                    <a:srgbClr val="000000"/>
                  </a:solidFill>
                  <a:latin typeface="Calibri (MS) Italics"/>
                  <a:ea typeface="Calibri (MS) Italics"/>
                  <a:cs typeface="Calibri (MS) Italics"/>
                  <a:sym typeface="Calibri (MS) Italics"/>
                </a:rPr>
                <a:t>Premium Services → </a:t>
              </a:r>
              <a:r>
                <a:rPr lang="en-US" sz="2199">
                  <a:solidFill>
                    <a:srgbClr val="000000"/>
                  </a:solidFill>
                  <a:latin typeface="Calibri (MS)"/>
                  <a:ea typeface="Calibri (MS)"/>
                  <a:cs typeface="Calibri (MS)"/>
                  <a:sym typeface="Calibri (MS)"/>
                </a:rPr>
                <a:t>Ensures added security, savings, and emergency support for responsible pet ownership.</a:t>
              </a:r>
            </a:p>
          </p:txBody>
        </p:sp>
      </p:grpSp>
      <p:grpSp>
        <p:nvGrpSpPr>
          <p:cNvPr name="Group 9" id="9"/>
          <p:cNvGrpSpPr>
            <a:grpSpLocks noChangeAspect="true"/>
          </p:cNvGrpSpPr>
          <p:nvPr/>
        </p:nvGrpSpPr>
        <p:grpSpPr>
          <a:xfrm rot="0">
            <a:off x="15047404" y="322975"/>
            <a:ext cx="2905267" cy="916975"/>
            <a:chOff x="0" y="0"/>
            <a:chExt cx="3873689" cy="1222633"/>
          </a:xfrm>
        </p:grpSpPr>
        <p:sp>
          <p:nvSpPr>
            <p:cNvPr name="Freeform 10" id="10"/>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3"/>
              <a:stretch>
                <a:fillRect l="0" t="0" r="-1"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1028700"/>
          <a:ext cx="13201650" cy="5029200"/>
        </p:xfrm>
        <a:graphic>
          <a:graphicData uri="http://schemas.openxmlformats.org/presentationml/2006/ole">
            <p:oleObj imgW="15836900" imgH="7658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63199" y="184597"/>
            <a:ext cx="5930781" cy="685074"/>
          </a:xfrm>
          <a:prstGeom prst="rect">
            <a:avLst/>
          </a:prstGeom>
        </p:spPr>
        <p:txBody>
          <a:bodyPr anchor="t" rtlCol="false" tIns="0" lIns="0" bIns="0" rIns="0">
            <a:spAutoFit/>
          </a:bodyPr>
          <a:lstStyle/>
          <a:p>
            <a:pPr algn="ctr">
              <a:lnSpc>
                <a:spcPts val="5548"/>
              </a:lnSpc>
              <a:spcBef>
                <a:spcPct val="0"/>
              </a:spcBef>
            </a:pPr>
            <a:r>
              <a:rPr lang="en-US" b="true" sz="4623">
                <a:solidFill>
                  <a:srgbClr val="000000"/>
                </a:solidFill>
                <a:latin typeface="Quicksand Bold"/>
                <a:ea typeface="Quicksand Bold"/>
                <a:cs typeface="Quicksand Bold"/>
                <a:sym typeface="Quicksand Bold"/>
              </a:rPr>
              <a:t>Competition Analysis</a:t>
            </a:r>
          </a:p>
        </p:txBody>
      </p:sp>
      <p:grpSp>
        <p:nvGrpSpPr>
          <p:cNvPr name="Group 4" id="4"/>
          <p:cNvGrpSpPr>
            <a:grpSpLocks noChangeAspect="true"/>
          </p:cNvGrpSpPr>
          <p:nvPr/>
        </p:nvGrpSpPr>
        <p:grpSpPr>
          <a:xfrm rot="0">
            <a:off x="15382733" y="0"/>
            <a:ext cx="2905267" cy="916975"/>
            <a:chOff x="0" y="0"/>
            <a:chExt cx="3873689" cy="1222633"/>
          </a:xfrm>
        </p:grpSpPr>
        <p:sp>
          <p:nvSpPr>
            <p:cNvPr name="Freeform 5" id="5"/>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TextBox 2" id="2"/>
          <p:cNvSpPr txBox="true"/>
          <p:nvPr/>
        </p:nvSpPr>
        <p:spPr>
          <a:xfrm rot="0">
            <a:off x="2424112" y="4697434"/>
            <a:ext cx="13439775" cy="2743200"/>
          </a:xfrm>
          <a:prstGeom prst="rect">
            <a:avLst/>
          </a:prstGeom>
        </p:spPr>
        <p:txBody>
          <a:bodyPr anchor="t" rtlCol="false" tIns="0" lIns="0" bIns="0" rIns="0">
            <a:spAutoFit/>
          </a:bodyPr>
          <a:lstStyle/>
          <a:p>
            <a:pPr algn="ctr">
              <a:lnSpc>
                <a:spcPts val="7225"/>
              </a:lnSpc>
            </a:pPr>
            <a:r>
              <a:rPr lang="en-US" sz="6021" b="true">
                <a:solidFill>
                  <a:srgbClr val="000000"/>
                </a:solidFill>
                <a:latin typeface="Quicksand Bold"/>
                <a:ea typeface="Quicksand Bold"/>
                <a:cs typeface="Quicksand Bold"/>
                <a:sym typeface="Quicksand Bold"/>
              </a:rPr>
              <a:t>MVP of Furriend (Mobile Application)</a:t>
            </a:r>
          </a:p>
          <a:p>
            <a:pPr algn="ctr">
              <a:lnSpc>
                <a:spcPts val="7225"/>
              </a:lnSpc>
            </a:pPr>
          </a:p>
          <a:p>
            <a:pPr algn="ctr">
              <a:lnSpc>
                <a:spcPts val="7225"/>
              </a:lnSpc>
              <a:spcBef>
                <a:spcPct val="0"/>
              </a:spcBef>
            </a:pPr>
            <a:r>
              <a:rPr lang="en-US" b="true" sz="6021">
                <a:solidFill>
                  <a:srgbClr val="888888"/>
                </a:solidFill>
                <a:latin typeface="Quicksand Bold"/>
                <a:ea typeface="Quicksand Bold"/>
                <a:cs typeface="Quicksand Bold"/>
                <a:sym typeface="Quicksand Bold"/>
              </a:rPr>
              <a:t>Prototype link: </a:t>
            </a:r>
            <a:r>
              <a:rPr lang="en-US" b="true" sz="6021" u="sng">
                <a:solidFill>
                  <a:srgbClr val="F09857"/>
                </a:solidFill>
                <a:latin typeface="Quicksand Bold"/>
                <a:ea typeface="Quicksand Bold"/>
                <a:cs typeface="Quicksand Bold"/>
                <a:sym typeface="Quicksand Bold"/>
                <a:hlinkClick r:id="rId2" tooltip="https://www.figma.com/proto/3tAiMj7dSs0vRaIJCV7Nve/Furriend-Prototype?node-id=1-162&amp;p=f&amp;t=K6mbRnvcA5umJDQw-1&amp;scaling=scale-down&amp;content-scaling=fixed&amp;page-id=0%3A1"/>
              </a:rPr>
              <a:t>Furriend</a:t>
            </a:r>
          </a:p>
        </p:txBody>
      </p:sp>
      <p:grpSp>
        <p:nvGrpSpPr>
          <p:cNvPr name="Group 3" id="3"/>
          <p:cNvGrpSpPr>
            <a:grpSpLocks noChangeAspect="true"/>
          </p:cNvGrpSpPr>
          <p:nvPr/>
        </p:nvGrpSpPr>
        <p:grpSpPr>
          <a:xfrm rot="0">
            <a:off x="15047404" y="322975"/>
            <a:ext cx="2905267" cy="916975"/>
            <a:chOff x="0" y="0"/>
            <a:chExt cx="3873689" cy="1222633"/>
          </a:xfrm>
        </p:grpSpPr>
        <p:sp>
          <p:nvSpPr>
            <p:cNvPr name="Freeform 4" id="4"/>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3"/>
              <a:stretch>
                <a:fillRect l="0" t="0" r="-1"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17809" y="713860"/>
            <a:ext cx="5058809" cy="8859280"/>
          </a:xfrm>
          <a:prstGeom prst="rect">
            <a:avLst/>
          </a:prstGeom>
        </p:spPr>
      </p:pic>
      <p:sp>
        <p:nvSpPr>
          <p:cNvPr name="TextBox 3" id="3"/>
          <p:cNvSpPr txBox="true"/>
          <p:nvPr/>
        </p:nvSpPr>
        <p:spPr>
          <a:xfrm rot="0">
            <a:off x="5894681" y="1442608"/>
            <a:ext cx="6141721" cy="189547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1. Splash Screen</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The first screen </a:t>
            </a:r>
            <a:r>
              <a:rPr lang="en-US" b="true" sz="2100">
                <a:solidFill>
                  <a:srgbClr val="888888"/>
                </a:solidFill>
                <a:latin typeface="Quicksand Bold"/>
                <a:ea typeface="Quicksand Bold"/>
                <a:cs typeface="Quicksand Bold"/>
                <a:sym typeface="Quicksand Bold"/>
              </a:rPr>
              <a:t>users see when opening the app. It displays the Furriend logo with subtle animation. Creates brand recall and transitions smoothly to the login/onboarding flow.</a:t>
            </a:r>
          </a:p>
          <a:p>
            <a:pPr algn="just">
              <a:lnSpc>
                <a:spcPts val="2520"/>
              </a:lnSpc>
              <a:spcBef>
                <a:spcPct val="0"/>
              </a:spcBef>
            </a:pPr>
          </a:p>
        </p:txBody>
      </p:sp>
      <p:pic>
        <p:nvPicPr>
          <p:cNvPr name="Picture 4" id="4"/>
          <p:cNvPicPr>
            <a:picLocks noChangeAspect="true"/>
          </p:cNvPicPr>
          <p:nvPr/>
        </p:nvPicPr>
        <p:blipFill>
          <a:blip r:embed="rId3"/>
          <a:stretch>
            <a:fillRect/>
          </a:stretch>
        </p:blipFill>
        <p:spPr>
          <a:xfrm rot="0">
            <a:off x="12938765" y="713860"/>
            <a:ext cx="5058809" cy="8859280"/>
          </a:xfrm>
          <a:prstGeom prst="rect">
            <a:avLst/>
          </a:prstGeom>
        </p:spPr>
      </p:pic>
      <p:sp>
        <p:nvSpPr>
          <p:cNvPr name="TextBox 5" id="5"/>
          <p:cNvSpPr txBox="true"/>
          <p:nvPr/>
        </p:nvSpPr>
        <p:spPr>
          <a:xfrm rot="0">
            <a:off x="7299709" y="6659650"/>
            <a:ext cx="6141721" cy="189547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2. Choose Account Type Screen</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This screen helps new </a:t>
            </a:r>
            <a:r>
              <a:rPr lang="en-US" b="true" sz="2100">
                <a:solidFill>
                  <a:srgbClr val="888888"/>
                </a:solidFill>
                <a:latin typeface="Quicksand Bold"/>
                <a:ea typeface="Quicksand Bold"/>
                <a:cs typeface="Quicksand Bold"/>
                <a:sym typeface="Quicksand Bold"/>
              </a:rPr>
              <a:t>users identify their role in the app. Users select whether they want to use the app as a Pet Owner (to book services) or a Pet Sitter (to offer services).</a:t>
            </a:r>
          </a:p>
          <a:p>
            <a:pPr algn="just">
              <a:lnSpc>
                <a:spcPts val="2520"/>
              </a:lnSpc>
              <a:spcBef>
                <a:spcPct val="0"/>
              </a:spcBef>
            </a:pPr>
          </a:p>
        </p:txBody>
      </p:sp>
      <p:grpSp>
        <p:nvGrpSpPr>
          <p:cNvPr name="Group 6" id="6"/>
          <p:cNvGrpSpPr>
            <a:grpSpLocks noChangeAspect="true"/>
          </p:cNvGrpSpPr>
          <p:nvPr/>
        </p:nvGrpSpPr>
        <p:grpSpPr>
          <a:xfrm rot="0">
            <a:off x="15047404" y="322975"/>
            <a:ext cx="2905267" cy="916975"/>
            <a:chOff x="0" y="0"/>
            <a:chExt cx="3873689" cy="1222633"/>
          </a:xfrm>
        </p:grpSpPr>
        <p:sp>
          <p:nvSpPr>
            <p:cNvPr name="Freeform 7" id="7"/>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17809" y="713860"/>
            <a:ext cx="5058809" cy="8859280"/>
          </a:xfrm>
          <a:prstGeom prst="rect">
            <a:avLst/>
          </a:prstGeom>
        </p:spPr>
      </p:pic>
      <p:pic>
        <p:nvPicPr>
          <p:cNvPr name="Picture 3" id="3"/>
          <p:cNvPicPr>
            <a:picLocks noChangeAspect="true"/>
          </p:cNvPicPr>
          <p:nvPr/>
        </p:nvPicPr>
        <p:blipFill>
          <a:blip r:embed="rId3"/>
          <a:stretch>
            <a:fillRect/>
          </a:stretch>
        </p:blipFill>
        <p:spPr>
          <a:xfrm rot="0">
            <a:off x="12938765" y="713860"/>
            <a:ext cx="5058809" cy="8859280"/>
          </a:xfrm>
          <a:prstGeom prst="rect">
            <a:avLst/>
          </a:prstGeom>
        </p:spPr>
      </p:pic>
      <p:sp>
        <p:nvSpPr>
          <p:cNvPr name="TextBox 4" id="4"/>
          <p:cNvSpPr txBox="true"/>
          <p:nvPr/>
        </p:nvSpPr>
        <p:spPr>
          <a:xfrm rot="0">
            <a:off x="5894681" y="1442608"/>
            <a:ext cx="6141721" cy="1581150"/>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3. Login/Signup</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This is th</a:t>
            </a:r>
            <a:r>
              <a:rPr lang="en-US" b="true" sz="2100">
                <a:solidFill>
                  <a:srgbClr val="888888"/>
                </a:solidFill>
                <a:latin typeface="Quicksand Bold"/>
                <a:ea typeface="Quicksand Bold"/>
                <a:cs typeface="Quicksand Bold"/>
                <a:sym typeface="Quicksand Bold"/>
              </a:rPr>
              <a:t>e entry point for all users — whether they’re Pet Owners or Pet Sitters. They have two options to login which is either with Google or Facebook.</a:t>
            </a:r>
          </a:p>
        </p:txBody>
      </p:sp>
      <p:sp>
        <p:nvSpPr>
          <p:cNvPr name="TextBox 5" id="5"/>
          <p:cNvSpPr txBox="true"/>
          <p:nvPr/>
        </p:nvSpPr>
        <p:spPr>
          <a:xfrm rot="0">
            <a:off x="7299709" y="6659650"/>
            <a:ext cx="6141721" cy="189547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4. Pet Owner Dashboard</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The hub for pet own</a:t>
            </a:r>
            <a:r>
              <a:rPr lang="en-US" b="true" sz="2100">
                <a:solidFill>
                  <a:srgbClr val="888888"/>
                </a:solidFill>
                <a:latin typeface="Quicksand Bold"/>
                <a:ea typeface="Quicksand Bold"/>
                <a:cs typeface="Quicksand Bold"/>
                <a:sym typeface="Quicksand Bold"/>
              </a:rPr>
              <a:t>ers. Includes a search bar for nearby sitters, a filter system (location, price, rating, services), and featured sitter cards with quick booking details. Bottom navigation keeps essentials within reach.</a:t>
            </a:r>
          </a:p>
        </p:txBody>
      </p:sp>
      <p:grpSp>
        <p:nvGrpSpPr>
          <p:cNvPr name="Group 6" id="6"/>
          <p:cNvGrpSpPr>
            <a:grpSpLocks noChangeAspect="true"/>
          </p:cNvGrpSpPr>
          <p:nvPr/>
        </p:nvGrpSpPr>
        <p:grpSpPr>
          <a:xfrm rot="0">
            <a:off x="15047404" y="322975"/>
            <a:ext cx="2905267" cy="916975"/>
            <a:chOff x="0" y="0"/>
            <a:chExt cx="3873689" cy="1222633"/>
          </a:xfrm>
        </p:grpSpPr>
        <p:sp>
          <p:nvSpPr>
            <p:cNvPr name="Freeform 7" id="7"/>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17809" y="713860"/>
            <a:ext cx="5058809" cy="8859280"/>
          </a:xfrm>
          <a:prstGeom prst="rect">
            <a:avLst/>
          </a:prstGeom>
        </p:spPr>
      </p:pic>
      <p:pic>
        <p:nvPicPr>
          <p:cNvPr name="Picture 3" id="3"/>
          <p:cNvPicPr>
            <a:picLocks noChangeAspect="true"/>
          </p:cNvPicPr>
          <p:nvPr/>
        </p:nvPicPr>
        <p:blipFill>
          <a:blip r:embed="rId3"/>
          <a:stretch>
            <a:fillRect/>
          </a:stretch>
        </p:blipFill>
        <p:spPr>
          <a:xfrm rot="0">
            <a:off x="12938765" y="713860"/>
            <a:ext cx="5058809" cy="8859280"/>
          </a:xfrm>
          <a:prstGeom prst="rect">
            <a:avLst/>
          </a:prstGeom>
        </p:spPr>
      </p:pic>
      <p:sp>
        <p:nvSpPr>
          <p:cNvPr name="TextBox 4" id="4"/>
          <p:cNvSpPr txBox="true"/>
          <p:nvPr/>
        </p:nvSpPr>
        <p:spPr>
          <a:xfrm rot="0">
            <a:off x="5894681" y="1442608"/>
            <a:ext cx="6141721" cy="252412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5. Pet Profile</a:t>
            </a:r>
            <a:r>
              <a:rPr lang="en-US" sz="2100" b="true">
                <a:solidFill>
                  <a:srgbClr val="757070"/>
                </a:solidFill>
                <a:latin typeface="Quicksand Bold"/>
                <a:ea typeface="Quicksand Bold"/>
                <a:cs typeface="Quicksand Bold"/>
                <a:sym typeface="Quicksand Bold"/>
              </a:rPr>
              <a:t> </a:t>
            </a:r>
            <a:r>
              <a:rPr lang="en-US" sz="2100" b="true">
                <a:solidFill>
                  <a:srgbClr val="03A6A1"/>
                </a:solidFill>
                <a:latin typeface="Quicksand Bold"/>
                <a:ea typeface="Quicksand Bold"/>
                <a:cs typeface="Quicksand Bold"/>
                <a:sym typeface="Quicksand Bold"/>
              </a:rPr>
              <a:t>(Pet Owner)</a:t>
            </a:r>
          </a:p>
          <a:p>
            <a:pPr algn="just">
              <a:lnSpc>
                <a:spcPts val="2520"/>
              </a:lnSpc>
              <a:spcBef>
                <a:spcPct val="0"/>
              </a:spcBef>
            </a:pPr>
            <a:r>
              <a:rPr lang="en-US" b="true" sz="2100">
                <a:solidFill>
                  <a:srgbClr val="757070"/>
                </a:solidFill>
                <a:latin typeface="Quicksand Bold"/>
                <a:ea typeface="Quicksand Bold"/>
                <a:cs typeface="Quicksand Bold"/>
                <a:sym typeface="Quicksand Bold"/>
              </a:rPr>
              <a:t>A d</a:t>
            </a:r>
            <a:r>
              <a:rPr lang="en-US" b="true" sz="2100">
                <a:solidFill>
                  <a:srgbClr val="757070"/>
                </a:solidFill>
                <a:latin typeface="Quicksand Bold"/>
                <a:ea typeface="Quicksand Bold"/>
                <a:cs typeface="Quicksand Bold"/>
                <a:sym typeface="Quicksand Bold"/>
              </a:rPr>
              <a:t>edicated space to manag</a:t>
            </a:r>
            <a:r>
              <a:rPr lang="en-US" b="true" sz="2100">
                <a:solidFill>
                  <a:srgbClr val="757070"/>
                </a:solidFill>
                <a:latin typeface="Quicksand Bold"/>
                <a:ea typeface="Quicksand Bold"/>
                <a:cs typeface="Quicksand Bold"/>
                <a:sym typeface="Quicksand Bold"/>
              </a:rPr>
              <a:t>e pet details. Owners can upload a pet photo, input details like name, breed, age, and gender, and mark special needs via dropdown. A notes section allows feeding instructions, allergies, or habits. Saved profiles simplify future bookings.</a:t>
            </a:r>
          </a:p>
        </p:txBody>
      </p:sp>
      <p:sp>
        <p:nvSpPr>
          <p:cNvPr name="TextBox 5" id="5"/>
          <p:cNvSpPr txBox="true"/>
          <p:nvPr/>
        </p:nvSpPr>
        <p:spPr>
          <a:xfrm rot="0">
            <a:off x="7299709" y="6659650"/>
            <a:ext cx="6141721" cy="2209800"/>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6. Sitter Profile </a:t>
            </a:r>
            <a:r>
              <a:rPr lang="en-US" sz="2100" b="true">
                <a:solidFill>
                  <a:srgbClr val="03A6A1"/>
                </a:solidFill>
                <a:latin typeface="Quicksand Bold"/>
                <a:ea typeface="Quicksand Bold"/>
                <a:cs typeface="Quicksand Bold"/>
                <a:sym typeface="Quicksand Bold"/>
              </a:rPr>
              <a:t>(Pet Owner)</a:t>
            </a:r>
          </a:p>
          <a:p>
            <a:pPr algn="just">
              <a:lnSpc>
                <a:spcPts val="2520"/>
              </a:lnSpc>
              <a:spcBef>
                <a:spcPct val="0"/>
              </a:spcBef>
            </a:pPr>
            <a:r>
              <a:rPr lang="en-US" b="true" sz="2100">
                <a:solidFill>
                  <a:srgbClr val="757070"/>
                </a:solidFill>
                <a:latin typeface="Quicksand Bold"/>
                <a:ea typeface="Quicksand Bold"/>
                <a:cs typeface="Quicksand Bold"/>
                <a:sym typeface="Quicksand Bold"/>
              </a:rPr>
              <a:t>D</a:t>
            </a:r>
            <a:r>
              <a:rPr lang="en-US" b="true" sz="2100">
                <a:solidFill>
                  <a:srgbClr val="757070"/>
                </a:solidFill>
                <a:latin typeface="Quicksand Bold"/>
                <a:ea typeface="Quicksand Bold"/>
                <a:cs typeface="Quicksand Bold"/>
                <a:sym typeface="Quicksand Bold"/>
              </a:rPr>
              <a:t>isplays a </a:t>
            </a:r>
            <a:r>
              <a:rPr lang="en-US" b="true" sz="2100">
                <a:solidFill>
                  <a:srgbClr val="757070"/>
                </a:solidFill>
                <a:latin typeface="Quicksand Bold"/>
                <a:ea typeface="Quicksand Bold"/>
                <a:cs typeface="Quicksand Bold"/>
                <a:sym typeface="Quicksand Bold"/>
              </a:rPr>
              <a:t>sitter’s information clearly: photo, name, location, distance, ratings, rates, and services offered. Owners can scroll through reviews from other pet parents. The “Book Now” button provides a direct action for conversion.</a:t>
            </a:r>
          </a:p>
        </p:txBody>
      </p:sp>
      <p:grpSp>
        <p:nvGrpSpPr>
          <p:cNvPr name="Group 6" id="6"/>
          <p:cNvGrpSpPr>
            <a:grpSpLocks noChangeAspect="true"/>
          </p:cNvGrpSpPr>
          <p:nvPr/>
        </p:nvGrpSpPr>
        <p:grpSpPr>
          <a:xfrm rot="0">
            <a:off x="15047404" y="322975"/>
            <a:ext cx="2905267" cy="916975"/>
            <a:chOff x="0" y="0"/>
            <a:chExt cx="3873689" cy="1222633"/>
          </a:xfrm>
        </p:grpSpPr>
        <p:sp>
          <p:nvSpPr>
            <p:cNvPr name="Freeform 7" id="7"/>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17809" y="713860"/>
            <a:ext cx="5058809" cy="8859280"/>
          </a:xfrm>
          <a:prstGeom prst="rect">
            <a:avLst/>
          </a:prstGeom>
        </p:spPr>
      </p:pic>
      <p:pic>
        <p:nvPicPr>
          <p:cNvPr name="Picture 3" id="3"/>
          <p:cNvPicPr>
            <a:picLocks noChangeAspect="true"/>
          </p:cNvPicPr>
          <p:nvPr/>
        </p:nvPicPr>
        <p:blipFill>
          <a:blip r:embed="rId3"/>
          <a:stretch>
            <a:fillRect/>
          </a:stretch>
        </p:blipFill>
        <p:spPr>
          <a:xfrm rot="0">
            <a:off x="12938765" y="713860"/>
            <a:ext cx="5058809" cy="8859280"/>
          </a:xfrm>
          <a:prstGeom prst="rect">
            <a:avLst/>
          </a:prstGeom>
        </p:spPr>
      </p:pic>
      <p:sp>
        <p:nvSpPr>
          <p:cNvPr name="TextBox 4" id="4"/>
          <p:cNvSpPr txBox="true"/>
          <p:nvPr/>
        </p:nvSpPr>
        <p:spPr>
          <a:xfrm rot="0">
            <a:off x="5894681" y="1442608"/>
            <a:ext cx="6141721" cy="126682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7. Booking </a:t>
            </a:r>
            <a:r>
              <a:rPr lang="en-US" sz="2100" b="true">
                <a:solidFill>
                  <a:srgbClr val="03A6A1"/>
                </a:solidFill>
                <a:latin typeface="Quicksand Bold"/>
                <a:ea typeface="Quicksand Bold"/>
                <a:cs typeface="Quicksand Bold"/>
                <a:sym typeface="Quicksand Bold"/>
              </a:rPr>
              <a:t>(Pet Owner)</a:t>
            </a:r>
          </a:p>
          <a:p>
            <a:pPr algn="just">
              <a:lnSpc>
                <a:spcPts val="2520"/>
              </a:lnSpc>
              <a:spcBef>
                <a:spcPct val="0"/>
              </a:spcBef>
            </a:pPr>
            <a:r>
              <a:rPr lang="en-US" b="true" sz="2100">
                <a:solidFill>
                  <a:srgbClr val="757070"/>
                </a:solidFill>
                <a:latin typeface="Quicksand Bold"/>
                <a:ea typeface="Quicksand Bold"/>
                <a:cs typeface="Quicksand Bold"/>
                <a:sym typeface="Quicksand Bold"/>
              </a:rPr>
              <a:t>Guid</a:t>
            </a:r>
            <a:r>
              <a:rPr lang="en-US" b="true" sz="2100">
                <a:solidFill>
                  <a:srgbClr val="757070"/>
                </a:solidFill>
                <a:latin typeface="Quicksand Bold"/>
                <a:ea typeface="Quicksand Bold"/>
                <a:cs typeface="Quicksand Bold"/>
                <a:sym typeface="Quicksand Bold"/>
              </a:rPr>
              <a:t>es own</a:t>
            </a:r>
            <a:r>
              <a:rPr lang="en-US" b="true" sz="2100">
                <a:solidFill>
                  <a:srgbClr val="757070"/>
                </a:solidFill>
                <a:latin typeface="Quicksand Bold"/>
                <a:ea typeface="Quicksand Bold"/>
                <a:cs typeface="Quicksand Bold"/>
                <a:sym typeface="Quicksand Bold"/>
              </a:rPr>
              <a:t>ers through booking. Features a calendar picker, time slot selector, and a summary of services and costs</a:t>
            </a:r>
          </a:p>
        </p:txBody>
      </p:sp>
      <p:sp>
        <p:nvSpPr>
          <p:cNvPr name="TextBox 5" id="5"/>
          <p:cNvSpPr txBox="true"/>
          <p:nvPr/>
        </p:nvSpPr>
        <p:spPr>
          <a:xfrm rot="0">
            <a:off x="7299709" y="6659650"/>
            <a:ext cx="6141721" cy="126682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8. Payment (</a:t>
            </a:r>
            <a:r>
              <a:rPr lang="en-US" sz="2100" b="true">
                <a:solidFill>
                  <a:srgbClr val="03A6A1"/>
                </a:solidFill>
                <a:latin typeface="Quicksand Bold"/>
                <a:ea typeface="Quicksand Bold"/>
                <a:cs typeface="Quicksand Bold"/>
                <a:sym typeface="Quicksand Bold"/>
              </a:rPr>
              <a:t>Pet Owner</a:t>
            </a:r>
            <a:r>
              <a:rPr lang="en-US" sz="2100" b="true">
                <a:solidFill>
                  <a:srgbClr val="000000"/>
                </a:solidFill>
                <a:latin typeface="Quicksand Bold"/>
                <a:ea typeface="Quicksand Bold"/>
                <a:cs typeface="Quicksand Bold"/>
                <a:sym typeface="Quicksand Bold"/>
              </a:rPr>
              <a:t>)</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Paym</a:t>
            </a:r>
            <a:r>
              <a:rPr lang="en-US" b="true" sz="2100">
                <a:solidFill>
                  <a:srgbClr val="888888"/>
                </a:solidFill>
                <a:latin typeface="Quicksand Bold"/>
                <a:ea typeface="Quicksand Bold"/>
                <a:cs typeface="Quicksand Bold"/>
                <a:sym typeface="Quicksand Bold"/>
              </a:rPr>
              <a:t>ent options include GCa</a:t>
            </a:r>
            <a:r>
              <a:rPr lang="en-US" b="true" sz="2100">
                <a:solidFill>
                  <a:srgbClr val="888888"/>
                </a:solidFill>
                <a:latin typeface="Quicksand Bold"/>
                <a:ea typeface="Quicksand Bold"/>
                <a:cs typeface="Quicksand Bold"/>
                <a:sym typeface="Quicksand Bold"/>
              </a:rPr>
              <a:t>sh, debit/credit card, and PayPal. A clear Confirm &amp; Pay button finalizes reservations.</a:t>
            </a:r>
          </a:p>
        </p:txBody>
      </p:sp>
      <p:grpSp>
        <p:nvGrpSpPr>
          <p:cNvPr name="Group 6" id="6"/>
          <p:cNvGrpSpPr>
            <a:grpSpLocks noChangeAspect="true"/>
          </p:cNvGrpSpPr>
          <p:nvPr/>
        </p:nvGrpSpPr>
        <p:grpSpPr>
          <a:xfrm rot="0">
            <a:off x="15047404" y="322975"/>
            <a:ext cx="2905267" cy="916975"/>
            <a:chOff x="0" y="0"/>
            <a:chExt cx="3873689" cy="1222633"/>
          </a:xfrm>
        </p:grpSpPr>
        <p:sp>
          <p:nvSpPr>
            <p:cNvPr name="Freeform 7" id="7"/>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17809" y="713860"/>
            <a:ext cx="5058809" cy="8859280"/>
          </a:xfrm>
          <a:prstGeom prst="rect">
            <a:avLst/>
          </a:prstGeom>
        </p:spPr>
      </p:pic>
      <p:pic>
        <p:nvPicPr>
          <p:cNvPr name="Picture 3" id="3"/>
          <p:cNvPicPr>
            <a:picLocks noChangeAspect="true"/>
          </p:cNvPicPr>
          <p:nvPr/>
        </p:nvPicPr>
        <p:blipFill>
          <a:blip r:embed="rId3"/>
          <a:stretch>
            <a:fillRect/>
          </a:stretch>
        </p:blipFill>
        <p:spPr>
          <a:xfrm rot="0">
            <a:off x="12938765" y="713860"/>
            <a:ext cx="5058809" cy="8859280"/>
          </a:xfrm>
          <a:prstGeom prst="rect">
            <a:avLst/>
          </a:prstGeom>
        </p:spPr>
      </p:pic>
      <p:sp>
        <p:nvSpPr>
          <p:cNvPr name="TextBox 4" id="4"/>
          <p:cNvSpPr txBox="true"/>
          <p:nvPr/>
        </p:nvSpPr>
        <p:spPr>
          <a:xfrm rot="0">
            <a:off x="5894681" y="1442608"/>
            <a:ext cx="6141721" cy="2209800"/>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9. Chat / Messaging</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Enabl</a:t>
            </a:r>
            <a:r>
              <a:rPr lang="en-US" b="true" sz="2100">
                <a:solidFill>
                  <a:srgbClr val="888888"/>
                </a:solidFill>
                <a:latin typeface="Quicksand Bold"/>
                <a:ea typeface="Quicksand Bold"/>
                <a:cs typeface="Quicksand Bold"/>
                <a:sym typeface="Quicksand Bold"/>
              </a:rPr>
              <a:t>es direct communication with </a:t>
            </a:r>
            <a:r>
              <a:rPr lang="en-US" b="true" sz="2100">
                <a:solidFill>
                  <a:srgbClr val="888888"/>
                </a:solidFill>
                <a:latin typeface="Quicksand Bold"/>
                <a:ea typeface="Quicksand Bold"/>
                <a:cs typeface="Quicksand Bold"/>
                <a:sym typeface="Quicksand Bold"/>
              </a:rPr>
              <a:t>sitters. Owner messages appear on the right, sitter on the left. Includes photo/video sharing, and status indicators (online/offline) for transparency.</a:t>
            </a:r>
          </a:p>
          <a:p>
            <a:pPr algn="just">
              <a:lnSpc>
                <a:spcPts val="2520"/>
              </a:lnSpc>
              <a:spcBef>
                <a:spcPct val="0"/>
              </a:spcBef>
            </a:pPr>
          </a:p>
        </p:txBody>
      </p:sp>
      <p:sp>
        <p:nvSpPr>
          <p:cNvPr name="TextBox 5" id="5"/>
          <p:cNvSpPr txBox="true"/>
          <p:nvPr/>
        </p:nvSpPr>
        <p:spPr>
          <a:xfrm rot="0">
            <a:off x="7299709" y="6659650"/>
            <a:ext cx="6141721" cy="1581150"/>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10. Booking Status </a:t>
            </a:r>
            <a:r>
              <a:rPr lang="en-US" sz="2100" b="true">
                <a:solidFill>
                  <a:srgbClr val="03A6A1"/>
                </a:solidFill>
                <a:latin typeface="Quicksand Bold"/>
                <a:ea typeface="Quicksand Bold"/>
                <a:cs typeface="Quicksand Bold"/>
                <a:sym typeface="Quicksand Bold"/>
              </a:rPr>
              <a:t>(Pet Owner)</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K</a:t>
            </a:r>
            <a:r>
              <a:rPr lang="en-US" b="true" sz="2100">
                <a:solidFill>
                  <a:srgbClr val="888888"/>
                </a:solidFill>
                <a:latin typeface="Quicksand Bold"/>
                <a:ea typeface="Quicksand Bold"/>
                <a:cs typeface="Quicksand Bold"/>
                <a:sym typeface="Quicksand Bold"/>
              </a:rPr>
              <a:t>eeps own</a:t>
            </a:r>
            <a:r>
              <a:rPr lang="en-US" b="true" sz="2100">
                <a:solidFill>
                  <a:srgbClr val="888888"/>
                </a:solidFill>
                <a:latin typeface="Quicksand Bold"/>
                <a:ea typeface="Quicksand Bold"/>
                <a:cs typeface="Quicksand Bold"/>
                <a:sym typeface="Quicksand Bold"/>
              </a:rPr>
              <a:t>ers updated on their bookings. Shows sitter, pet, date, time, and service with a status tracker (Pending, Confirmed, In Progress, Completed). </a:t>
            </a:r>
          </a:p>
        </p:txBody>
      </p:sp>
      <p:grpSp>
        <p:nvGrpSpPr>
          <p:cNvPr name="Group 6" id="6"/>
          <p:cNvGrpSpPr>
            <a:grpSpLocks noChangeAspect="true"/>
          </p:cNvGrpSpPr>
          <p:nvPr/>
        </p:nvGrpSpPr>
        <p:grpSpPr>
          <a:xfrm rot="0">
            <a:off x="15047404" y="322975"/>
            <a:ext cx="2905267" cy="916975"/>
            <a:chOff x="0" y="0"/>
            <a:chExt cx="3873689" cy="1222633"/>
          </a:xfrm>
        </p:grpSpPr>
        <p:sp>
          <p:nvSpPr>
            <p:cNvPr name="Freeform 7" id="7"/>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17809" y="713860"/>
            <a:ext cx="5058809" cy="8859280"/>
          </a:xfrm>
          <a:prstGeom prst="rect">
            <a:avLst/>
          </a:prstGeom>
        </p:spPr>
      </p:pic>
      <p:pic>
        <p:nvPicPr>
          <p:cNvPr name="Picture 3" id="3"/>
          <p:cNvPicPr>
            <a:picLocks noChangeAspect="true"/>
          </p:cNvPicPr>
          <p:nvPr/>
        </p:nvPicPr>
        <p:blipFill>
          <a:blip r:embed="rId3"/>
          <a:stretch>
            <a:fillRect/>
          </a:stretch>
        </p:blipFill>
        <p:spPr>
          <a:xfrm rot="0">
            <a:off x="12938765" y="713860"/>
            <a:ext cx="5058809" cy="8859280"/>
          </a:xfrm>
          <a:prstGeom prst="rect">
            <a:avLst/>
          </a:prstGeom>
        </p:spPr>
      </p:pic>
      <p:sp>
        <p:nvSpPr>
          <p:cNvPr name="TextBox 4" id="4"/>
          <p:cNvSpPr txBox="true"/>
          <p:nvPr/>
        </p:nvSpPr>
        <p:spPr>
          <a:xfrm rot="0">
            <a:off x="5894681" y="1442608"/>
            <a:ext cx="6141721" cy="2209800"/>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11. Marketplace </a:t>
            </a:r>
            <a:r>
              <a:rPr lang="en-US" sz="2100" b="true">
                <a:solidFill>
                  <a:srgbClr val="03A6A1"/>
                </a:solidFill>
                <a:latin typeface="Quicksand Bold"/>
                <a:ea typeface="Quicksand Bold"/>
                <a:cs typeface="Quicksand Bold"/>
                <a:sym typeface="Quicksand Bold"/>
              </a:rPr>
              <a:t>(Pet Owner)</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A pe</a:t>
            </a:r>
            <a:r>
              <a:rPr lang="en-US" b="true" sz="2100">
                <a:solidFill>
                  <a:srgbClr val="888888"/>
                </a:solidFill>
                <a:latin typeface="Quicksand Bold"/>
                <a:ea typeface="Quicksand Bold"/>
                <a:cs typeface="Quicksand Bold"/>
                <a:sym typeface="Quicksand Bold"/>
              </a:rPr>
              <a:t>er-to-peer store wh</a:t>
            </a:r>
            <a:r>
              <a:rPr lang="en-US" b="true" sz="2100">
                <a:solidFill>
                  <a:srgbClr val="888888"/>
                </a:solidFill>
                <a:latin typeface="Quicksand Bold"/>
                <a:ea typeface="Quicksand Bold"/>
                <a:cs typeface="Quicksand Bold"/>
                <a:sym typeface="Quicksand Bold"/>
              </a:rPr>
              <a:t>ere owners can buy or sell pet-related items. Includes featured ads (e.g., sponsored by pet brands), P2P product listings with photos, price, and seller info, and filter/search options. Encourages community engagement beyond services.</a:t>
            </a:r>
          </a:p>
        </p:txBody>
      </p:sp>
      <p:sp>
        <p:nvSpPr>
          <p:cNvPr name="TextBox 5" id="5"/>
          <p:cNvSpPr txBox="true"/>
          <p:nvPr/>
        </p:nvSpPr>
        <p:spPr>
          <a:xfrm rot="0">
            <a:off x="7299709" y="6659650"/>
            <a:ext cx="6141721" cy="2209800"/>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12. Sitter Dashboard </a:t>
            </a:r>
            <a:r>
              <a:rPr lang="en-US" sz="2100" b="true">
                <a:solidFill>
                  <a:srgbClr val="DF873F"/>
                </a:solidFill>
                <a:latin typeface="Quicksand Bold"/>
                <a:ea typeface="Quicksand Bold"/>
                <a:cs typeface="Quicksand Bold"/>
                <a:sym typeface="Quicksand Bold"/>
              </a:rPr>
              <a:t>(Sitter)</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Pe</a:t>
            </a:r>
            <a:r>
              <a:rPr lang="en-US" b="true" sz="2100">
                <a:solidFill>
                  <a:srgbClr val="888888"/>
                </a:solidFill>
                <a:latin typeface="Quicksand Bold"/>
                <a:ea typeface="Quicksand Bold"/>
                <a:cs typeface="Quicksand Bold"/>
                <a:sym typeface="Quicksand Bold"/>
              </a:rPr>
              <a:t>rsonalized with a welcome message and overview of </a:t>
            </a:r>
            <a:r>
              <a:rPr lang="en-US" b="true" sz="2100">
                <a:solidFill>
                  <a:srgbClr val="888888"/>
                </a:solidFill>
                <a:latin typeface="Quicksand Bold"/>
                <a:ea typeface="Quicksand Bold"/>
                <a:cs typeface="Quicksand Bold"/>
                <a:sym typeface="Quicksand Bold"/>
              </a:rPr>
              <a:t>upcoming bookings, earnings summary, and notifications (new requests, reviews). Bottom navigation ensures quick access to Home, Chat, Bookings, Wallet, and Profile.</a:t>
            </a:r>
          </a:p>
        </p:txBody>
      </p:sp>
      <p:grpSp>
        <p:nvGrpSpPr>
          <p:cNvPr name="Group 6" id="6"/>
          <p:cNvGrpSpPr>
            <a:grpSpLocks noChangeAspect="true"/>
          </p:cNvGrpSpPr>
          <p:nvPr/>
        </p:nvGrpSpPr>
        <p:grpSpPr>
          <a:xfrm rot="0">
            <a:off x="15047404" y="322975"/>
            <a:ext cx="2905267" cy="916975"/>
            <a:chOff x="0" y="0"/>
            <a:chExt cx="3873689" cy="1222633"/>
          </a:xfrm>
        </p:grpSpPr>
        <p:sp>
          <p:nvSpPr>
            <p:cNvPr name="Freeform 7" id="7"/>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17809" y="713860"/>
            <a:ext cx="5058809" cy="8859280"/>
          </a:xfrm>
          <a:prstGeom prst="rect">
            <a:avLst/>
          </a:prstGeom>
        </p:spPr>
      </p:pic>
      <p:pic>
        <p:nvPicPr>
          <p:cNvPr name="Picture 3" id="3"/>
          <p:cNvPicPr>
            <a:picLocks noChangeAspect="true"/>
          </p:cNvPicPr>
          <p:nvPr/>
        </p:nvPicPr>
        <p:blipFill>
          <a:blip r:embed="rId3"/>
          <a:stretch>
            <a:fillRect/>
          </a:stretch>
        </p:blipFill>
        <p:spPr>
          <a:xfrm rot="0">
            <a:off x="12938765" y="713860"/>
            <a:ext cx="5058809" cy="8859280"/>
          </a:xfrm>
          <a:prstGeom prst="rect">
            <a:avLst/>
          </a:prstGeom>
        </p:spPr>
      </p:pic>
      <p:sp>
        <p:nvSpPr>
          <p:cNvPr name="TextBox 4" id="4"/>
          <p:cNvSpPr txBox="true"/>
          <p:nvPr/>
        </p:nvSpPr>
        <p:spPr>
          <a:xfrm rot="0">
            <a:off x="5894681" y="1442608"/>
            <a:ext cx="6141721" cy="189547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13. Sitter Profile </a:t>
            </a:r>
            <a:r>
              <a:rPr lang="en-US" sz="2100" b="true">
                <a:solidFill>
                  <a:srgbClr val="DF873F"/>
                </a:solidFill>
                <a:latin typeface="Quicksand Bold"/>
                <a:ea typeface="Quicksand Bold"/>
                <a:cs typeface="Quicksand Bold"/>
                <a:sym typeface="Quicksand Bold"/>
              </a:rPr>
              <a:t>(Sitter)</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Sitt</a:t>
            </a:r>
            <a:r>
              <a:rPr lang="en-US" b="true" sz="2100">
                <a:solidFill>
                  <a:srgbClr val="888888"/>
                </a:solidFill>
                <a:latin typeface="Quicksand Bold"/>
                <a:ea typeface="Quicksand Bold"/>
                <a:cs typeface="Quicksand Bold"/>
                <a:sym typeface="Quicksand Bold"/>
              </a:rPr>
              <a:t>ers build credibility by uploading a</a:t>
            </a:r>
            <a:r>
              <a:rPr lang="en-US" b="true" sz="2100">
                <a:solidFill>
                  <a:srgbClr val="888888"/>
                </a:solidFill>
                <a:latin typeface="Quicksand Bold"/>
                <a:ea typeface="Quicksand Bold"/>
                <a:cs typeface="Quicksand Bold"/>
                <a:sym typeface="Quicksand Bold"/>
              </a:rPr>
              <a:t> profile photo, entering basic info, writing a short bio, and selecting services offered with custom rates. They can also upload verification documents for trust and safety.</a:t>
            </a:r>
          </a:p>
        </p:txBody>
      </p:sp>
      <p:sp>
        <p:nvSpPr>
          <p:cNvPr name="TextBox 5" id="5"/>
          <p:cNvSpPr txBox="true"/>
          <p:nvPr/>
        </p:nvSpPr>
        <p:spPr>
          <a:xfrm rot="0">
            <a:off x="7299709" y="6659650"/>
            <a:ext cx="6141721" cy="189547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14. Booking Requests </a:t>
            </a:r>
            <a:r>
              <a:rPr lang="en-US" sz="2100" b="true">
                <a:solidFill>
                  <a:srgbClr val="DF873F"/>
                </a:solidFill>
                <a:latin typeface="Quicksand Bold"/>
                <a:ea typeface="Quicksand Bold"/>
                <a:cs typeface="Quicksand Bold"/>
                <a:sym typeface="Quicksand Bold"/>
              </a:rPr>
              <a:t>(Sitter)</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L</a:t>
            </a:r>
            <a:r>
              <a:rPr lang="en-US" b="true" sz="2100">
                <a:solidFill>
                  <a:srgbClr val="888888"/>
                </a:solidFill>
                <a:latin typeface="Quicksand Bold"/>
                <a:ea typeface="Quicksand Bold"/>
                <a:cs typeface="Quicksand Bold"/>
                <a:sym typeface="Quicksand Bold"/>
              </a:rPr>
              <a:t>ists incoming booking requests with pet photo, own</a:t>
            </a:r>
            <a:r>
              <a:rPr lang="en-US" b="true" sz="2100">
                <a:solidFill>
                  <a:srgbClr val="888888"/>
                </a:solidFill>
                <a:latin typeface="Quicksand Bold"/>
                <a:ea typeface="Quicksand Bold"/>
                <a:cs typeface="Quicksand Bold"/>
                <a:sym typeface="Quicksand Bold"/>
              </a:rPr>
              <a:t>er info, location, rating, and service details. Sitters can Accept or Decline requests. Tabs for Pending, Confirmed, Completed make request management straightforward.</a:t>
            </a:r>
          </a:p>
        </p:txBody>
      </p:sp>
      <p:grpSp>
        <p:nvGrpSpPr>
          <p:cNvPr name="Group 6" id="6"/>
          <p:cNvGrpSpPr>
            <a:grpSpLocks noChangeAspect="true"/>
          </p:cNvGrpSpPr>
          <p:nvPr/>
        </p:nvGrpSpPr>
        <p:grpSpPr>
          <a:xfrm rot="0">
            <a:off x="15047404" y="322975"/>
            <a:ext cx="2905267" cy="916975"/>
            <a:chOff x="0" y="0"/>
            <a:chExt cx="3873689" cy="1222633"/>
          </a:xfrm>
        </p:grpSpPr>
        <p:sp>
          <p:nvSpPr>
            <p:cNvPr name="Freeform 7" id="7"/>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17809" y="713860"/>
            <a:ext cx="5058809" cy="8859280"/>
          </a:xfrm>
          <a:prstGeom prst="rect">
            <a:avLst/>
          </a:prstGeom>
        </p:spPr>
      </p:pic>
      <p:pic>
        <p:nvPicPr>
          <p:cNvPr name="Picture 3" id="3"/>
          <p:cNvPicPr>
            <a:picLocks noChangeAspect="true"/>
          </p:cNvPicPr>
          <p:nvPr/>
        </p:nvPicPr>
        <p:blipFill>
          <a:blip r:embed="rId3"/>
          <a:stretch>
            <a:fillRect/>
          </a:stretch>
        </p:blipFill>
        <p:spPr>
          <a:xfrm rot="0">
            <a:off x="12938765" y="713860"/>
            <a:ext cx="5058809" cy="8859280"/>
          </a:xfrm>
          <a:prstGeom prst="rect">
            <a:avLst/>
          </a:prstGeom>
        </p:spPr>
      </p:pic>
      <p:sp>
        <p:nvSpPr>
          <p:cNvPr name="TextBox 4" id="4"/>
          <p:cNvSpPr txBox="true"/>
          <p:nvPr/>
        </p:nvSpPr>
        <p:spPr>
          <a:xfrm rot="0">
            <a:off x="5894681" y="1442608"/>
            <a:ext cx="6141721" cy="1895475"/>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15. Active Booking Management</a:t>
            </a:r>
            <a:r>
              <a:rPr lang="en-US" sz="2100" b="true">
                <a:solidFill>
                  <a:srgbClr val="DF873F"/>
                </a:solidFill>
                <a:latin typeface="Quicksand Bold"/>
                <a:ea typeface="Quicksand Bold"/>
                <a:cs typeface="Quicksand Bold"/>
                <a:sym typeface="Quicksand Bold"/>
              </a:rPr>
              <a:t> (Sitter)</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A cont</a:t>
            </a:r>
            <a:r>
              <a:rPr lang="en-US" b="true" sz="2100">
                <a:solidFill>
                  <a:srgbClr val="888888"/>
                </a:solidFill>
                <a:latin typeface="Quicksand Bold"/>
                <a:ea typeface="Quicksand Bold"/>
                <a:cs typeface="Quicksand Bold"/>
                <a:sym typeface="Quicksand Bold"/>
              </a:rPr>
              <a:t>rol panel for ongoing jobs. Displays booking deta</a:t>
            </a:r>
            <a:r>
              <a:rPr lang="en-US" b="true" sz="2100">
                <a:solidFill>
                  <a:srgbClr val="888888"/>
                </a:solidFill>
                <a:latin typeface="Quicksand Bold"/>
                <a:ea typeface="Quicksand Bold"/>
                <a:cs typeface="Quicksand Bold"/>
                <a:sym typeface="Quicksand Bold"/>
              </a:rPr>
              <a:t>ils (pet, owner, schedule) with a status toggle from Scheduled → In Progress → Completed. Sitters can upload photos/videos as updates and add notes for owners.</a:t>
            </a:r>
          </a:p>
        </p:txBody>
      </p:sp>
      <p:sp>
        <p:nvSpPr>
          <p:cNvPr name="TextBox 5" id="5"/>
          <p:cNvSpPr txBox="true"/>
          <p:nvPr/>
        </p:nvSpPr>
        <p:spPr>
          <a:xfrm rot="0">
            <a:off x="7299709" y="6659650"/>
            <a:ext cx="6141721" cy="1581150"/>
          </a:xfrm>
          <a:prstGeom prst="rect">
            <a:avLst/>
          </a:prstGeom>
        </p:spPr>
        <p:txBody>
          <a:bodyPr anchor="t" rtlCol="false" tIns="0" lIns="0" bIns="0" rIns="0">
            <a:spAutoFit/>
          </a:bodyPr>
          <a:lstStyle/>
          <a:p>
            <a:pPr algn="just">
              <a:lnSpc>
                <a:spcPts val="2520"/>
              </a:lnSpc>
            </a:pPr>
            <a:r>
              <a:rPr lang="en-US" sz="2100" b="true">
                <a:solidFill>
                  <a:srgbClr val="000000"/>
                </a:solidFill>
                <a:latin typeface="Quicksand Bold"/>
                <a:ea typeface="Quicksand Bold"/>
                <a:cs typeface="Quicksand Bold"/>
                <a:sym typeface="Quicksand Bold"/>
              </a:rPr>
              <a:t>16. Wallet Earnings </a:t>
            </a:r>
            <a:r>
              <a:rPr lang="en-US" sz="2100" b="true">
                <a:solidFill>
                  <a:srgbClr val="DF873F"/>
                </a:solidFill>
                <a:latin typeface="Quicksand Bold"/>
                <a:ea typeface="Quicksand Bold"/>
                <a:cs typeface="Quicksand Bold"/>
                <a:sym typeface="Quicksand Bold"/>
              </a:rPr>
              <a:t>(Sitter)</a:t>
            </a:r>
          </a:p>
          <a:p>
            <a:pPr algn="just">
              <a:lnSpc>
                <a:spcPts val="2520"/>
              </a:lnSpc>
              <a:spcBef>
                <a:spcPct val="0"/>
              </a:spcBef>
            </a:pPr>
            <a:r>
              <a:rPr lang="en-US" b="true" sz="2100">
                <a:solidFill>
                  <a:srgbClr val="888888"/>
                </a:solidFill>
                <a:latin typeface="Quicksand Bold"/>
                <a:ea typeface="Quicksand Bold"/>
                <a:cs typeface="Quicksand Bold"/>
                <a:sym typeface="Quicksand Bold"/>
              </a:rPr>
              <a:t>Track</a:t>
            </a:r>
            <a:r>
              <a:rPr lang="en-US" b="true" sz="2100">
                <a:solidFill>
                  <a:srgbClr val="888888"/>
                </a:solidFill>
                <a:latin typeface="Quicksand Bold"/>
                <a:ea typeface="Quicksand Bold"/>
                <a:cs typeface="Quicksand Bold"/>
                <a:sym typeface="Quicksand Bold"/>
              </a:rPr>
              <a:t>s sitter earnings in real time. Shows current balanc</a:t>
            </a:r>
            <a:r>
              <a:rPr lang="en-US" b="true" sz="2100">
                <a:solidFill>
                  <a:srgbClr val="888888"/>
                </a:solidFill>
                <a:latin typeface="Quicksand Bold"/>
                <a:ea typeface="Quicksand Bold"/>
                <a:cs typeface="Quicksand Bold"/>
                <a:sym typeface="Quicksand Bold"/>
              </a:rPr>
              <a:t>e, earnings breakdown. Sitters can withdraw via GCash, bank transfer, or PayPal. Keeps financial transparency simple.</a:t>
            </a:r>
          </a:p>
        </p:txBody>
      </p:sp>
      <p:grpSp>
        <p:nvGrpSpPr>
          <p:cNvPr name="Group 6" id="6"/>
          <p:cNvGrpSpPr>
            <a:grpSpLocks noChangeAspect="true"/>
          </p:cNvGrpSpPr>
          <p:nvPr/>
        </p:nvGrpSpPr>
        <p:grpSpPr>
          <a:xfrm rot="0">
            <a:off x="15047404" y="322975"/>
            <a:ext cx="2905267" cy="916975"/>
            <a:chOff x="0" y="0"/>
            <a:chExt cx="3873689" cy="1222633"/>
          </a:xfrm>
        </p:grpSpPr>
        <p:sp>
          <p:nvSpPr>
            <p:cNvPr name="Freeform 7" id="7"/>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4"/>
              <a:stretch>
                <a:fillRect l="0" t="0" r="-1"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25780" y="1028700"/>
          <a:ext cx="17236440" cy="8985708"/>
        </p:xfrm>
        <a:graphic>
          <a:graphicData uri="http://schemas.openxmlformats.org/drawingml/2006/table">
            <a:tbl>
              <a:tblPr/>
              <a:tblGrid>
                <a:gridCol w="8617146"/>
                <a:gridCol w="8619294"/>
              </a:tblGrid>
              <a:tr h="4903317">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4082391">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526851" y="372794"/>
            <a:ext cx="3990092" cy="655906"/>
          </a:xfrm>
          <a:prstGeom prst="rect">
            <a:avLst/>
          </a:prstGeom>
        </p:spPr>
        <p:txBody>
          <a:bodyPr anchor="t" rtlCol="false" tIns="0" lIns="0" bIns="0" rIns="0">
            <a:spAutoFit/>
          </a:bodyPr>
          <a:lstStyle/>
          <a:p>
            <a:pPr algn="ctr">
              <a:lnSpc>
                <a:spcPts val="5182"/>
              </a:lnSpc>
              <a:spcBef>
                <a:spcPct val="0"/>
              </a:spcBef>
            </a:pPr>
            <a:r>
              <a:rPr lang="en-US" b="true" sz="4319">
                <a:solidFill>
                  <a:srgbClr val="000000"/>
                </a:solidFill>
                <a:latin typeface="Quicksand Bold"/>
                <a:ea typeface="Quicksand Bold"/>
                <a:cs typeface="Quicksand Bold"/>
                <a:sym typeface="Quicksand Bold"/>
              </a:rPr>
              <a:t>MVP Validation</a:t>
            </a:r>
          </a:p>
        </p:txBody>
      </p:sp>
      <p:sp>
        <p:nvSpPr>
          <p:cNvPr name="TextBox 4" id="4"/>
          <p:cNvSpPr txBox="true"/>
          <p:nvPr/>
        </p:nvSpPr>
        <p:spPr>
          <a:xfrm rot="0">
            <a:off x="819175" y="1260774"/>
            <a:ext cx="8005421" cy="1524000"/>
          </a:xfrm>
          <a:prstGeom prst="rect">
            <a:avLst/>
          </a:prstGeom>
        </p:spPr>
        <p:txBody>
          <a:bodyPr anchor="t" rtlCol="false" tIns="0" lIns="0" bIns="0" rIns="0">
            <a:spAutoFit/>
          </a:bodyPr>
          <a:lstStyle/>
          <a:p>
            <a:pPr algn="l">
              <a:lnSpc>
                <a:spcPts val="1213"/>
              </a:lnSpc>
            </a:pPr>
            <a:r>
              <a:rPr lang="en-US" sz="1010" b="true">
                <a:solidFill>
                  <a:srgbClr val="000000"/>
                </a:solidFill>
                <a:latin typeface="Quicksand Bold"/>
                <a:ea typeface="Quicksand Bold"/>
                <a:cs typeface="Quicksand Bold"/>
                <a:sym typeface="Quicksand Bold"/>
              </a:rPr>
              <a:t>1. What is your MVP? (Product Details)</a:t>
            </a:r>
          </a:p>
          <a:p>
            <a:pPr algn="l">
              <a:lnSpc>
                <a:spcPts val="1213"/>
              </a:lnSpc>
            </a:pPr>
          </a:p>
          <a:p>
            <a:pPr algn="just">
              <a:lnSpc>
                <a:spcPts val="1213"/>
              </a:lnSpc>
            </a:pPr>
            <a:r>
              <a:rPr lang="en-US" sz="1010" b="true">
                <a:solidFill>
                  <a:srgbClr val="888888"/>
                </a:solidFill>
                <a:latin typeface="Quicksand Bold"/>
                <a:ea typeface="Quicksand Bold"/>
                <a:cs typeface="Quicksand Bold"/>
                <a:sym typeface="Quicksand Bold"/>
              </a:rPr>
              <a:t>Our Minimum Viable Product (MVP) is a pet care and pet-sitting mobile application called Furriend. It connects pet owners with trusted sitters, walkers through a two-sided marketplace. Core features include:</a:t>
            </a:r>
          </a:p>
          <a:p>
            <a:pPr algn="just">
              <a:lnSpc>
                <a:spcPts val="1213"/>
              </a:lnSpc>
            </a:pPr>
          </a:p>
          <a:p>
            <a:pPr algn="just" marL="218255" indent="-109128" lvl="1">
              <a:lnSpc>
                <a:spcPts val="1213"/>
              </a:lnSpc>
              <a:buFont typeface="Arial"/>
              <a:buChar char="•"/>
            </a:pPr>
            <a:r>
              <a:rPr lang="en-US" b="true" sz="1010">
                <a:solidFill>
                  <a:srgbClr val="888888"/>
                </a:solidFill>
                <a:latin typeface="Quicksand Bold"/>
                <a:ea typeface="Quicksand Bold"/>
                <a:cs typeface="Quicksand Bold"/>
                <a:sym typeface="Quicksand Bold"/>
              </a:rPr>
              <a:t>Booking System – schedule and manage services like pet sitting, dog walking, and grooming.</a:t>
            </a:r>
          </a:p>
          <a:p>
            <a:pPr algn="just" marL="218255" indent="-109128" lvl="1">
              <a:lnSpc>
                <a:spcPts val="1213"/>
              </a:lnSpc>
              <a:buFont typeface="Arial"/>
              <a:buChar char="•"/>
            </a:pPr>
            <a:r>
              <a:rPr lang="en-US" b="true" sz="1010">
                <a:solidFill>
                  <a:srgbClr val="888888"/>
                </a:solidFill>
                <a:latin typeface="Quicksand Bold"/>
                <a:ea typeface="Quicksand Bold"/>
                <a:cs typeface="Quicksand Bold"/>
                <a:sym typeface="Quicksand Bold"/>
              </a:rPr>
              <a:t>Marketplace – P2P listings for pet products and essentials.</a:t>
            </a:r>
          </a:p>
          <a:p>
            <a:pPr algn="just" marL="218255" indent="-109128" lvl="1">
              <a:lnSpc>
                <a:spcPts val="1213"/>
              </a:lnSpc>
              <a:buFont typeface="Arial"/>
              <a:buChar char="•"/>
            </a:pPr>
            <a:r>
              <a:rPr lang="en-US" b="true" sz="1010">
                <a:solidFill>
                  <a:srgbClr val="888888"/>
                </a:solidFill>
                <a:latin typeface="Quicksand Bold"/>
                <a:ea typeface="Quicksand Bold"/>
                <a:cs typeface="Quicksand Bold"/>
                <a:sym typeface="Quicksand Bold"/>
              </a:rPr>
              <a:t>Wallet &amp; Payments – cashless transactions via GCash, bank transfer, or PayPal.</a:t>
            </a:r>
          </a:p>
          <a:p>
            <a:pPr algn="just" marL="218255" indent="-109128" lvl="1">
              <a:lnSpc>
                <a:spcPts val="1213"/>
              </a:lnSpc>
              <a:buFont typeface="Arial"/>
              <a:buChar char="•"/>
            </a:pPr>
            <a:r>
              <a:rPr lang="en-US" b="true" sz="1010">
                <a:solidFill>
                  <a:srgbClr val="888888"/>
                </a:solidFill>
                <a:latin typeface="Quicksand Bold"/>
                <a:ea typeface="Quicksand Bold"/>
                <a:cs typeface="Quicksand Bold"/>
                <a:sym typeface="Quicksand Bold"/>
              </a:rPr>
              <a:t>Ratings &amp; Reviews – ensure sitter quality and trust.</a:t>
            </a:r>
          </a:p>
          <a:p>
            <a:pPr algn="just" marL="218255" indent="-109128" lvl="1">
              <a:lnSpc>
                <a:spcPts val="1213"/>
              </a:lnSpc>
              <a:buFont typeface="Arial"/>
              <a:buChar char="•"/>
            </a:pPr>
            <a:r>
              <a:rPr lang="en-US" b="true" sz="1010">
                <a:solidFill>
                  <a:srgbClr val="888888"/>
                </a:solidFill>
                <a:latin typeface="Quicksand Bold"/>
                <a:ea typeface="Quicksand Bold"/>
                <a:cs typeface="Quicksand Bold"/>
                <a:sym typeface="Quicksand Bold"/>
              </a:rPr>
              <a:t>Safety &amp; Verification – sitter profile validation and ID verification.</a:t>
            </a:r>
          </a:p>
        </p:txBody>
      </p:sp>
      <p:sp>
        <p:nvSpPr>
          <p:cNvPr name="TextBox 5" id="5"/>
          <p:cNvSpPr txBox="true"/>
          <p:nvPr/>
        </p:nvSpPr>
        <p:spPr>
          <a:xfrm rot="0">
            <a:off x="819175" y="2910852"/>
            <a:ext cx="8005421" cy="1066800"/>
          </a:xfrm>
          <a:prstGeom prst="rect">
            <a:avLst/>
          </a:prstGeom>
        </p:spPr>
        <p:txBody>
          <a:bodyPr anchor="t" rtlCol="false" tIns="0" lIns="0" bIns="0" rIns="0">
            <a:spAutoFit/>
          </a:bodyPr>
          <a:lstStyle/>
          <a:p>
            <a:pPr algn="just">
              <a:lnSpc>
                <a:spcPts val="1213"/>
              </a:lnSpc>
            </a:pPr>
            <a:r>
              <a:rPr lang="en-US" sz="1010" b="true">
                <a:solidFill>
                  <a:srgbClr val="000000"/>
                </a:solidFill>
                <a:latin typeface="Quicksand Bold"/>
                <a:ea typeface="Quicksand Bold"/>
                <a:cs typeface="Quicksand Bold"/>
                <a:sym typeface="Quicksand Bold"/>
              </a:rPr>
              <a:t>2. Who is the</a:t>
            </a:r>
            <a:r>
              <a:rPr lang="en-US" sz="1010" b="true">
                <a:solidFill>
                  <a:srgbClr val="000000"/>
                </a:solidFill>
                <a:latin typeface="Quicksand Bold"/>
                <a:ea typeface="Quicksand Bold"/>
                <a:cs typeface="Quicksand Bold"/>
                <a:sym typeface="Quicksand Bold"/>
              </a:rPr>
              <a:t> </a:t>
            </a:r>
            <a:r>
              <a:rPr lang="en-US" sz="1010" b="true">
                <a:solidFill>
                  <a:srgbClr val="000000"/>
                </a:solidFill>
                <a:latin typeface="Quicksand Bold"/>
                <a:ea typeface="Quicksand Bold"/>
                <a:cs typeface="Quicksand Bold"/>
                <a:sym typeface="Quicksand Bold"/>
              </a:rPr>
              <a:t>T</a:t>
            </a:r>
            <a:r>
              <a:rPr lang="en-US" sz="1010" b="true">
                <a:solidFill>
                  <a:srgbClr val="000000"/>
                </a:solidFill>
                <a:latin typeface="Quicksand Bold"/>
                <a:ea typeface="Quicksand Bold"/>
                <a:cs typeface="Quicksand Bold"/>
                <a:sym typeface="Quicksand Bold"/>
              </a:rPr>
              <a:t>ar</a:t>
            </a:r>
            <a:r>
              <a:rPr lang="en-US" sz="1010" b="true">
                <a:solidFill>
                  <a:srgbClr val="000000"/>
                </a:solidFill>
                <a:latin typeface="Quicksand Bold"/>
                <a:ea typeface="Quicksand Bold"/>
                <a:cs typeface="Quicksand Bold"/>
                <a:sym typeface="Quicksand Bold"/>
              </a:rPr>
              <a:t>ge</a:t>
            </a:r>
            <a:r>
              <a:rPr lang="en-US" sz="1010" b="true">
                <a:solidFill>
                  <a:srgbClr val="000000"/>
                </a:solidFill>
                <a:latin typeface="Quicksand Bold"/>
                <a:ea typeface="Quicksand Bold"/>
                <a:cs typeface="Quicksand Bold"/>
                <a:sym typeface="Quicksand Bold"/>
              </a:rPr>
              <a:t>t Ma</a:t>
            </a:r>
            <a:r>
              <a:rPr lang="en-US" sz="1010" b="true">
                <a:solidFill>
                  <a:srgbClr val="000000"/>
                </a:solidFill>
                <a:latin typeface="Quicksand Bold"/>
                <a:ea typeface="Quicksand Bold"/>
                <a:cs typeface="Quicksand Bold"/>
                <a:sym typeface="Quicksand Bold"/>
              </a:rPr>
              <a:t>rk</a:t>
            </a:r>
            <a:r>
              <a:rPr lang="en-US" sz="1010" b="true">
                <a:solidFill>
                  <a:srgbClr val="000000"/>
                </a:solidFill>
                <a:latin typeface="Quicksand Bold"/>
                <a:ea typeface="Quicksand Bold"/>
                <a:cs typeface="Quicksand Bold"/>
                <a:sym typeface="Quicksand Bold"/>
              </a:rPr>
              <a:t>et</a:t>
            </a:r>
            <a:r>
              <a:rPr lang="en-US" sz="1010" b="true">
                <a:solidFill>
                  <a:srgbClr val="000000"/>
                </a:solidFill>
                <a:latin typeface="Quicksand Bold"/>
                <a:ea typeface="Quicksand Bold"/>
                <a:cs typeface="Quicksand Bold"/>
                <a:sym typeface="Quicksand Bold"/>
              </a:rPr>
              <a:t>?</a:t>
            </a:r>
          </a:p>
          <a:p>
            <a:pPr algn="just" marL="218255" indent="-109128" lvl="1">
              <a:lnSpc>
                <a:spcPts val="1213"/>
              </a:lnSpc>
              <a:buFont typeface="Arial"/>
              <a:buChar char="•"/>
            </a:pPr>
            <a:r>
              <a:rPr lang="en-US" b="true" sz="1010">
                <a:solidFill>
                  <a:srgbClr val="888888"/>
                </a:solidFill>
                <a:latin typeface="Quicksand Bold"/>
                <a:ea typeface="Quicksand Bold"/>
                <a:cs typeface="Quicksand Bold"/>
                <a:sym typeface="Quicksand Bold"/>
              </a:rPr>
              <a:t>Primary Users: Pet owners in urban areas (Metro Manila, Cebu, Davao) who have bus</a:t>
            </a:r>
            <a:r>
              <a:rPr lang="en-US" b="true" sz="1010">
                <a:solidFill>
                  <a:srgbClr val="888888"/>
                </a:solidFill>
                <a:latin typeface="Quicksand Bold"/>
                <a:ea typeface="Quicksand Bold"/>
                <a:cs typeface="Quicksand Bold"/>
                <a:sym typeface="Quicksand Bold"/>
              </a:rPr>
              <a:t>y schedules and need safe, convenient, and reliable pet care.</a:t>
            </a:r>
          </a:p>
          <a:p>
            <a:pPr algn="just" marL="218255" indent="-109128" lvl="1">
              <a:lnSpc>
                <a:spcPts val="1213"/>
              </a:lnSpc>
              <a:buFont typeface="Arial"/>
              <a:buChar char="•"/>
            </a:pPr>
            <a:r>
              <a:rPr lang="en-US" b="true" sz="1010">
                <a:solidFill>
                  <a:srgbClr val="888888"/>
                </a:solidFill>
                <a:latin typeface="Quicksand Bold"/>
                <a:ea typeface="Quicksand Bold"/>
                <a:cs typeface="Quicksand Bold"/>
                <a:sym typeface="Quicksand Bold"/>
              </a:rPr>
              <a:t>Demographics: Young professionals, working parents, and middle-class households (ages 20–40) who treat their pets as family and are willing to spend for their well-being.</a:t>
            </a:r>
          </a:p>
          <a:p>
            <a:pPr algn="just" marL="218255" indent="-109128" lvl="1">
              <a:lnSpc>
                <a:spcPts val="1213"/>
              </a:lnSpc>
              <a:buFont typeface="Arial"/>
              <a:buChar char="•"/>
            </a:pPr>
            <a:r>
              <a:rPr lang="en-US" b="true" sz="1010">
                <a:solidFill>
                  <a:srgbClr val="888888"/>
                </a:solidFill>
                <a:latin typeface="Quicksand Bold"/>
                <a:ea typeface="Quicksand Bold"/>
                <a:cs typeface="Quicksand Bold"/>
                <a:sym typeface="Quicksand Bold"/>
              </a:rPr>
              <a:t>Secondary Users: Students and young adults looking for part-time income by becoming verified pet sitters.</a:t>
            </a:r>
          </a:p>
          <a:p>
            <a:pPr algn="just">
              <a:lnSpc>
                <a:spcPts val="1213"/>
              </a:lnSpc>
            </a:pPr>
          </a:p>
        </p:txBody>
      </p:sp>
      <p:sp>
        <p:nvSpPr>
          <p:cNvPr name="TextBox 6" id="6"/>
          <p:cNvSpPr txBox="true"/>
          <p:nvPr/>
        </p:nvSpPr>
        <p:spPr>
          <a:xfrm rot="0">
            <a:off x="819175" y="4101477"/>
            <a:ext cx="8005421" cy="1828800"/>
          </a:xfrm>
          <a:prstGeom prst="rect">
            <a:avLst/>
          </a:prstGeom>
        </p:spPr>
        <p:txBody>
          <a:bodyPr anchor="t" rtlCol="false" tIns="0" lIns="0" bIns="0" rIns="0">
            <a:spAutoFit/>
          </a:bodyPr>
          <a:lstStyle/>
          <a:p>
            <a:pPr algn="just">
              <a:lnSpc>
                <a:spcPts val="1213"/>
              </a:lnSpc>
            </a:pPr>
            <a:r>
              <a:rPr lang="en-US" sz="1010" b="true">
                <a:solidFill>
                  <a:srgbClr val="000000"/>
                </a:solidFill>
                <a:latin typeface="Quicksand Bold"/>
                <a:ea typeface="Quicksand Bold"/>
                <a:cs typeface="Quicksand Bold"/>
                <a:sym typeface="Quicksand Bold"/>
              </a:rPr>
              <a:t>3. How Will We Get to That</a:t>
            </a:r>
            <a:r>
              <a:rPr lang="en-US" sz="1010" b="true">
                <a:solidFill>
                  <a:srgbClr val="000000"/>
                </a:solidFill>
                <a:latin typeface="Quicksand Bold"/>
                <a:ea typeface="Quicksand Bold"/>
                <a:cs typeface="Quicksand Bold"/>
                <a:sym typeface="Quicksand Bold"/>
              </a:rPr>
              <a:t> </a:t>
            </a:r>
            <a:r>
              <a:rPr lang="en-US" sz="1010" b="true">
                <a:solidFill>
                  <a:srgbClr val="000000"/>
                </a:solidFill>
                <a:latin typeface="Quicksand Bold"/>
                <a:ea typeface="Quicksand Bold"/>
                <a:cs typeface="Quicksand Bold"/>
                <a:sym typeface="Quicksand Bold"/>
              </a:rPr>
              <a:t>T</a:t>
            </a:r>
            <a:r>
              <a:rPr lang="en-US" sz="1010" b="true">
                <a:solidFill>
                  <a:srgbClr val="000000"/>
                </a:solidFill>
                <a:latin typeface="Quicksand Bold"/>
                <a:ea typeface="Quicksand Bold"/>
                <a:cs typeface="Quicksand Bold"/>
                <a:sym typeface="Quicksand Bold"/>
              </a:rPr>
              <a:t>ar</a:t>
            </a:r>
            <a:r>
              <a:rPr lang="en-US" sz="1010" b="true">
                <a:solidFill>
                  <a:srgbClr val="000000"/>
                </a:solidFill>
                <a:latin typeface="Quicksand Bold"/>
                <a:ea typeface="Quicksand Bold"/>
                <a:cs typeface="Quicksand Bold"/>
                <a:sym typeface="Quicksand Bold"/>
              </a:rPr>
              <a:t>ge</a:t>
            </a:r>
            <a:r>
              <a:rPr lang="en-US" sz="1010" b="true">
                <a:solidFill>
                  <a:srgbClr val="000000"/>
                </a:solidFill>
                <a:latin typeface="Quicksand Bold"/>
                <a:ea typeface="Quicksand Bold"/>
                <a:cs typeface="Quicksand Bold"/>
                <a:sym typeface="Quicksand Bold"/>
              </a:rPr>
              <a:t>t Ma</a:t>
            </a:r>
            <a:r>
              <a:rPr lang="en-US" sz="1010" b="true">
                <a:solidFill>
                  <a:srgbClr val="000000"/>
                </a:solidFill>
                <a:latin typeface="Quicksand Bold"/>
                <a:ea typeface="Quicksand Bold"/>
                <a:cs typeface="Quicksand Bold"/>
                <a:sym typeface="Quicksand Bold"/>
              </a:rPr>
              <a:t>rk</a:t>
            </a:r>
            <a:r>
              <a:rPr lang="en-US" sz="1010" b="true">
                <a:solidFill>
                  <a:srgbClr val="000000"/>
                </a:solidFill>
                <a:latin typeface="Quicksand Bold"/>
                <a:ea typeface="Quicksand Bold"/>
                <a:cs typeface="Quicksand Bold"/>
                <a:sym typeface="Quicksand Bold"/>
              </a:rPr>
              <a:t>et</a:t>
            </a:r>
            <a:r>
              <a:rPr lang="en-US" sz="1010" b="true">
                <a:solidFill>
                  <a:srgbClr val="000000"/>
                </a:solidFill>
                <a:latin typeface="Quicksand Bold"/>
                <a:ea typeface="Quicksand Bold"/>
                <a:cs typeface="Quicksand Bold"/>
                <a:sym typeface="Quicksand Bold"/>
              </a:rPr>
              <a:t>?</a:t>
            </a:r>
          </a:p>
          <a:p>
            <a:pPr algn="just">
              <a:lnSpc>
                <a:spcPts val="1213"/>
              </a:lnSpc>
            </a:pPr>
            <a:r>
              <a:rPr lang="en-US" sz="1010" b="true">
                <a:solidFill>
                  <a:srgbClr val="888888"/>
                </a:solidFill>
                <a:latin typeface="Quicksand Bold"/>
                <a:ea typeface="Quicksand Bold"/>
                <a:cs typeface="Quicksand Bold"/>
                <a:sym typeface="Quicksand Bold"/>
              </a:rPr>
              <a:t>We will use a mix of digital marketing, partnerships, and community-driven growth:</a:t>
            </a:r>
          </a:p>
          <a:p>
            <a:pPr algn="just" marL="218255" indent="-109128" lvl="1">
              <a:lnSpc>
                <a:spcPts val="1213"/>
              </a:lnSpc>
              <a:buAutoNum type="arabicPeriod" startAt="1"/>
            </a:pPr>
            <a:r>
              <a:rPr lang="en-US" b="true" sz="1010">
                <a:solidFill>
                  <a:srgbClr val="888888"/>
                </a:solidFill>
                <a:latin typeface="Quicksand Bold"/>
                <a:ea typeface="Quicksand Bold"/>
                <a:cs typeface="Quicksand Bold"/>
                <a:sym typeface="Quicksand Bold"/>
              </a:rPr>
              <a:t>Digital Marketing &amp; Social Media</a:t>
            </a:r>
          </a:p>
          <a:p>
            <a:pPr algn="just" marL="436511" indent="-145504" lvl="2">
              <a:lnSpc>
                <a:spcPts val="1213"/>
              </a:lnSpc>
              <a:buFont typeface="Arial"/>
              <a:buChar char="⚬"/>
            </a:pPr>
            <a:r>
              <a:rPr lang="en-US" b="true" sz="1010">
                <a:solidFill>
                  <a:srgbClr val="888888"/>
                </a:solidFill>
                <a:latin typeface="Quicksand Bold"/>
                <a:ea typeface="Quicksand Bold"/>
                <a:cs typeface="Quicksand Bold"/>
                <a:sym typeface="Quicksand Bold"/>
              </a:rPr>
              <a:t>Pet owner communities on Facebook Groups,</a:t>
            </a:r>
            <a:r>
              <a:rPr lang="en-US" b="true" sz="1010">
                <a:solidFill>
                  <a:srgbClr val="888888"/>
                </a:solidFill>
                <a:latin typeface="Quicksand Bold"/>
                <a:ea typeface="Quicksand Bold"/>
                <a:cs typeface="Quicksand Bold"/>
                <a:sym typeface="Quicksand Bold"/>
              </a:rPr>
              <a:t> TikTok, Instagram, and YouTube Shorts.</a:t>
            </a:r>
          </a:p>
          <a:p>
            <a:pPr algn="just" marL="436511" indent="-145504" lvl="2">
              <a:lnSpc>
                <a:spcPts val="1213"/>
              </a:lnSpc>
              <a:buFont typeface="Arial"/>
              <a:buChar char="⚬"/>
            </a:pPr>
            <a:r>
              <a:rPr lang="en-US" b="true" sz="1010">
                <a:solidFill>
                  <a:srgbClr val="888888"/>
                </a:solidFill>
                <a:latin typeface="Quicksand Bold"/>
                <a:ea typeface="Quicksand Bold"/>
                <a:cs typeface="Quicksand Bold"/>
                <a:sym typeface="Quicksand Bold"/>
              </a:rPr>
              <a:t>Targeted ads focusing on convenience, trust, and affordability.</a:t>
            </a:r>
          </a:p>
          <a:p>
            <a:pPr algn="just" marL="218255" indent="-109128" lvl="1">
              <a:lnSpc>
                <a:spcPts val="1213"/>
              </a:lnSpc>
              <a:buAutoNum type="arabicPeriod" startAt="1"/>
            </a:pPr>
            <a:r>
              <a:rPr lang="en-US" b="true" sz="1010">
                <a:solidFill>
                  <a:srgbClr val="888888"/>
                </a:solidFill>
                <a:latin typeface="Quicksand Bold"/>
                <a:ea typeface="Quicksand Bold"/>
                <a:cs typeface="Quicksand Bold"/>
                <a:sym typeface="Quicksand Bold"/>
              </a:rPr>
              <a:t>Partnerships</a:t>
            </a:r>
          </a:p>
          <a:p>
            <a:pPr algn="just" marL="436511" indent="-145504" lvl="2">
              <a:lnSpc>
                <a:spcPts val="1213"/>
              </a:lnSpc>
              <a:buFont typeface="Arial"/>
              <a:buChar char="⚬"/>
            </a:pPr>
            <a:r>
              <a:rPr lang="en-US" b="true" sz="1010">
                <a:solidFill>
                  <a:srgbClr val="888888"/>
                </a:solidFill>
                <a:latin typeface="Quicksand Bold"/>
                <a:ea typeface="Quicksand Bold"/>
                <a:cs typeface="Quicksand Bold"/>
                <a:sym typeface="Quicksand Bold"/>
              </a:rPr>
              <a:t>Tie-ups with veterinary clinics, pet supply stores, and grooming salons to promote the app.</a:t>
            </a:r>
          </a:p>
          <a:p>
            <a:pPr algn="just" marL="218255" indent="-109128" lvl="1">
              <a:lnSpc>
                <a:spcPts val="1213"/>
              </a:lnSpc>
              <a:buAutoNum type="arabicPeriod" startAt="1"/>
            </a:pPr>
            <a:r>
              <a:rPr lang="en-US" b="true" sz="1010">
                <a:solidFill>
                  <a:srgbClr val="888888"/>
                </a:solidFill>
                <a:latin typeface="Quicksand Bold"/>
                <a:ea typeface="Quicksand Bold"/>
                <a:cs typeface="Quicksand Bold"/>
                <a:sym typeface="Quicksand Bold"/>
              </a:rPr>
              <a:t>On-ground Pet Community Events</a:t>
            </a:r>
          </a:p>
          <a:p>
            <a:pPr algn="just" marL="436511" indent="-145504" lvl="2">
              <a:lnSpc>
                <a:spcPts val="1213"/>
              </a:lnSpc>
              <a:buFont typeface="Arial"/>
              <a:buChar char="⚬"/>
            </a:pPr>
            <a:r>
              <a:rPr lang="en-US" b="true" sz="1010">
                <a:solidFill>
                  <a:srgbClr val="888888"/>
                </a:solidFill>
                <a:latin typeface="Quicksand Bold"/>
                <a:ea typeface="Quicksand Bold"/>
                <a:cs typeface="Quicksand Bold"/>
                <a:sym typeface="Quicksand Bold"/>
              </a:rPr>
              <a:t>Join pet fairs, adoption events, and vet outreach programs to promote the brand directly to pet owners.</a:t>
            </a:r>
          </a:p>
          <a:p>
            <a:pPr algn="just" marL="218255" indent="-109128" lvl="1">
              <a:lnSpc>
                <a:spcPts val="1213"/>
              </a:lnSpc>
              <a:buAutoNum type="arabicPeriod" startAt="1"/>
            </a:pPr>
            <a:r>
              <a:rPr lang="en-US" b="true" sz="1010">
                <a:solidFill>
                  <a:srgbClr val="888888"/>
                </a:solidFill>
                <a:latin typeface="Quicksand Bold"/>
                <a:ea typeface="Quicksand Bold"/>
                <a:cs typeface="Quicksand Bold"/>
                <a:sym typeface="Quicksand Bold"/>
              </a:rPr>
              <a:t>App Distribution</a:t>
            </a:r>
          </a:p>
          <a:p>
            <a:pPr algn="just" marL="436511" indent="-145504" lvl="2">
              <a:lnSpc>
                <a:spcPts val="1213"/>
              </a:lnSpc>
              <a:buFont typeface="Arial"/>
              <a:buChar char="⚬"/>
            </a:pPr>
            <a:r>
              <a:rPr lang="en-US" b="true" sz="1010">
                <a:solidFill>
                  <a:srgbClr val="888888"/>
                </a:solidFill>
                <a:latin typeface="Quicksand Bold"/>
                <a:ea typeface="Quicksand Bold"/>
                <a:cs typeface="Quicksand Bold"/>
                <a:sym typeface="Quicksand Bold"/>
              </a:rPr>
              <a:t>Available on Google Play Store and Apple App Store, with early adoption perks.</a:t>
            </a:r>
          </a:p>
          <a:p>
            <a:pPr algn="just">
              <a:lnSpc>
                <a:spcPts val="1213"/>
              </a:lnSpc>
            </a:pPr>
          </a:p>
        </p:txBody>
      </p:sp>
      <p:grpSp>
        <p:nvGrpSpPr>
          <p:cNvPr name="Group 7" id="7"/>
          <p:cNvGrpSpPr>
            <a:grpSpLocks noChangeAspect="true"/>
          </p:cNvGrpSpPr>
          <p:nvPr/>
        </p:nvGrpSpPr>
        <p:grpSpPr>
          <a:xfrm rot="0">
            <a:off x="14858024" y="111725"/>
            <a:ext cx="2905267" cy="916975"/>
            <a:chOff x="0" y="0"/>
            <a:chExt cx="3873689" cy="1222633"/>
          </a:xfrm>
        </p:grpSpPr>
        <p:sp>
          <p:nvSpPr>
            <p:cNvPr name="Freeform 8" id="8"/>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2"/>
              <a:stretch>
                <a:fillRect l="0" t="0" r="-1" b="0"/>
              </a:stretch>
            </a:blipFill>
          </p:spPr>
        </p:sp>
      </p:grpSp>
      <p:sp>
        <p:nvSpPr>
          <p:cNvPr name="TextBox 9" id="9"/>
          <p:cNvSpPr txBox="true"/>
          <p:nvPr/>
        </p:nvSpPr>
        <p:spPr>
          <a:xfrm rot="0">
            <a:off x="819175" y="6054102"/>
            <a:ext cx="8005421" cy="914400"/>
          </a:xfrm>
          <a:prstGeom prst="rect">
            <a:avLst/>
          </a:prstGeom>
        </p:spPr>
        <p:txBody>
          <a:bodyPr anchor="t" rtlCol="false" tIns="0" lIns="0" bIns="0" rIns="0">
            <a:spAutoFit/>
          </a:bodyPr>
          <a:lstStyle/>
          <a:p>
            <a:pPr algn="just">
              <a:lnSpc>
                <a:spcPts val="1213"/>
              </a:lnSpc>
            </a:pPr>
            <a:r>
              <a:rPr lang="en-US" sz="1010" b="true">
                <a:solidFill>
                  <a:srgbClr val="000000"/>
                </a:solidFill>
                <a:latin typeface="Quicksand Bold"/>
                <a:ea typeface="Quicksand Bold"/>
                <a:cs typeface="Quicksand Bold"/>
                <a:sym typeface="Quicksand Bold"/>
              </a:rPr>
              <a:t>Results of</a:t>
            </a:r>
            <a:r>
              <a:rPr lang="en-US" sz="1010" b="true">
                <a:solidFill>
                  <a:srgbClr val="000000"/>
                </a:solidFill>
                <a:latin typeface="Quicksand Bold"/>
                <a:ea typeface="Quicksand Bold"/>
                <a:cs typeface="Quicksand Bold"/>
                <a:sym typeface="Quicksand Bold"/>
              </a:rPr>
              <a:t> MVP </a:t>
            </a:r>
            <a:r>
              <a:rPr lang="en-US" sz="1010" b="true">
                <a:solidFill>
                  <a:srgbClr val="000000"/>
                </a:solidFill>
                <a:latin typeface="Quicksand Bold"/>
                <a:ea typeface="Quicksand Bold"/>
                <a:cs typeface="Quicksand Bold"/>
                <a:sym typeface="Quicksand Bold"/>
              </a:rPr>
              <a:t>V</a:t>
            </a:r>
            <a:r>
              <a:rPr lang="en-US" sz="1010" b="true">
                <a:solidFill>
                  <a:srgbClr val="000000"/>
                </a:solidFill>
                <a:latin typeface="Quicksand Bold"/>
                <a:ea typeface="Quicksand Bold"/>
                <a:cs typeface="Quicksand Bold"/>
                <a:sym typeface="Quicksand Bold"/>
              </a:rPr>
              <a:t>a</a:t>
            </a:r>
            <a:r>
              <a:rPr lang="en-US" sz="1010" b="true">
                <a:solidFill>
                  <a:srgbClr val="000000"/>
                </a:solidFill>
                <a:latin typeface="Quicksand Bold"/>
                <a:ea typeface="Quicksand Bold"/>
                <a:cs typeface="Quicksand Bold"/>
                <a:sym typeface="Quicksand Bold"/>
              </a:rPr>
              <a:t>l</a:t>
            </a:r>
            <a:r>
              <a:rPr lang="en-US" sz="1010" b="true">
                <a:solidFill>
                  <a:srgbClr val="000000"/>
                </a:solidFill>
                <a:latin typeface="Quicksand Bold"/>
                <a:ea typeface="Quicksand Bold"/>
                <a:cs typeface="Quicksand Bold"/>
                <a:sym typeface="Quicksand Bold"/>
              </a:rPr>
              <a:t>idati</a:t>
            </a:r>
            <a:r>
              <a:rPr lang="en-US" sz="1010" b="true">
                <a:solidFill>
                  <a:srgbClr val="000000"/>
                </a:solidFill>
                <a:latin typeface="Quicksand Bold"/>
                <a:ea typeface="Quicksand Bold"/>
                <a:cs typeface="Quicksand Bold"/>
                <a:sym typeface="Quicksand Bold"/>
              </a:rPr>
              <a:t>o</a:t>
            </a:r>
            <a:r>
              <a:rPr lang="en-US" sz="1010" b="true">
                <a:solidFill>
                  <a:srgbClr val="000000"/>
                </a:solidFill>
                <a:latin typeface="Quicksand Bold"/>
                <a:ea typeface="Quicksand Bold"/>
                <a:cs typeface="Quicksand Bold"/>
                <a:sym typeface="Quicksand Bold"/>
              </a:rPr>
              <a:t>n </a:t>
            </a:r>
            <a:r>
              <a:rPr lang="en-US" sz="1010" b="true">
                <a:solidFill>
                  <a:srgbClr val="000000"/>
                </a:solidFill>
                <a:latin typeface="Quicksand Bold"/>
                <a:ea typeface="Quicksand Bold"/>
                <a:cs typeface="Quicksand Bold"/>
                <a:sym typeface="Quicksand Bold"/>
              </a:rPr>
              <a:t>(40 R</a:t>
            </a:r>
            <a:r>
              <a:rPr lang="en-US" sz="1010" b="true">
                <a:solidFill>
                  <a:srgbClr val="000000"/>
                </a:solidFill>
                <a:latin typeface="Quicksand Bold"/>
                <a:ea typeface="Quicksand Bold"/>
                <a:cs typeface="Quicksand Bold"/>
                <a:sym typeface="Quicksand Bold"/>
              </a:rPr>
              <a:t>espondent</a:t>
            </a:r>
            <a:r>
              <a:rPr lang="en-US" sz="1010" b="true">
                <a:solidFill>
                  <a:srgbClr val="000000"/>
                </a:solidFill>
                <a:latin typeface="Quicksand Bold"/>
                <a:ea typeface="Quicksand Bold"/>
                <a:cs typeface="Quicksand Bold"/>
                <a:sym typeface="Quicksand Bold"/>
              </a:rPr>
              <a:t>s)</a:t>
            </a:r>
          </a:p>
          <a:p>
            <a:pPr algn="just">
              <a:lnSpc>
                <a:spcPts val="1213"/>
              </a:lnSpc>
            </a:pPr>
          </a:p>
          <a:p>
            <a:pPr algn="just">
              <a:lnSpc>
                <a:spcPts val="1213"/>
              </a:lnSpc>
            </a:pPr>
            <a:r>
              <a:rPr lang="en-US" sz="1010" b="true">
                <a:solidFill>
                  <a:srgbClr val="000000"/>
                </a:solidFill>
                <a:latin typeface="Quicksand Bold"/>
                <a:ea typeface="Quicksand Bold"/>
                <a:cs typeface="Quicksand Bold"/>
                <a:sym typeface="Quicksand Bold"/>
              </a:rPr>
              <a:t>1.</a:t>
            </a:r>
            <a:r>
              <a:rPr lang="en-US" sz="1010" b="true">
                <a:solidFill>
                  <a:srgbClr val="000000"/>
                </a:solidFill>
                <a:latin typeface="Quicksand Bold"/>
                <a:ea typeface="Quicksand Bold"/>
                <a:cs typeface="Quicksand Bold"/>
                <a:sym typeface="Quicksand Bold"/>
              </a:rPr>
              <a:t> </a:t>
            </a:r>
            <a:r>
              <a:rPr lang="en-US" sz="1010" b="true">
                <a:solidFill>
                  <a:srgbClr val="000000"/>
                </a:solidFill>
                <a:latin typeface="Quicksand Bold"/>
                <a:ea typeface="Quicksand Bold"/>
                <a:cs typeface="Quicksand Bold"/>
                <a:sym typeface="Quicksand Bold"/>
              </a:rPr>
              <a:t>H</a:t>
            </a:r>
            <a:r>
              <a:rPr lang="en-US" sz="1010" b="true">
                <a:solidFill>
                  <a:srgbClr val="000000"/>
                </a:solidFill>
                <a:latin typeface="Quicksand Bold"/>
                <a:ea typeface="Quicksand Bold"/>
                <a:cs typeface="Quicksand Bold"/>
                <a:sym typeface="Quicksand Bold"/>
              </a:rPr>
              <a:t>ow ma</a:t>
            </a:r>
            <a:r>
              <a:rPr lang="en-US" sz="1010" b="true">
                <a:solidFill>
                  <a:srgbClr val="000000"/>
                </a:solidFill>
                <a:latin typeface="Quicksand Bold"/>
                <a:ea typeface="Quicksand Bold"/>
                <a:cs typeface="Quicksand Bold"/>
                <a:sym typeface="Quicksand Bold"/>
              </a:rPr>
              <a:t>n</a:t>
            </a:r>
            <a:r>
              <a:rPr lang="en-US" sz="1010" b="true">
                <a:solidFill>
                  <a:srgbClr val="000000"/>
                </a:solidFill>
                <a:latin typeface="Quicksand Bold"/>
                <a:ea typeface="Quicksand Bold"/>
                <a:cs typeface="Quicksand Bold"/>
                <a:sym typeface="Quicksand Bold"/>
              </a:rPr>
              <a:t>y</a:t>
            </a:r>
            <a:r>
              <a:rPr lang="en-US" sz="1010" b="true">
                <a:solidFill>
                  <a:srgbClr val="000000"/>
                </a:solidFill>
                <a:latin typeface="Quicksand Bold"/>
                <a:ea typeface="Quicksand Bold"/>
                <a:cs typeface="Quicksand Bold"/>
                <a:sym typeface="Quicksand Bold"/>
              </a:rPr>
              <a:t> cus</a:t>
            </a:r>
            <a:r>
              <a:rPr lang="en-US" sz="1010" b="true">
                <a:solidFill>
                  <a:srgbClr val="000000"/>
                </a:solidFill>
                <a:latin typeface="Quicksand Bold"/>
                <a:ea typeface="Quicksand Bold"/>
                <a:cs typeface="Quicksand Bold"/>
                <a:sym typeface="Quicksand Bold"/>
              </a:rPr>
              <a:t>t</a:t>
            </a:r>
            <a:r>
              <a:rPr lang="en-US" sz="1010" b="true">
                <a:solidFill>
                  <a:srgbClr val="000000"/>
                </a:solidFill>
                <a:latin typeface="Quicksand Bold"/>
                <a:ea typeface="Quicksand Bold"/>
                <a:cs typeface="Quicksand Bold"/>
                <a:sym typeface="Quicksand Bold"/>
              </a:rPr>
              <a:t>o</a:t>
            </a:r>
            <a:r>
              <a:rPr lang="en-US" sz="1010" b="true">
                <a:solidFill>
                  <a:srgbClr val="000000"/>
                </a:solidFill>
                <a:latin typeface="Quicksand Bold"/>
                <a:ea typeface="Quicksand Bold"/>
                <a:cs typeface="Quicksand Bold"/>
                <a:sym typeface="Quicksand Bold"/>
              </a:rPr>
              <a:t>m</a:t>
            </a:r>
            <a:r>
              <a:rPr lang="en-US" sz="1010" b="true">
                <a:solidFill>
                  <a:srgbClr val="000000"/>
                </a:solidFill>
                <a:latin typeface="Quicksand Bold"/>
                <a:ea typeface="Quicksand Bold"/>
                <a:cs typeface="Quicksand Bold"/>
                <a:sym typeface="Quicksand Bold"/>
              </a:rPr>
              <a:t>ers are willing to </a:t>
            </a:r>
            <a:r>
              <a:rPr lang="en-US" sz="1010" b="true">
                <a:solidFill>
                  <a:srgbClr val="000000"/>
                </a:solidFill>
                <a:latin typeface="Quicksand Bold"/>
                <a:ea typeface="Quicksand Bold"/>
                <a:cs typeface="Quicksand Bold"/>
                <a:sym typeface="Quicksand Bold"/>
              </a:rPr>
              <a:t>buy</a:t>
            </a:r>
            <a:r>
              <a:rPr lang="en-US" sz="1010" b="true">
                <a:solidFill>
                  <a:srgbClr val="000000"/>
                </a:solidFill>
                <a:latin typeface="Quicksand Bold"/>
                <a:ea typeface="Quicksand Bold"/>
                <a:cs typeface="Quicksand Bold"/>
                <a:sym typeface="Quicksand Bold"/>
              </a:rPr>
              <a:t> the prod</a:t>
            </a:r>
            <a:r>
              <a:rPr lang="en-US" sz="1010" b="true">
                <a:solidFill>
                  <a:srgbClr val="000000"/>
                </a:solidFill>
                <a:latin typeface="Quicksand Bold"/>
                <a:ea typeface="Quicksand Bold"/>
                <a:cs typeface="Quicksand Bold"/>
                <a:sym typeface="Quicksand Bold"/>
              </a:rPr>
              <a:t>uc</a:t>
            </a:r>
            <a:r>
              <a:rPr lang="en-US" sz="1010" b="true">
                <a:solidFill>
                  <a:srgbClr val="000000"/>
                </a:solidFill>
                <a:latin typeface="Quicksand Bold"/>
                <a:ea typeface="Quicksand Bold"/>
                <a:cs typeface="Quicksand Bold"/>
                <a:sym typeface="Quicksand Bold"/>
              </a:rPr>
              <a:t>t</a:t>
            </a:r>
            <a:r>
              <a:rPr lang="en-US" sz="1010" b="true">
                <a:solidFill>
                  <a:srgbClr val="000000"/>
                </a:solidFill>
                <a:latin typeface="Quicksand Bold"/>
                <a:ea typeface="Quicksand Bold"/>
                <a:cs typeface="Quicksand Bold"/>
                <a:sym typeface="Quicksand Bold"/>
              </a:rPr>
              <a:t>?</a:t>
            </a:r>
          </a:p>
          <a:p>
            <a:pPr algn="just">
              <a:lnSpc>
                <a:spcPts val="1213"/>
              </a:lnSpc>
            </a:pPr>
            <a:r>
              <a:rPr lang="en-US" sz="1010" b="true">
                <a:solidFill>
                  <a:srgbClr val="000000"/>
                </a:solidFill>
                <a:latin typeface="Quicksand Bold"/>
                <a:ea typeface="Quicksand Bold"/>
                <a:cs typeface="Quicksand Bold"/>
                <a:sym typeface="Quicksand Bold"/>
              </a:rPr>
              <a:t> </a:t>
            </a:r>
            <a:r>
              <a:rPr lang="en-US" sz="1010" b="true">
                <a:solidFill>
                  <a:srgbClr val="757070"/>
                </a:solidFill>
                <a:latin typeface="Quicksand Bold"/>
                <a:ea typeface="Quicksand Bold"/>
                <a:cs typeface="Quicksand Bold"/>
                <a:sym typeface="Quicksand Bold"/>
              </a:rPr>
              <a:t>Out of 40 respo ndents, 34 said they are willing to use and buy the service.</a:t>
            </a:r>
          </a:p>
          <a:p>
            <a:pPr algn="just">
              <a:lnSpc>
                <a:spcPts val="1213"/>
              </a:lnSpc>
            </a:pPr>
            <a:r>
              <a:rPr lang="en-US" b="true" sz="1010">
                <a:solidFill>
                  <a:srgbClr val="757070"/>
                </a:solidFill>
                <a:latin typeface="Quicksand Bold"/>
                <a:ea typeface="Quicksand Bold"/>
                <a:cs typeface="Quicksand Bold"/>
                <a:sym typeface="Quicksand Bold"/>
              </a:rPr>
              <a:t> That is 85% willingness, showing strong product-market fit (more than 80%).</a:t>
            </a:r>
          </a:p>
          <a:p>
            <a:pPr algn="just">
              <a:lnSpc>
                <a:spcPts val="1213"/>
              </a:lnSpc>
            </a:pPr>
          </a:p>
        </p:txBody>
      </p:sp>
      <p:sp>
        <p:nvSpPr>
          <p:cNvPr name="TextBox 10" id="10"/>
          <p:cNvSpPr txBox="true"/>
          <p:nvPr/>
        </p:nvSpPr>
        <p:spPr>
          <a:xfrm rot="0">
            <a:off x="819175" y="6968502"/>
            <a:ext cx="8005421" cy="609600"/>
          </a:xfrm>
          <a:prstGeom prst="rect">
            <a:avLst/>
          </a:prstGeom>
        </p:spPr>
        <p:txBody>
          <a:bodyPr anchor="t" rtlCol="false" tIns="0" lIns="0" bIns="0" rIns="0">
            <a:spAutoFit/>
          </a:bodyPr>
          <a:lstStyle/>
          <a:p>
            <a:pPr algn="just">
              <a:lnSpc>
                <a:spcPts val="1213"/>
              </a:lnSpc>
            </a:pPr>
            <a:r>
              <a:rPr lang="en-US" sz="1010" b="true">
                <a:solidFill>
                  <a:srgbClr val="000000"/>
                </a:solidFill>
                <a:latin typeface="Quicksand Bold"/>
                <a:ea typeface="Quicksand Bold"/>
                <a:cs typeface="Quicksand Bold"/>
                <a:sym typeface="Quicksand Bold"/>
              </a:rPr>
              <a:t>2</a:t>
            </a:r>
            <a:r>
              <a:rPr lang="en-US" sz="1010" b="true">
                <a:solidFill>
                  <a:srgbClr val="000000"/>
                </a:solidFill>
                <a:latin typeface="Quicksand Bold"/>
                <a:ea typeface="Quicksand Bold"/>
                <a:cs typeface="Quicksand Bold"/>
                <a:sym typeface="Quicksand Bold"/>
              </a:rPr>
              <a:t>.</a:t>
            </a:r>
            <a:r>
              <a:rPr lang="en-US" sz="1010" b="true">
                <a:solidFill>
                  <a:srgbClr val="000000"/>
                </a:solidFill>
                <a:latin typeface="Quicksand Bold"/>
                <a:ea typeface="Quicksand Bold"/>
                <a:cs typeface="Quicksand Bold"/>
                <a:sym typeface="Quicksand Bold"/>
              </a:rPr>
              <a:t> Are</a:t>
            </a:r>
            <a:r>
              <a:rPr lang="en-US" sz="1010" b="true">
                <a:solidFill>
                  <a:srgbClr val="000000"/>
                </a:solidFill>
                <a:latin typeface="Quicksand Bold"/>
                <a:ea typeface="Quicksand Bold"/>
                <a:cs typeface="Quicksand Bold"/>
                <a:sym typeface="Quicksand Bold"/>
              </a:rPr>
              <a:t> cus</a:t>
            </a:r>
            <a:r>
              <a:rPr lang="en-US" sz="1010" b="true">
                <a:solidFill>
                  <a:srgbClr val="000000"/>
                </a:solidFill>
                <a:latin typeface="Quicksand Bold"/>
                <a:ea typeface="Quicksand Bold"/>
                <a:cs typeface="Quicksand Bold"/>
                <a:sym typeface="Quicksand Bold"/>
              </a:rPr>
              <a:t>t</a:t>
            </a:r>
            <a:r>
              <a:rPr lang="en-US" sz="1010" b="true">
                <a:solidFill>
                  <a:srgbClr val="000000"/>
                </a:solidFill>
                <a:latin typeface="Quicksand Bold"/>
                <a:ea typeface="Quicksand Bold"/>
                <a:cs typeface="Quicksand Bold"/>
                <a:sym typeface="Quicksand Bold"/>
              </a:rPr>
              <a:t>o</a:t>
            </a:r>
            <a:r>
              <a:rPr lang="en-US" sz="1010" b="true">
                <a:solidFill>
                  <a:srgbClr val="000000"/>
                </a:solidFill>
                <a:latin typeface="Quicksand Bold"/>
                <a:ea typeface="Quicksand Bold"/>
                <a:cs typeface="Quicksand Bold"/>
                <a:sym typeface="Quicksand Bold"/>
              </a:rPr>
              <a:t>m</a:t>
            </a:r>
            <a:r>
              <a:rPr lang="en-US" sz="1010" b="true">
                <a:solidFill>
                  <a:srgbClr val="000000"/>
                </a:solidFill>
                <a:latin typeface="Quicksand Bold"/>
                <a:ea typeface="Quicksand Bold"/>
                <a:cs typeface="Quicksand Bold"/>
                <a:sym typeface="Quicksand Bold"/>
              </a:rPr>
              <a:t>ers willing to pa</a:t>
            </a:r>
            <a:r>
              <a:rPr lang="en-US" sz="1010" b="true">
                <a:solidFill>
                  <a:srgbClr val="000000"/>
                </a:solidFill>
                <a:latin typeface="Quicksand Bold"/>
                <a:ea typeface="Quicksand Bold"/>
                <a:cs typeface="Quicksand Bold"/>
                <a:sym typeface="Quicksand Bold"/>
              </a:rPr>
              <a:t>y for</a:t>
            </a:r>
            <a:r>
              <a:rPr lang="en-US" sz="1010" b="true">
                <a:solidFill>
                  <a:srgbClr val="000000"/>
                </a:solidFill>
                <a:latin typeface="Quicksand Bold"/>
                <a:ea typeface="Quicksand Bold"/>
                <a:cs typeface="Quicksand Bold"/>
                <a:sym typeface="Quicksand Bold"/>
              </a:rPr>
              <a:t> the prod</a:t>
            </a:r>
            <a:r>
              <a:rPr lang="en-US" sz="1010" b="true">
                <a:solidFill>
                  <a:srgbClr val="000000"/>
                </a:solidFill>
                <a:latin typeface="Quicksand Bold"/>
                <a:ea typeface="Quicksand Bold"/>
                <a:cs typeface="Quicksand Bold"/>
                <a:sym typeface="Quicksand Bold"/>
              </a:rPr>
              <a:t>uc</a:t>
            </a:r>
            <a:r>
              <a:rPr lang="en-US" sz="1010" b="true">
                <a:solidFill>
                  <a:srgbClr val="000000"/>
                </a:solidFill>
                <a:latin typeface="Quicksand Bold"/>
                <a:ea typeface="Quicksand Bold"/>
                <a:cs typeface="Quicksand Bold"/>
                <a:sym typeface="Quicksand Bold"/>
              </a:rPr>
              <a:t>t (10%-15% per </a:t>
            </a:r>
            <a:r>
              <a:rPr lang="en-US" sz="1010" b="true">
                <a:solidFill>
                  <a:srgbClr val="000000"/>
                </a:solidFill>
                <a:latin typeface="Quicksand Bold"/>
                <a:ea typeface="Quicksand Bold"/>
                <a:cs typeface="Quicksand Bold"/>
                <a:sym typeface="Quicksand Bold"/>
              </a:rPr>
              <a:t>b</a:t>
            </a:r>
            <a:r>
              <a:rPr lang="en-US" sz="1010" b="true">
                <a:solidFill>
                  <a:srgbClr val="000000"/>
                </a:solidFill>
                <a:latin typeface="Quicksand Bold"/>
                <a:ea typeface="Quicksand Bold"/>
                <a:cs typeface="Quicksand Bold"/>
                <a:sym typeface="Quicksand Bold"/>
              </a:rPr>
              <a:t>o</a:t>
            </a:r>
            <a:r>
              <a:rPr lang="en-US" sz="1010" b="true">
                <a:solidFill>
                  <a:srgbClr val="000000"/>
                </a:solidFill>
                <a:latin typeface="Quicksand Bold"/>
                <a:ea typeface="Quicksand Bold"/>
                <a:cs typeface="Quicksand Bold"/>
                <a:sym typeface="Quicksand Bold"/>
              </a:rPr>
              <a:t>oking commission </a:t>
            </a:r>
            <a:r>
              <a:rPr lang="en-US" sz="1010" b="true">
                <a:solidFill>
                  <a:srgbClr val="000000"/>
                </a:solidFill>
                <a:latin typeface="Quicksand Bold"/>
                <a:ea typeface="Quicksand Bold"/>
                <a:cs typeface="Quicksand Bold"/>
                <a:sym typeface="Quicksand Bold"/>
              </a:rPr>
              <a:t>f</a:t>
            </a:r>
            <a:r>
              <a:rPr lang="en-US" sz="1010" b="true">
                <a:solidFill>
                  <a:srgbClr val="000000"/>
                </a:solidFill>
                <a:latin typeface="Quicksand Bold"/>
                <a:ea typeface="Quicksand Bold"/>
                <a:cs typeface="Quicksand Bold"/>
                <a:sym typeface="Quicksand Bold"/>
              </a:rPr>
              <a:t>ee)?</a:t>
            </a:r>
            <a:r>
              <a:rPr lang="en-US" sz="1010" b="true">
                <a:solidFill>
                  <a:srgbClr val="000000"/>
                </a:solidFill>
                <a:latin typeface="Quicksand Bold"/>
                <a:ea typeface="Quicksand Bold"/>
                <a:cs typeface="Quicksand Bold"/>
                <a:sym typeface="Quicksand Bold"/>
              </a:rPr>
              <a:t> </a:t>
            </a:r>
            <a:r>
              <a:rPr lang="en-US" sz="1010" b="true">
                <a:solidFill>
                  <a:srgbClr val="000000"/>
                </a:solidFill>
                <a:latin typeface="Quicksand Bold"/>
                <a:ea typeface="Quicksand Bold"/>
                <a:cs typeface="Quicksand Bold"/>
                <a:sym typeface="Quicksand Bold"/>
              </a:rPr>
              <a:t>Why or why not?</a:t>
            </a:r>
          </a:p>
          <a:p>
            <a:pPr algn="just" marL="218255" indent="-109128" lvl="1">
              <a:lnSpc>
                <a:spcPts val="1213"/>
              </a:lnSpc>
              <a:buFont typeface="Arial"/>
              <a:buChar char="•"/>
            </a:pPr>
            <a:r>
              <a:rPr lang="en-US" b="true" sz="1010">
                <a:solidFill>
                  <a:srgbClr val="757070"/>
                </a:solidFill>
                <a:latin typeface="Quicksand Bold"/>
                <a:ea typeface="Quicksand Bold"/>
                <a:cs typeface="Quicksand Bold"/>
                <a:sym typeface="Quicksand Bold"/>
              </a:rPr>
              <a:t>Yes (34 respondents, 85%) – They believe the price is fair given the convenience, safety, and time saved.</a:t>
            </a:r>
          </a:p>
          <a:p>
            <a:pPr algn="just" marL="218255" indent="-109128" lvl="1">
              <a:lnSpc>
                <a:spcPts val="1213"/>
              </a:lnSpc>
              <a:buFont typeface="Arial"/>
              <a:buChar char="•"/>
            </a:pPr>
            <a:r>
              <a:rPr lang="en-US" b="true" sz="1010">
                <a:solidFill>
                  <a:srgbClr val="757070"/>
                </a:solidFill>
                <a:latin typeface="Quicksand Bold"/>
                <a:ea typeface="Quicksand Bold"/>
                <a:cs typeface="Quicksand Bold"/>
                <a:sym typeface="Quicksand Bold"/>
              </a:rPr>
              <a:t>No</a:t>
            </a:r>
            <a:r>
              <a:rPr lang="en-US" b="true" sz="1010">
                <a:solidFill>
                  <a:srgbClr val="757070"/>
                </a:solidFill>
                <a:latin typeface="Quicksand Bold"/>
                <a:ea typeface="Quicksand Bold"/>
                <a:cs typeface="Quicksand Bold"/>
                <a:sym typeface="Quicksand Bold"/>
              </a:rPr>
              <a:t> / Not Sure (6 respondents, 15%) – Some suggested cheaper rates for short bookings or package deals.</a:t>
            </a:r>
          </a:p>
          <a:p>
            <a:pPr algn="just">
              <a:lnSpc>
                <a:spcPts val="1213"/>
              </a:lnSpc>
            </a:pPr>
          </a:p>
        </p:txBody>
      </p:sp>
      <p:sp>
        <p:nvSpPr>
          <p:cNvPr name="TextBox 11" id="11"/>
          <p:cNvSpPr txBox="true"/>
          <p:nvPr/>
        </p:nvSpPr>
        <p:spPr>
          <a:xfrm rot="0">
            <a:off x="819175" y="7661508"/>
            <a:ext cx="8005421" cy="914400"/>
          </a:xfrm>
          <a:prstGeom prst="rect">
            <a:avLst/>
          </a:prstGeom>
        </p:spPr>
        <p:txBody>
          <a:bodyPr anchor="t" rtlCol="false" tIns="0" lIns="0" bIns="0" rIns="0">
            <a:spAutoFit/>
          </a:bodyPr>
          <a:lstStyle/>
          <a:p>
            <a:pPr algn="just">
              <a:lnSpc>
                <a:spcPts val="1213"/>
              </a:lnSpc>
            </a:pPr>
            <a:r>
              <a:rPr lang="en-US" sz="1010" b="true">
                <a:solidFill>
                  <a:srgbClr val="000000"/>
                </a:solidFill>
                <a:latin typeface="Quicksand Bold"/>
                <a:ea typeface="Quicksand Bold"/>
                <a:cs typeface="Quicksand Bold"/>
                <a:sym typeface="Quicksand Bold"/>
              </a:rPr>
              <a:t>3</a:t>
            </a:r>
            <a:r>
              <a:rPr lang="en-US" sz="1010" b="true">
                <a:solidFill>
                  <a:srgbClr val="000000"/>
                </a:solidFill>
                <a:latin typeface="Quicksand Bold"/>
                <a:ea typeface="Quicksand Bold"/>
                <a:cs typeface="Quicksand Bold"/>
                <a:sym typeface="Quicksand Bold"/>
              </a:rPr>
              <a:t>.</a:t>
            </a:r>
            <a:r>
              <a:rPr lang="en-US" sz="1010" b="true">
                <a:solidFill>
                  <a:srgbClr val="000000"/>
                </a:solidFill>
                <a:latin typeface="Quicksand Bold"/>
                <a:ea typeface="Quicksand Bold"/>
                <a:cs typeface="Quicksand Bold"/>
                <a:sym typeface="Quicksand Bold"/>
              </a:rPr>
              <a:t> Comments or</a:t>
            </a:r>
            <a:r>
              <a:rPr lang="en-US" sz="1010" b="true">
                <a:solidFill>
                  <a:srgbClr val="000000"/>
                </a:solidFill>
                <a:latin typeface="Quicksand Bold"/>
                <a:ea typeface="Quicksand Bold"/>
                <a:cs typeface="Quicksand Bold"/>
                <a:sym typeface="Quicksand Bold"/>
              </a:rPr>
              <a:t> Sugges</a:t>
            </a:r>
            <a:r>
              <a:rPr lang="en-US" sz="1010" b="true">
                <a:solidFill>
                  <a:srgbClr val="000000"/>
                </a:solidFill>
                <a:latin typeface="Quicksand Bold"/>
                <a:ea typeface="Quicksand Bold"/>
                <a:cs typeface="Quicksand Bold"/>
                <a:sym typeface="Quicksand Bold"/>
              </a:rPr>
              <a:t>ti</a:t>
            </a:r>
            <a:r>
              <a:rPr lang="en-US" sz="1010" b="true">
                <a:solidFill>
                  <a:srgbClr val="000000"/>
                </a:solidFill>
                <a:latin typeface="Quicksand Bold"/>
                <a:ea typeface="Quicksand Bold"/>
                <a:cs typeface="Quicksand Bold"/>
                <a:sym typeface="Quicksand Bold"/>
              </a:rPr>
              <a:t>ons to Impr</a:t>
            </a:r>
            <a:r>
              <a:rPr lang="en-US" sz="1010" b="true">
                <a:solidFill>
                  <a:srgbClr val="000000"/>
                </a:solidFill>
                <a:latin typeface="Quicksand Bold"/>
                <a:ea typeface="Quicksand Bold"/>
                <a:cs typeface="Quicksand Bold"/>
                <a:sym typeface="Quicksand Bold"/>
              </a:rPr>
              <a:t>ove</a:t>
            </a:r>
            <a:r>
              <a:rPr lang="en-US" sz="1010" b="true">
                <a:solidFill>
                  <a:srgbClr val="000000"/>
                </a:solidFill>
                <a:latin typeface="Quicksand Bold"/>
                <a:ea typeface="Quicksand Bold"/>
                <a:cs typeface="Quicksand Bold"/>
                <a:sym typeface="Quicksand Bold"/>
              </a:rPr>
              <a:t> the Prod</a:t>
            </a:r>
            <a:r>
              <a:rPr lang="en-US" sz="1010" b="true">
                <a:solidFill>
                  <a:srgbClr val="000000"/>
                </a:solidFill>
                <a:latin typeface="Quicksand Bold"/>
                <a:ea typeface="Quicksand Bold"/>
                <a:cs typeface="Quicksand Bold"/>
                <a:sym typeface="Quicksand Bold"/>
              </a:rPr>
              <a:t>uc</a:t>
            </a:r>
            <a:r>
              <a:rPr lang="en-US" sz="1010" b="true">
                <a:solidFill>
                  <a:srgbClr val="000000"/>
                </a:solidFill>
                <a:latin typeface="Quicksand Bold"/>
                <a:ea typeface="Quicksand Bold"/>
                <a:cs typeface="Quicksand Bold"/>
                <a:sym typeface="Quicksand Bold"/>
              </a:rPr>
              <a:t>t:</a:t>
            </a:r>
          </a:p>
          <a:p>
            <a:pPr algn="just" marL="218255" indent="-109128" lvl="1">
              <a:lnSpc>
                <a:spcPts val="1213"/>
              </a:lnSpc>
              <a:buFont typeface="Arial"/>
              <a:buChar char="•"/>
            </a:pPr>
            <a:r>
              <a:rPr lang="en-US" b="true" sz="1010">
                <a:solidFill>
                  <a:srgbClr val="757070"/>
                </a:solidFill>
                <a:latin typeface="Quicksand Bold"/>
                <a:ea typeface="Quicksand Bold"/>
                <a:cs typeface="Quicksand Bold"/>
                <a:sym typeface="Quicksand Bold"/>
              </a:rPr>
              <a:t>Add 24/7 emergency vet hotline inside the app.</a:t>
            </a:r>
          </a:p>
          <a:p>
            <a:pPr algn="just" marL="218255" indent="-109128" lvl="1">
              <a:lnSpc>
                <a:spcPts val="1213"/>
              </a:lnSpc>
              <a:buFont typeface="Arial"/>
              <a:buChar char="•"/>
            </a:pPr>
            <a:r>
              <a:rPr lang="en-US" b="true" sz="1010">
                <a:solidFill>
                  <a:srgbClr val="757070"/>
                </a:solidFill>
                <a:latin typeface="Quicksand Bold"/>
                <a:ea typeface="Quicksand Bold"/>
                <a:cs typeface="Quicksand Bold"/>
                <a:sym typeface="Quicksand Bold"/>
              </a:rPr>
              <a:t>Provide insurance coverage for pets during sitter services.</a:t>
            </a:r>
          </a:p>
          <a:p>
            <a:pPr algn="just" marL="218255" indent="-109128" lvl="1">
              <a:lnSpc>
                <a:spcPts val="1213"/>
              </a:lnSpc>
              <a:buFont typeface="Arial"/>
              <a:buChar char="•"/>
            </a:pPr>
            <a:r>
              <a:rPr lang="en-US" b="true" sz="1010">
                <a:solidFill>
                  <a:srgbClr val="757070"/>
                </a:solidFill>
                <a:latin typeface="Quicksand Bold"/>
                <a:ea typeface="Quicksand Bold"/>
                <a:cs typeface="Quicksand Bold"/>
                <a:sym typeface="Quicksand Bold"/>
              </a:rPr>
              <a:t>Offer subscription packages for frequent users (weekly walks, monthly grooming).</a:t>
            </a:r>
          </a:p>
          <a:p>
            <a:pPr algn="just" marL="218255" indent="-109128" lvl="1">
              <a:lnSpc>
                <a:spcPts val="1213"/>
              </a:lnSpc>
              <a:buFont typeface="Arial"/>
              <a:buChar char="•"/>
            </a:pPr>
            <a:r>
              <a:rPr lang="en-US" b="true" sz="1010">
                <a:solidFill>
                  <a:srgbClr val="757070"/>
                </a:solidFill>
                <a:latin typeface="Quicksand Bold"/>
                <a:ea typeface="Quicksand Bold"/>
                <a:cs typeface="Quicksand Bold"/>
                <a:sym typeface="Quicksand Bold"/>
              </a:rPr>
              <a:t>Expand marketplace with more affordable local brands.</a:t>
            </a:r>
          </a:p>
          <a:p>
            <a:pPr algn="just">
              <a:lnSpc>
                <a:spcPts val="1213"/>
              </a:lnSpc>
            </a:pPr>
          </a:p>
        </p:txBody>
      </p:sp>
      <p:sp>
        <p:nvSpPr>
          <p:cNvPr name="TextBox 12" id="12"/>
          <p:cNvSpPr txBox="true"/>
          <p:nvPr/>
        </p:nvSpPr>
        <p:spPr>
          <a:xfrm rot="0">
            <a:off x="819175" y="8699733"/>
            <a:ext cx="8005421" cy="761702"/>
          </a:xfrm>
          <a:prstGeom prst="rect">
            <a:avLst/>
          </a:prstGeom>
        </p:spPr>
        <p:txBody>
          <a:bodyPr anchor="t" rtlCol="false" tIns="0" lIns="0" bIns="0" rIns="0">
            <a:spAutoFit/>
          </a:bodyPr>
          <a:lstStyle/>
          <a:p>
            <a:pPr algn="just">
              <a:lnSpc>
                <a:spcPts val="1213"/>
              </a:lnSpc>
            </a:pPr>
            <a:r>
              <a:rPr lang="en-US" sz="1010" b="true">
                <a:solidFill>
                  <a:srgbClr val="000000"/>
                </a:solidFill>
                <a:latin typeface="Quicksand Bold"/>
                <a:ea typeface="Quicksand Bold"/>
                <a:cs typeface="Quicksand Bold"/>
                <a:sym typeface="Quicksand Bold"/>
              </a:rPr>
              <a:t>4</a:t>
            </a:r>
            <a:r>
              <a:rPr lang="en-US" sz="1010" b="true">
                <a:solidFill>
                  <a:srgbClr val="000000"/>
                </a:solidFill>
                <a:latin typeface="Quicksand Bold"/>
                <a:ea typeface="Quicksand Bold"/>
                <a:cs typeface="Quicksand Bold"/>
                <a:sym typeface="Quicksand Bold"/>
              </a:rPr>
              <a:t>.</a:t>
            </a:r>
            <a:r>
              <a:rPr lang="en-US" sz="1010" b="true">
                <a:solidFill>
                  <a:srgbClr val="000000"/>
                </a:solidFill>
                <a:latin typeface="Quicksand Bold"/>
                <a:ea typeface="Quicksand Bold"/>
                <a:cs typeface="Quicksand Bold"/>
                <a:sym typeface="Quicksand Bold"/>
              </a:rPr>
              <a:t> Will customers r</a:t>
            </a:r>
            <a:r>
              <a:rPr lang="en-US" sz="1010" b="true">
                <a:solidFill>
                  <a:srgbClr val="000000"/>
                </a:solidFill>
                <a:latin typeface="Quicksand Bold"/>
                <a:ea typeface="Quicksand Bold"/>
                <a:cs typeface="Quicksand Bold"/>
                <a:sym typeface="Quicksand Bold"/>
              </a:rPr>
              <a:t>ecommend the pr</a:t>
            </a:r>
            <a:r>
              <a:rPr lang="en-US" sz="1010" b="true">
                <a:solidFill>
                  <a:srgbClr val="000000"/>
                </a:solidFill>
                <a:latin typeface="Quicksand Bold"/>
                <a:ea typeface="Quicksand Bold"/>
                <a:cs typeface="Quicksand Bold"/>
                <a:sym typeface="Quicksand Bold"/>
              </a:rPr>
              <a:t>oduct</a:t>
            </a:r>
            <a:r>
              <a:rPr lang="en-US" sz="1010" b="true">
                <a:solidFill>
                  <a:srgbClr val="000000"/>
                </a:solidFill>
                <a:latin typeface="Quicksand Bold"/>
                <a:ea typeface="Quicksand Bold"/>
                <a:cs typeface="Quicksand Bold"/>
                <a:sym typeface="Quicksand Bold"/>
              </a:rPr>
              <a:t> to others? Why or why not?</a:t>
            </a:r>
          </a:p>
          <a:p>
            <a:pPr algn="just" marL="218255" indent="-109128" lvl="1">
              <a:lnSpc>
                <a:spcPts val="1213"/>
              </a:lnSpc>
              <a:buFont typeface="Arial"/>
              <a:buChar char="•"/>
            </a:pPr>
            <a:r>
              <a:rPr lang="en-US" b="true" sz="1010">
                <a:solidFill>
                  <a:srgbClr val="757070"/>
                </a:solidFill>
                <a:latin typeface="Quicksand Bold"/>
                <a:ea typeface="Quicksand Bold"/>
                <a:cs typeface="Quicksand Bold"/>
                <a:sym typeface="Quicksand Bold"/>
              </a:rPr>
              <a:t>Yes</a:t>
            </a:r>
            <a:r>
              <a:rPr lang="en-US" b="true" sz="1010">
                <a:solidFill>
                  <a:srgbClr val="757070"/>
                </a:solidFill>
                <a:latin typeface="Quicksand Bold"/>
                <a:ea typeface="Quicksand Bold"/>
                <a:cs typeface="Quicksand Bold"/>
                <a:sym typeface="Quicksand Bold"/>
              </a:rPr>
              <a:t> (32 respondents, 80%) – They see the app as helpful, innovative, and filling a gap in the market.</a:t>
            </a:r>
          </a:p>
          <a:p>
            <a:pPr algn="just" marL="436511" indent="-145504" lvl="2">
              <a:lnSpc>
                <a:spcPts val="1213"/>
              </a:lnSpc>
              <a:buFont typeface="Arial"/>
              <a:buChar char="⚬"/>
            </a:pPr>
            <a:r>
              <a:rPr lang="en-US" b="true" sz="1010">
                <a:solidFill>
                  <a:srgbClr val="757070"/>
                </a:solidFill>
                <a:latin typeface="Quicksand Bold"/>
                <a:ea typeface="Quicksand Bold"/>
                <a:cs typeface="Quicksand Bold"/>
                <a:sym typeface="Quicksand Bold"/>
              </a:rPr>
              <a:t>Reasons: Trustworthy sitters, convenience, and safe cashless payments.</a:t>
            </a:r>
          </a:p>
          <a:p>
            <a:pPr algn="just" marL="218255" indent="-109128" lvl="1">
              <a:lnSpc>
                <a:spcPts val="1213"/>
              </a:lnSpc>
              <a:buFont typeface="Arial"/>
              <a:buChar char="•"/>
            </a:pPr>
            <a:r>
              <a:rPr lang="en-US" b="true" sz="1010">
                <a:solidFill>
                  <a:srgbClr val="757070"/>
                </a:solidFill>
                <a:latin typeface="Quicksand Bold"/>
                <a:ea typeface="Quicksand Bold"/>
                <a:cs typeface="Quicksand Bold"/>
                <a:sym typeface="Quicksand Bold"/>
              </a:rPr>
              <a:t>No / Not Sure (8 respondents, 20%) – Mostly due to concerns on sitter reliability and app credibility (since it’s still new).</a:t>
            </a:r>
          </a:p>
          <a:p>
            <a:pPr algn="just">
              <a:lnSpc>
                <a:spcPts val="1213"/>
              </a:lnSpc>
            </a:pPr>
          </a:p>
        </p:txBody>
      </p:sp>
      <p:sp>
        <p:nvSpPr>
          <p:cNvPr name="TextBox 13" id="13"/>
          <p:cNvSpPr txBox="true"/>
          <p:nvPr/>
        </p:nvSpPr>
        <p:spPr>
          <a:xfrm rot="0">
            <a:off x="9357663" y="1260774"/>
            <a:ext cx="1707499" cy="368822"/>
          </a:xfrm>
          <a:prstGeom prst="rect">
            <a:avLst/>
          </a:prstGeom>
        </p:spPr>
        <p:txBody>
          <a:bodyPr anchor="t" rtlCol="false" tIns="0" lIns="0" bIns="0" rIns="0">
            <a:spAutoFit/>
          </a:bodyPr>
          <a:lstStyle/>
          <a:p>
            <a:pPr algn="ctr">
              <a:lnSpc>
                <a:spcPts val="2987"/>
              </a:lnSpc>
              <a:spcBef>
                <a:spcPct val="0"/>
              </a:spcBef>
            </a:pPr>
            <a:r>
              <a:rPr lang="en-US" b="true" sz="2489">
                <a:solidFill>
                  <a:srgbClr val="000000"/>
                </a:solidFill>
                <a:latin typeface="Quicksand Bold"/>
                <a:ea typeface="Quicksand Bold"/>
                <a:cs typeface="Quicksand Bold"/>
                <a:sym typeface="Quicksand Bold"/>
              </a:rPr>
              <a:t>Conclusion:</a:t>
            </a:r>
          </a:p>
        </p:txBody>
      </p:sp>
      <p:sp>
        <p:nvSpPr>
          <p:cNvPr name="TextBox 14" id="14"/>
          <p:cNvSpPr txBox="true"/>
          <p:nvPr/>
        </p:nvSpPr>
        <p:spPr>
          <a:xfrm rot="0">
            <a:off x="9357663" y="1793537"/>
            <a:ext cx="8110928" cy="2228850"/>
          </a:xfrm>
          <a:prstGeom prst="rect">
            <a:avLst/>
          </a:prstGeom>
        </p:spPr>
        <p:txBody>
          <a:bodyPr anchor="t" rtlCol="false" tIns="0" lIns="0" bIns="0" rIns="0">
            <a:spAutoFit/>
          </a:bodyPr>
          <a:lstStyle/>
          <a:p>
            <a:pPr algn="just">
              <a:lnSpc>
                <a:spcPts val="2987"/>
              </a:lnSpc>
            </a:pPr>
            <a:r>
              <a:rPr lang="en-US" sz="2489" b="true">
                <a:solidFill>
                  <a:srgbClr val="000000"/>
                </a:solidFill>
                <a:latin typeface="Quicksand Bold"/>
                <a:ea typeface="Quicksand Bold"/>
                <a:cs typeface="Quicksand Bold"/>
                <a:sym typeface="Quicksand Bold"/>
              </a:rPr>
              <a:t>Persevere - </a:t>
            </a:r>
            <a:r>
              <a:rPr lang="en-US" sz="2489" b="true">
                <a:solidFill>
                  <a:srgbClr val="757070"/>
                </a:solidFill>
                <a:latin typeface="Quicksand Bold"/>
                <a:ea typeface="Quicksand Bold"/>
                <a:cs typeface="Quicksand Bold"/>
                <a:sym typeface="Quicksand Bold"/>
              </a:rPr>
              <a:t>The results showed strong customer interest (85% willing to buy, 80% willing to recommend) and openness to the proposed service fee. This validates that our MVP has a promising product–market fit.</a:t>
            </a:r>
          </a:p>
          <a:p>
            <a:pPr algn="just">
              <a:lnSpc>
                <a:spcPts val="2987"/>
              </a:lnSpc>
              <a:spcBef>
                <a:spcPct val="0"/>
              </a:spcBef>
            </a:pPr>
            <a:r>
              <a:rPr lang="en-US" b="true" sz="2489">
                <a:solidFill>
                  <a:srgbClr val="757070"/>
                </a:solidFill>
                <a:latin typeface="Quicksand Bold"/>
                <a:ea typeface="Quicksand Bold"/>
                <a:cs typeface="Quicksand Bold"/>
                <a:sym typeface="Quicksand Bold"/>
              </a:rPr>
              <a:t> </a:t>
            </a:r>
          </a:p>
        </p:txBody>
      </p:sp>
      <p:sp>
        <p:nvSpPr>
          <p:cNvPr name="TextBox 15" id="15"/>
          <p:cNvSpPr txBox="true"/>
          <p:nvPr/>
        </p:nvSpPr>
        <p:spPr>
          <a:xfrm rot="0">
            <a:off x="9357663" y="6023744"/>
            <a:ext cx="8110928" cy="1637764"/>
          </a:xfrm>
          <a:prstGeom prst="rect">
            <a:avLst/>
          </a:prstGeom>
        </p:spPr>
        <p:txBody>
          <a:bodyPr anchor="t" rtlCol="false" tIns="0" lIns="0" bIns="0" rIns="0">
            <a:spAutoFit/>
          </a:bodyPr>
          <a:lstStyle/>
          <a:p>
            <a:pPr algn="just">
              <a:lnSpc>
                <a:spcPts val="1427"/>
              </a:lnSpc>
            </a:pPr>
            <a:r>
              <a:rPr lang="en-US" sz="1189" b="true">
                <a:solidFill>
                  <a:srgbClr val="000000"/>
                </a:solidFill>
                <a:latin typeface="Quicksand Bold"/>
                <a:ea typeface="Quicksand Bold"/>
                <a:cs typeface="Quicksand Bold"/>
                <a:sym typeface="Quicksand Bold"/>
              </a:rPr>
              <a:t>Realizations / Insights:</a:t>
            </a:r>
          </a:p>
          <a:p>
            <a:pPr algn="just" marL="256883" indent="-128441" lvl="1">
              <a:lnSpc>
                <a:spcPts val="1427"/>
              </a:lnSpc>
              <a:buFont typeface="Arial"/>
              <a:buChar char="•"/>
            </a:pPr>
            <a:r>
              <a:rPr lang="en-US" b="true" sz="1189">
                <a:solidFill>
                  <a:srgbClr val="757070"/>
                </a:solidFill>
                <a:latin typeface="Quicksand Bold"/>
                <a:ea typeface="Quicksand Bold"/>
                <a:cs typeface="Quicksand Bold"/>
                <a:sym typeface="Quicksand Bold"/>
              </a:rPr>
              <a:t>Pet owners are highly concerned with safety and trust, so sitter verification and background checks are essential.</a:t>
            </a:r>
          </a:p>
          <a:p>
            <a:pPr algn="just" marL="256883" indent="-128441" lvl="1">
              <a:lnSpc>
                <a:spcPts val="1427"/>
              </a:lnSpc>
              <a:buFont typeface="Arial"/>
              <a:buChar char="•"/>
            </a:pPr>
            <a:r>
              <a:rPr lang="en-US" b="true" sz="1189">
                <a:solidFill>
                  <a:srgbClr val="757070"/>
                </a:solidFill>
                <a:latin typeface="Quicksand Bold"/>
                <a:ea typeface="Quicksand Bold"/>
                <a:cs typeface="Quicksand Bold"/>
                <a:sym typeface="Quicksand Bold"/>
              </a:rPr>
              <a:t>Customers are price-sensitive for shorter services, suggesting the need for flexible or tiered pricing models.</a:t>
            </a:r>
          </a:p>
          <a:p>
            <a:pPr algn="just" marL="256883" indent="-128441" lvl="1">
              <a:lnSpc>
                <a:spcPts val="1427"/>
              </a:lnSpc>
              <a:buFont typeface="Arial"/>
              <a:buChar char="•"/>
            </a:pPr>
            <a:r>
              <a:rPr lang="en-US" b="true" sz="1189">
                <a:solidFill>
                  <a:srgbClr val="757070"/>
                </a:solidFill>
                <a:latin typeface="Quicksand Bold"/>
                <a:ea typeface="Quicksand Bold"/>
                <a:cs typeface="Quicksand Bold"/>
                <a:sym typeface="Quicksand Bold"/>
              </a:rPr>
              <a:t>The marketplace for pet products adds extra value but should feature affordable, local brands to appeal to Filipino consumers.</a:t>
            </a:r>
          </a:p>
          <a:p>
            <a:pPr algn="just" marL="256883" indent="-128441" lvl="1">
              <a:lnSpc>
                <a:spcPts val="1427"/>
              </a:lnSpc>
              <a:buFont typeface="Arial"/>
              <a:buChar char="•"/>
            </a:pPr>
            <a:r>
              <a:rPr lang="en-US" b="true" sz="1189">
                <a:solidFill>
                  <a:srgbClr val="757070"/>
                </a:solidFill>
                <a:latin typeface="Quicksand Bold"/>
                <a:ea typeface="Quicksand Bold"/>
                <a:cs typeface="Quicksand Bold"/>
                <a:sym typeface="Quicksand Bold"/>
              </a:rPr>
              <a:t>Many respondents see the product as unique and innovative, filling a real gap in pet care services.</a:t>
            </a:r>
          </a:p>
          <a:p>
            <a:pPr algn="just">
              <a:lnSpc>
                <a:spcPts val="1427"/>
              </a:lnSpc>
              <a:spcBef>
                <a:spcPct val="0"/>
              </a:spcBef>
            </a:pPr>
          </a:p>
        </p:txBody>
      </p:sp>
      <p:sp>
        <p:nvSpPr>
          <p:cNvPr name="TextBox 16" id="16"/>
          <p:cNvSpPr txBox="true"/>
          <p:nvPr/>
        </p:nvSpPr>
        <p:spPr>
          <a:xfrm rot="0">
            <a:off x="9357663" y="7752531"/>
            <a:ext cx="8110928" cy="1818680"/>
          </a:xfrm>
          <a:prstGeom prst="rect">
            <a:avLst/>
          </a:prstGeom>
        </p:spPr>
        <p:txBody>
          <a:bodyPr anchor="t" rtlCol="false" tIns="0" lIns="0" bIns="0" rIns="0">
            <a:spAutoFit/>
          </a:bodyPr>
          <a:lstStyle/>
          <a:p>
            <a:pPr algn="just">
              <a:lnSpc>
                <a:spcPts val="1427"/>
              </a:lnSpc>
            </a:pPr>
            <a:r>
              <a:rPr lang="en-US" sz="1189" b="true">
                <a:solidFill>
                  <a:srgbClr val="000000"/>
                </a:solidFill>
                <a:latin typeface="Quicksand Bold"/>
                <a:ea typeface="Quicksand Bold"/>
                <a:cs typeface="Quicksand Bold"/>
                <a:sym typeface="Quicksand Bold"/>
              </a:rPr>
              <a:t>Next Steps:</a:t>
            </a:r>
          </a:p>
          <a:p>
            <a:pPr algn="just" marL="256883" indent="-128441" lvl="1">
              <a:lnSpc>
                <a:spcPts val="1427"/>
              </a:lnSpc>
              <a:buAutoNum type="arabicPeriod" startAt="1"/>
            </a:pPr>
            <a:r>
              <a:rPr lang="en-US" b="true" sz="1189">
                <a:solidFill>
                  <a:srgbClr val="757070"/>
                </a:solidFill>
                <a:latin typeface="Quicksand Bold"/>
                <a:ea typeface="Quicksand Bold"/>
                <a:cs typeface="Quicksand Bold"/>
                <a:sym typeface="Quicksand Bold"/>
              </a:rPr>
              <a:t>Refine Features – strengthen sitter verification, explore pet insurance options, and add subscription packages.</a:t>
            </a:r>
          </a:p>
          <a:p>
            <a:pPr algn="just" marL="256883" indent="-128441" lvl="1">
              <a:lnSpc>
                <a:spcPts val="1427"/>
              </a:lnSpc>
              <a:buAutoNum type="arabicPeriod" startAt="1"/>
            </a:pPr>
            <a:r>
              <a:rPr lang="en-US" b="true" sz="1189">
                <a:solidFill>
                  <a:srgbClr val="757070"/>
                </a:solidFill>
                <a:latin typeface="Quicksand Bold"/>
                <a:ea typeface="Quicksand Bold"/>
                <a:cs typeface="Quicksand Bold"/>
                <a:sym typeface="Quicksand Bold"/>
              </a:rPr>
              <a:t>Pilot Launch – release the MVP in Metro Manila first to test adoption and operations.</a:t>
            </a:r>
          </a:p>
          <a:p>
            <a:pPr algn="just" marL="256883" indent="-128441" lvl="1">
              <a:lnSpc>
                <a:spcPts val="1427"/>
              </a:lnSpc>
              <a:buAutoNum type="arabicPeriod" startAt="1"/>
            </a:pPr>
            <a:r>
              <a:rPr lang="en-US" b="true" sz="1189">
                <a:solidFill>
                  <a:srgbClr val="757070"/>
                </a:solidFill>
                <a:latin typeface="Quicksand Bold"/>
                <a:ea typeface="Quicksand Bold"/>
                <a:cs typeface="Quicksand Bold"/>
                <a:sym typeface="Quicksand Bold"/>
              </a:rPr>
              <a:t>Partnerships – collaborate with veterinary clinics, grooming salons, and pet stores to build trust and visibility.</a:t>
            </a:r>
          </a:p>
          <a:p>
            <a:pPr algn="just" marL="256883" indent="-128441" lvl="1">
              <a:lnSpc>
                <a:spcPts val="1427"/>
              </a:lnSpc>
              <a:buAutoNum type="arabicPeriod" startAt="1"/>
            </a:pPr>
            <a:r>
              <a:rPr lang="en-US" b="true" sz="1189">
                <a:solidFill>
                  <a:srgbClr val="757070"/>
                </a:solidFill>
                <a:latin typeface="Quicksand Bold"/>
                <a:ea typeface="Quicksand Bold"/>
                <a:cs typeface="Quicksand Bold"/>
                <a:sym typeface="Quicksand Bold"/>
              </a:rPr>
              <a:t>M</a:t>
            </a:r>
            <a:r>
              <a:rPr lang="en-US" b="true" sz="1189">
                <a:solidFill>
                  <a:srgbClr val="757070"/>
                </a:solidFill>
                <a:latin typeface="Quicksand Bold"/>
                <a:ea typeface="Quicksand Bold"/>
                <a:cs typeface="Quicksand Bold"/>
                <a:sym typeface="Quicksand Bold"/>
              </a:rPr>
              <a:t>arketing Campaign – focus on social media pet communities, influencer collaborations, and referral programs.</a:t>
            </a:r>
          </a:p>
          <a:p>
            <a:pPr algn="just" marL="256883" indent="-128441" lvl="1">
              <a:lnSpc>
                <a:spcPts val="1427"/>
              </a:lnSpc>
              <a:buAutoNum type="arabicPeriod" startAt="1"/>
            </a:pPr>
            <a:r>
              <a:rPr lang="en-US" b="true" sz="1189">
                <a:solidFill>
                  <a:srgbClr val="757070"/>
                </a:solidFill>
                <a:latin typeface="Quicksand Bold"/>
                <a:ea typeface="Quicksand Bold"/>
                <a:cs typeface="Quicksand Bold"/>
                <a:sym typeface="Quicksand Bold"/>
              </a:rPr>
              <a:t>C</a:t>
            </a:r>
            <a:r>
              <a:rPr lang="en-US" b="true" sz="1189">
                <a:solidFill>
                  <a:srgbClr val="757070"/>
                </a:solidFill>
                <a:latin typeface="Quicksand Bold"/>
                <a:ea typeface="Quicksand Bold"/>
                <a:cs typeface="Quicksand Bold"/>
                <a:sym typeface="Quicksand Bold"/>
              </a:rPr>
              <a:t>ollect Feedback – continue surveys, user testing, and in-app feedback to guide iteration.</a:t>
            </a:r>
          </a:p>
          <a:p>
            <a:pPr algn="just">
              <a:lnSpc>
                <a:spcPts val="1427"/>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858024" y="111725"/>
            <a:ext cx="2905267" cy="916975"/>
            <a:chOff x="0" y="0"/>
            <a:chExt cx="3873689" cy="1222633"/>
          </a:xfrm>
        </p:grpSpPr>
        <p:sp>
          <p:nvSpPr>
            <p:cNvPr name="Freeform 3" id="3"/>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2"/>
              <a:stretch>
                <a:fillRect l="0" t="0" r="-1" b="0"/>
              </a:stretch>
            </a:blipFill>
          </p:spPr>
        </p:sp>
      </p:grpSp>
      <p:graphicFrame>
        <p:nvGraphicFramePr>
          <p:cNvPr name="Object 4" id="4"/>
          <p:cNvGraphicFramePr/>
          <p:nvPr/>
        </p:nvGraphicFramePr>
        <p:xfrm>
          <a:off x="605319" y="1028700"/>
          <a:ext cx="5657850" cy="4400550"/>
        </p:xfrm>
        <a:graphic>
          <a:graphicData uri="http://schemas.openxmlformats.org/presentationml/2006/ole">
            <p:oleObj imgW="6781800" imgH="5524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5" id="5"/>
          <p:cNvGraphicFramePr/>
          <p:nvPr/>
        </p:nvGraphicFramePr>
        <p:xfrm>
          <a:off x="5666963" y="1028700"/>
          <a:ext cx="5657850" cy="4400550"/>
        </p:xfrm>
        <a:graphic>
          <a:graphicData uri="http://schemas.openxmlformats.org/presentationml/2006/ole">
            <p:oleObj imgW="6781800" imgH="55245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aphicFrame>
        <p:nvGraphicFramePr>
          <p:cNvPr name="Object 6" id="6"/>
          <p:cNvGraphicFramePr/>
          <p:nvPr/>
        </p:nvGraphicFramePr>
        <p:xfrm>
          <a:off x="605319" y="5618135"/>
          <a:ext cx="5657850" cy="4400550"/>
        </p:xfrm>
        <a:graphic>
          <a:graphicData uri="http://schemas.openxmlformats.org/presentationml/2006/ole">
            <p:oleObj imgW="6781800" imgH="55245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graphicFrame>
        <p:nvGraphicFramePr>
          <p:cNvPr name="Object 7" id="7"/>
          <p:cNvGraphicFramePr/>
          <p:nvPr/>
        </p:nvGraphicFramePr>
        <p:xfrm>
          <a:off x="5666963" y="5618135"/>
          <a:ext cx="5657850" cy="3771900"/>
        </p:xfrm>
        <a:graphic>
          <a:graphicData uri="http://schemas.openxmlformats.org/presentationml/2006/ole">
            <p:oleObj imgW="6781800" imgH="49022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graphicFrame>
        <p:nvGraphicFramePr>
          <p:cNvPr name="Object 8" id="8"/>
          <p:cNvGraphicFramePr/>
          <p:nvPr/>
        </p:nvGraphicFramePr>
        <p:xfrm>
          <a:off x="11326866" y="4768742"/>
          <a:ext cx="5657850" cy="5657850"/>
        </p:xfrm>
        <a:graphic>
          <a:graphicData uri="http://schemas.openxmlformats.org/presentationml/2006/ole">
            <p:oleObj imgW="6781800" imgH="6781800" r:id="rId12" progId="Excel.Sheet.12" name="Worksheet">
              <p:embed/>
              <p:pic>
                <p:nvPicPr>
                  <p:cNvPr name="" id="0"/>
                  <p:cNvPicPr/>
                  <p:nvPr/>
                </p:nvPicPr>
                <p:blipFill>
                  <a:blip r:embed="rId11"/>
                  <a:stretch>
                    <a:fillRect/>
                  </a:stretch>
                </p:blipFill>
                <p:spPr>
                  <a:xfrm>
                    <a:off x="1270000" y="1270000"/>
                    <a:ext cx="1270000" cy="1270000"/>
                  </a:xfrm>
                  <a:prstGeom prst="rect"/>
                </p:spPr>
              </p:pic>
            </p:oleObj>
          </a:graphicData>
        </a:graphic>
      </p:graphicFrame>
      <p:graphicFrame>
        <p:nvGraphicFramePr>
          <p:cNvPr name="Object 9" id="9"/>
          <p:cNvGraphicFramePr/>
          <p:nvPr/>
        </p:nvGraphicFramePr>
        <p:xfrm>
          <a:off x="11426231" y="1028700"/>
          <a:ext cx="9301162" cy="4914614"/>
        </p:xfrm>
        <a:graphic>
          <a:graphicData uri="http://schemas.openxmlformats.org/presentationml/2006/ole">
            <p:oleObj imgW="11163300" imgH="6769100" r:id="rId14" progId="Excel.Sheet.12" name="Worksheet">
              <p:embed/>
              <p:pic>
                <p:nvPicPr>
                  <p:cNvPr name="" id="0"/>
                  <p:cNvPicPr/>
                  <p:nvPr/>
                </p:nvPicPr>
                <p:blipFill>
                  <a:blip r:embed="rId13"/>
                  <a:stretch>
                    <a:fillRect/>
                  </a:stretch>
                </p:blipFill>
                <p:spPr>
                  <a:xfrm>
                    <a:off x="1270000" y="1270000"/>
                    <a:ext cx="1270000" cy="1270000"/>
                  </a:xfrm>
                  <a:prstGeom prst="rect"/>
                </p:spPr>
              </p:pic>
            </p:oleObj>
          </a:graphicData>
        </a:graphic>
      </p:graphicFrame>
      <p:sp>
        <p:nvSpPr>
          <p:cNvPr name="TextBox 10" id="10"/>
          <p:cNvSpPr txBox="true"/>
          <p:nvPr/>
        </p:nvSpPr>
        <p:spPr>
          <a:xfrm rot="0">
            <a:off x="0" y="242260"/>
            <a:ext cx="8997806" cy="655906"/>
          </a:xfrm>
          <a:prstGeom prst="rect">
            <a:avLst/>
          </a:prstGeom>
        </p:spPr>
        <p:txBody>
          <a:bodyPr anchor="t" rtlCol="false" tIns="0" lIns="0" bIns="0" rIns="0">
            <a:spAutoFit/>
          </a:bodyPr>
          <a:lstStyle/>
          <a:p>
            <a:pPr algn="ctr">
              <a:lnSpc>
                <a:spcPts val="5182"/>
              </a:lnSpc>
              <a:spcBef>
                <a:spcPct val="0"/>
              </a:spcBef>
            </a:pPr>
            <a:r>
              <a:rPr lang="en-US" b="true" sz="4319">
                <a:solidFill>
                  <a:srgbClr val="000000"/>
                </a:solidFill>
                <a:latin typeface="Quicksand Bold"/>
                <a:ea typeface="Quicksand Bold"/>
                <a:cs typeface="Quicksand Bold"/>
                <a:sym typeface="Quicksand Bold"/>
              </a:rPr>
              <a:t>Financial Breakdown and Plan</a:t>
            </a:r>
          </a:p>
        </p:txBody>
      </p:sp>
      <p:sp>
        <p:nvSpPr>
          <p:cNvPr name="TextBox 11" id="11"/>
          <p:cNvSpPr txBox="true"/>
          <p:nvPr/>
        </p:nvSpPr>
        <p:spPr>
          <a:xfrm rot="0">
            <a:off x="11095411" y="405906"/>
            <a:ext cx="1919288" cy="328612"/>
          </a:xfrm>
          <a:prstGeom prst="rect">
            <a:avLst/>
          </a:prstGeom>
        </p:spPr>
        <p:txBody>
          <a:bodyPr anchor="t" rtlCol="false" tIns="0" lIns="0" bIns="0" rIns="0">
            <a:spAutoFit/>
          </a:bodyPr>
          <a:lstStyle/>
          <a:p>
            <a:pPr algn="ctr">
              <a:lnSpc>
                <a:spcPts val="2591"/>
              </a:lnSpc>
              <a:spcBef>
                <a:spcPct val="0"/>
              </a:spcBef>
            </a:pPr>
            <a:r>
              <a:rPr lang="en-US" b="true" sz="2159">
                <a:solidFill>
                  <a:srgbClr val="000000"/>
                </a:solidFill>
                <a:latin typeface="Quicksand Bold"/>
                <a:ea typeface="Quicksand Bold"/>
                <a:cs typeface="Quicksand Bold"/>
                <a:sym typeface="Quicksand Bold"/>
              </a:rPr>
              <a:t>Variable </a:t>
            </a:r>
            <a:r>
              <a:rPr lang="en-US" b="true" sz="2159">
                <a:solidFill>
                  <a:srgbClr val="000000"/>
                </a:solidFill>
                <a:latin typeface="Quicksand Bold"/>
                <a:ea typeface="Quicksand Bold"/>
                <a:cs typeface="Quicksand Bold"/>
                <a:sym typeface="Quicksand Bold"/>
              </a:rPr>
              <a:t>Costs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858024" y="111725"/>
            <a:ext cx="2905267" cy="916975"/>
            <a:chOff x="0" y="0"/>
            <a:chExt cx="3873689" cy="1222633"/>
          </a:xfrm>
        </p:grpSpPr>
        <p:sp>
          <p:nvSpPr>
            <p:cNvPr name="Freeform 3" id="3"/>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2"/>
              <a:stretch>
                <a:fillRect l="0" t="0" r="-1" b="0"/>
              </a:stretch>
            </a:blipFill>
          </p:spPr>
        </p:sp>
      </p:grpSp>
      <p:graphicFrame>
        <p:nvGraphicFramePr>
          <p:cNvPr name="Table 4" id="4"/>
          <p:cNvGraphicFramePr>
            <a:graphicFrameLocks noGrp="true"/>
          </p:cNvGraphicFramePr>
          <p:nvPr/>
        </p:nvGraphicFramePr>
        <p:xfrm>
          <a:off x="1871099" y="3119804"/>
          <a:ext cx="13427773" cy="4584102"/>
        </p:xfrm>
        <a:graphic>
          <a:graphicData uri="http://schemas.openxmlformats.org/drawingml/2006/table">
            <a:tbl>
              <a:tblPr/>
              <a:tblGrid>
                <a:gridCol w="4475924"/>
                <a:gridCol w="4475924"/>
                <a:gridCol w="4475924"/>
              </a:tblGrid>
              <a:tr h="919936">
                <a:tc>
                  <a:txBody>
                    <a:bodyPr anchor="t" rtlCol="false"/>
                    <a:lstStyle/>
                    <a:p>
                      <a:pPr algn="ctr">
                        <a:lnSpc>
                          <a:spcPts val="2940"/>
                        </a:lnSpc>
                        <a:defRPr/>
                      </a:pPr>
                      <a:r>
                        <a:rPr lang="en-US" sz="2100" b="true">
                          <a:solidFill>
                            <a:srgbClr val="000000"/>
                          </a:solidFill>
                          <a:latin typeface="Quicksand Bold"/>
                          <a:ea typeface="Quicksand Bold"/>
                          <a:cs typeface="Quicksand Bold"/>
                          <a:sym typeface="Quicksand Bold"/>
                        </a:rPr>
                        <a:t>Platform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Quicksand Bold"/>
                          <a:ea typeface="Quicksand Bold"/>
                          <a:cs typeface="Quicksand Bold"/>
                          <a:sym typeface="Quicksand Bold"/>
                        </a:rPr>
                        <a:t>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Quicksand Bold"/>
                          <a:ea typeface="Quicksand Bold"/>
                          <a:cs typeface="Quicksand Bold"/>
                          <a:sym typeface="Quicksand Bold"/>
                        </a:rPr>
                        <a:t>Sample Content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87347">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r>
                        <a:rPr lang="en-US" sz="1499">
                          <a:solidFill>
                            <a:srgbClr val="000000"/>
                          </a:solidFill>
                          <a:latin typeface="Canva Sans"/>
                          <a:ea typeface="Canva Sans"/>
                          <a:cs typeface="Canva Sans"/>
                          <a:sym typeface="Canva Sans"/>
                        </a:rPr>
                        <a:t>Primary community hub; run targeted ads for pet owners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Quicksand"/>
                          <a:ea typeface="Quicksand"/>
                          <a:cs typeface="Quicksand"/>
                          <a:sym typeface="Quicksand"/>
                        </a:rPr>
                        <a:t>Pet care tips, sitter highlights, customer stories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2376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Quicksand"/>
                          <a:ea typeface="Quicksand"/>
                          <a:cs typeface="Quicksand"/>
                          <a:sym typeface="Quicksand"/>
                        </a:rPr>
                        <a:t>Visual storytelling platform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Quicksand"/>
                          <a:ea typeface="Quicksand"/>
                          <a:cs typeface="Quicksand"/>
                          <a:sym typeface="Quicksand"/>
                        </a:rPr>
                        <a:t>Reels of happy pets, sitter experiences, feature promos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305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Quicksand"/>
                          <a:ea typeface="Quicksand"/>
                          <a:cs typeface="Quicksand"/>
                          <a:sym typeface="Quicksand"/>
                        </a:rPr>
                        <a:t>Reach younger audience through fun short-form content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Quicksand"/>
                          <a:ea typeface="Quicksand"/>
                          <a:cs typeface="Quicksand"/>
                          <a:sym typeface="Quicksand"/>
                        </a:rPr>
                        <a:t>Quick pet hacks, funny clips with mascot, sitter intros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5" id="5"/>
          <p:cNvSpPr/>
          <p:nvPr/>
        </p:nvSpPr>
        <p:spPr>
          <a:xfrm flipH="false" flipV="false" rot="0">
            <a:off x="3683421" y="4120896"/>
            <a:ext cx="884523" cy="884523"/>
          </a:xfrm>
          <a:custGeom>
            <a:avLst/>
            <a:gdLst/>
            <a:ahLst/>
            <a:cxnLst/>
            <a:rect r="r" b="b" t="t" l="l"/>
            <a:pathLst>
              <a:path h="884523" w="884523">
                <a:moveTo>
                  <a:pt x="0" y="0"/>
                </a:moveTo>
                <a:lnTo>
                  <a:pt x="884523" y="0"/>
                </a:lnTo>
                <a:lnTo>
                  <a:pt x="884523" y="884522"/>
                </a:lnTo>
                <a:lnTo>
                  <a:pt x="0" y="8845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742265" y="5411855"/>
            <a:ext cx="766835" cy="766835"/>
          </a:xfrm>
          <a:custGeom>
            <a:avLst/>
            <a:gdLst/>
            <a:ahLst/>
            <a:cxnLst/>
            <a:rect r="r" b="b" t="t" l="l"/>
            <a:pathLst>
              <a:path h="766835" w="766835">
                <a:moveTo>
                  <a:pt x="0" y="0"/>
                </a:moveTo>
                <a:lnTo>
                  <a:pt x="766835" y="0"/>
                </a:lnTo>
                <a:lnTo>
                  <a:pt x="766835" y="766835"/>
                </a:lnTo>
                <a:lnTo>
                  <a:pt x="0" y="766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3631364" y="6588265"/>
            <a:ext cx="988636" cy="988636"/>
          </a:xfrm>
          <a:custGeom>
            <a:avLst/>
            <a:gdLst/>
            <a:ahLst/>
            <a:cxnLst/>
            <a:rect r="r" b="b" t="t" l="l"/>
            <a:pathLst>
              <a:path h="988636" w="988636">
                <a:moveTo>
                  <a:pt x="0" y="0"/>
                </a:moveTo>
                <a:lnTo>
                  <a:pt x="988636" y="0"/>
                </a:lnTo>
                <a:lnTo>
                  <a:pt x="988636" y="988636"/>
                </a:lnTo>
                <a:lnTo>
                  <a:pt x="0" y="9886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724929" y="241600"/>
            <a:ext cx="7133703" cy="657225"/>
          </a:xfrm>
          <a:prstGeom prst="rect">
            <a:avLst/>
          </a:prstGeom>
        </p:spPr>
        <p:txBody>
          <a:bodyPr anchor="t" rtlCol="false" tIns="0" lIns="0" bIns="0" rIns="0">
            <a:spAutoFit/>
          </a:bodyPr>
          <a:lstStyle/>
          <a:p>
            <a:pPr algn="l">
              <a:lnSpc>
                <a:spcPts val="5182"/>
              </a:lnSpc>
              <a:spcBef>
                <a:spcPct val="0"/>
              </a:spcBef>
            </a:pPr>
            <a:r>
              <a:rPr lang="en-US" b="true" sz="4319">
                <a:solidFill>
                  <a:srgbClr val="000000"/>
                </a:solidFill>
                <a:latin typeface="Quicksand Bold"/>
                <a:ea typeface="Quicksand Bold"/>
                <a:cs typeface="Quicksand Bold"/>
                <a:sym typeface="Quicksand Bold"/>
              </a:rPr>
              <a:t>Go-to-Market Strategy</a:t>
            </a:r>
          </a:p>
        </p:txBody>
      </p:sp>
      <p:sp>
        <p:nvSpPr>
          <p:cNvPr name="TextBox 9" id="9"/>
          <p:cNvSpPr txBox="true"/>
          <p:nvPr/>
        </p:nvSpPr>
        <p:spPr>
          <a:xfrm rot="0">
            <a:off x="724929" y="1568829"/>
            <a:ext cx="7133703" cy="476250"/>
          </a:xfrm>
          <a:prstGeom prst="rect">
            <a:avLst/>
          </a:prstGeom>
        </p:spPr>
        <p:txBody>
          <a:bodyPr anchor="t" rtlCol="false" tIns="0" lIns="0" bIns="0" rIns="0">
            <a:spAutoFit/>
          </a:bodyPr>
          <a:lstStyle/>
          <a:p>
            <a:pPr algn="l">
              <a:lnSpc>
                <a:spcPts val="3840"/>
              </a:lnSpc>
              <a:spcBef>
                <a:spcPct val="0"/>
              </a:spcBef>
            </a:pPr>
            <a:r>
              <a:rPr lang="en-US" b="true" sz="3200">
                <a:solidFill>
                  <a:srgbClr val="000000"/>
                </a:solidFill>
                <a:latin typeface="Quicksand Bold"/>
                <a:ea typeface="Quicksand Bold"/>
                <a:cs typeface="Quicksand Bold"/>
                <a:sym typeface="Quicksand Bold"/>
              </a:rPr>
              <a:t>Social Media Presence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858024" y="111725"/>
            <a:ext cx="2905267" cy="916975"/>
            <a:chOff x="0" y="0"/>
            <a:chExt cx="3873689" cy="1222633"/>
          </a:xfrm>
        </p:grpSpPr>
        <p:sp>
          <p:nvSpPr>
            <p:cNvPr name="Freeform 3" id="3"/>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2"/>
              <a:stretch>
                <a:fillRect l="0" t="0" r="-1" b="0"/>
              </a:stretch>
            </a:blipFill>
          </p:spPr>
        </p:sp>
      </p:grpSp>
      <p:pic>
        <p:nvPicPr>
          <p:cNvPr name="Picture 4" id="4">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2592337" y="2406353"/>
            <a:ext cx="13103325" cy="6851947"/>
          </a:xfrm>
          <a:prstGeom prst="rect">
            <a:avLst/>
          </a:prstGeom>
          <a:ln w="38100" cap="sq">
            <a:solidFill>
              <a:srgbClr val="000000"/>
            </a:solidFill>
            <a:prstDash val="solid"/>
          </a:ln>
        </p:spPr>
      </p:pic>
      <p:sp>
        <p:nvSpPr>
          <p:cNvPr name="TextBox 5" id="5"/>
          <p:cNvSpPr txBox="true"/>
          <p:nvPr/>
        </p:nvSpPr>
        <p:spPr>
          <a:xfrm rot="0">
            <a:off x="724929" y="241600"/>
            <a:ext cx="7133703" cy="657225"/>
          </a:xfrm>
          <a:prstGeom prst="rect">
            <a:avLst/>
          </a:prstGeom>
        </p:spPr>
        <p:txBody>
          <a:bodyPr anchor="t" rtlCol="false" tIns="0" lIns="0" bIns="0" rIns="0">
            <a:spAutoFit/>
          </a:bodyPr>
          <a:lstStyle/>
          <a:p>
            <a:pPr algn="l">
              <a:lnSpc>
                <a:spcPts val="5182"/>
              </a:lnSpc>
              <a:spcBef>
                <a:spcPct val="0"/>
              </a:spcBef>
            </a:pPr>
            <a:r>
              <a:rPr lang="en-US" b="true" sz="4319">
                <a:solidFill>
                  <a:srgbClr val="000000"/>
                </a:solidFill>
                <a:latin typeface="Quicksand Bold"/>
                <a:ea typeface="Quicksand Bold"/>
                <a:cs typeface="Quicksand Bold"/>
                <a:sym typeface="Quicksand Bold"/>
              </a:rPr>
              <a:t>Go-to-Market Strategy</a:t>
            </a:r>
          </a:p>
        </p:txBody>
      </p:sp>
      <p:sp>
        <p:nvSpPr>
          <p:cNvPr name="TextBox 6" id="6"/>
          <p:cNvSpPr txBox="true"/>
          <p:nvPr/>
        </p:nvSpPr>
        <p:spPr>
          <a:xfrm rot="0">
            <a:off x="724929" y="1266535"/>
            <a:ext cx="12622449" cy="476250"/>
          </a:xfrm>
          <a:prstGeom prst="rect">
            <a:avLst/>
          </a:prstGeom>
        </p:spPr>
        <p:txBody>
          <a:bodyPr anchor="t" rtlCol="false" tIns="0" lIns="0" bIns="0" rIns="0">
            <a:spAutoFit/>
          </a:bodyPr>
          <a:lstStyle/>
          <a:p>
            <a:pPr algn="l">
              <a:lnSpc>
                <a:spcPts val="3840"/>
              </a:lnSpc>
              <a:spcBef>
                <a:spcPct val="0"/>
              </a:spcBef>
            </a:pPr>
            <a:r>
              <a:rPr lang="en-US" b="true" sz="3200">
                <a:solidFill>
                  <a:srgbClr val="000000"/>
                </a:solidFill>
                <a:latin typeface="Quicksand Bold"/>
                <a:ea typeface="Quicksand Bold"/>
                <a:cs typeface="Quicksand Bold"/>
                <a:sym typeface="Quicksand Bold"/>
              </a:rPr>
              <a:t>Branding Video - </a:t>
            </a:r>
            <a:r>
              <a:rPr lang="en-US" b="true" sz="3200" u="sng">
                <a:solidFill>
                  <a:srgbClr val="0000FF"/>
                </a:solidFill>
                <a:latin typeface="Quicksand Bold"/>
                <a:ea typeface="Quicksand Bold"/>
                <a:cs typeface="Quicksand Bold"/>
                <a:sym typeface="Quicksand Bold"/>
                <a:hlinkClick r:id="rId6" tooltip="https://drive.google.com/file/d/1cTZYBF00qZo7coeM4SNj9wEGAKCf8YuE/view?usp=sharing"/>
              </a:rPr>
              <a:t>Furriend - Branding Video</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858024" y="111725"/>
            <a:ext cx="2905267" cy="916975"/>
            <a:chOff x="0" y="0"/>
            <a:chExt cx="3873689" cy="1222633"/>
          </a:xfrm>
        </p:grpSpPr>
        <p:sp>
          <p:nvSpPr>
            <p:cNvPr name="Freeform 3" id="3"/>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2"/>
              <a:stretch>
                <a:fillRect l="0" t="0" r="-1" b="0"/>
              </a:stretch>
            </a:blipFill>
          </p:spPr>
        </p:sp>
      </p:grpSp>
      <p:sp>
        <p:nvSpPr>
          <p:cNvPr name="TextBox 4" id="4"/>
          <p:cNvSpPr txBox="true"/>
          <p:nvPr/>
        </p:nvSpPr>
        <p:spPr>
          <a:xfrm rot="0">
            <a:off x="724929" y="241600"/>
            <a:ext cx="7133703" cy="657225"/>
          </a:xfrm>
          <a:prstGeom prst="rect">
            <a:avLst/>
          </a:prstGeom>
        </p:spPr>
        <p:txBody>
          <a:bodyPr anchor="t" rtlCol="false" tIns="0" lIns="0" bIns="0" rIns="0">
            <a:spAutoFit/>
          </a:bodyPr>
          <a:lstStyle/>
          <a:p>
            <a:pPr algn="l">
              <a:lnSpc>
                <a:spcPts val="5182"/>
              </a:lnSpc>
              <a:spcBef>
                <a:spcPct val="0"/>
              </a:spcBef>
            </a:pPr>
            <a:r>
              <a:rPr lang="en-US" b="true" sz="4319">
                <a:solidFill>
                  <a:srgbClr val="000000"/>
                </a:solidFill>
                <a:latin typeface="Quicksand Bold"/>
                <a:ea typeface="Quicksand Bold"/>
                <a:cs typeface="Quicksand Bold"/>
                <a:sym typeface="Quicksand Bold"/>
              </a:rPr>
              <a:t>Go-to-Market Strategy</a:t>
            </a:r>
          </a:p>
        </p:txBody>
      </p:sp>
      <p:sp>
        <p:nvSpPr>
          <p:cNvPr name="TextBox 5" id="5"/>
          <p:cNvSpPr txBox="true"/>
          <p:nvPr/>
        </p:nvSpPr>
        <p:spPr>
          <a:xfrm rot="0">
            <a:off x="724929" y="1568829"/>
            <a:ext cx="7133703" cy="476250"/>
          </a:xfrm>
          <a:prstGeom prst="rect">
            <a:avLst/>
          </a:prstGeom>
        </p:spPr>
        <p:txBody>
          <a:bodyPr anchor="t" rtlCol="false" tIns="0" lIns="0" bIns="0" rIns="0">
            <a:spAutoFit/>
          </a:bodyPr>
          <a:lstStyle/>
          <a:p>
            <a:pPr algn="l">
              <a:lnSpc>
                <a:spcPts val="3840"/>
              </a:lnSpc>
              <a:spcBef>
                <a:spcPct val="0"/>
              </a:spcBef>
            </a:pPr>
            <a:r>
              <a:rPr lang="en-US" b="true" sz="3200">
                <a:solidFill>
                  <a:srgbClr val="000000"/>
                </a:solidFill>
                <a:latin typeface="Quicksand Bold"/>
                <a:ea typeface="Quicksand Bold"/>
                <a:cs typeface="Quicksand Bold"/>
                <a:sym typeface="Quicksand Bold"/>
              </a:rPr>
              <a:t>Positioning Statement</a:t>
            </a:r>
          </a:p>
        </p:txBody>
      </p:sp>
      <p:sp>
        <p:nvSpPr>
          <p:cNvPr name="TextBox 6" id="6"/>
          <p:cNvSpPr txBox="true"/>
          <p:nvPr/>
        </p:nvSpPr>
        <p:spPr>
          <a:xfrm rot="0">
            <a:off x="1745382" y="2843143"/>
            <a:ext cx="14797236" cy="4848225"/>
          </a:xfrm>
          <a:prstGeom prst="rect">
            <a:avLst/>
          </a:prstGeom>
        </p:spPr>
        <p:txBody>
          <a:bodyPr anchor="t" rtlCol="false" tIns="0" lIns="0" bIns="0" rIns="0">
            <a:spAutoFit/>
          </a:bodyPr>
          <a:lstStyle/>
          <a:p>
            <a:pPr algn="just">
              <a:lnSpc>
                <a:spcPts val="3840"/>
              </a:lnSpc>
            </a:pPr>
            <a:r>
              <a:rPr lang="en-US" sz="3200" b="true">
                <a:solidFill>
                  <a:srgbClr val="000000"/>
                </a:solidFill>
                <a:latin typeface="Quicksand Bold"/>
                <a:ea typeface="Quicksand Bold"/>
                <a:cs typeface="Quicksand Bold"/>
                <a:sym typeface="Quicksand Bold"/>
              </a:rPr>
              <a:t>PetAlaga PH is a mobile platform that connects pet owners with trusted local pet sitters and service providers, offering a safe, convenient, and affordable way to care for pets anytime, anywhere.</a:t>
            </a:r>
          </a:p>
          <a:p>
            <a:pPr algn="just">
              <a:lnSpc>
                <a:spcPts val="3840"/>
              </a:lnSpc>
            </a:pPr>
          </a:p>
          <a:p>
            <a:pPr algn="just">
              <a:lnSpc>
                <a:spcPts val="3840"/>
              </a:lnSpc>
            </a:pPr>
            <a:r>
              <a:rPr lang="en-US" sz="3200" b="true">
                <a:solidFill>
                  <a:srgbClr val="757070"/>
                </a:solidFill>
                <a:latin typeface="Quicksand Bold"/>
                <a:ea typeface="Quicksand Bold"/>
                <a:cs typeface="Quicksand Bold"/>
                <a:sym typeface="Quicksand Bold"/>
              </a:rPr>
              <a:t>Unique Value Proposition:</a:t>
            </a:r>
          </a:p>
          <a:p>
            <a:pPr algn="just" marL="690881" indent="-345440" lvl="1">
              <a:lnSpc>
                <a:spcPts val="3840"/>
              </a:lnSpc>
              <a:buFont typeface="Arial"/>
              <a:buChar char="•"/>
            </a:pPr>
            <a:r>
              <a:rPr lang="en-US" b="true" sz="3200">
                <a:solidFill>
                  <a:srgbClr val="757070"/>
                </a:solidFill>
                <a:latin typeface="Quicksand Bold"/>
                <a:ea typeface="Quicksand Bold"/>
                <a:cs typeface="Quicksand Bold"/>
                <a:sym typeface="Quicksand Bold"/>
              </a:rPr>
              <a:t>Simplifies pet care through on-demand, location-based sitter matching</a:t>
            </a:r>
          </a:p>
          <a:p>
            <a:pPr algn="just" marL="690881" indent="-345440" lvl="1">
              <a:lnSpc>
                <a:spcPts val="3840"/>
              </a:lnSpc>
              <a:buFont typeface="Arial"/>
              <a:buChar char="•"/>
            </a:pPr>
            <a:r>
              <a:rPr lang="en-US" b="true" sz="3200">
                <a:solidFill>
                  <a:srgbClr val="757070"/>
                </a:solidFill>
                <a:latin typeface="Quicksand Bold"/>
                <a:ea typeface="Quicksand Bold"/>
                <a:cs typeface="Quicksand Bold"/>
                <a:sym typeface="Quicksand Bold"/>
              </a:rPr>
              <a:t>Builds trust via verified sitters and transparent reviews</a:t>
            </a:r>
          </a:p>
          <a:p>
            <a:pPr algn="just" marL="690881" indent="-345440" lvl="1">
              <a:lnSpc>
                <a:spcPts val="3840"/>
              </a:lnSpc>
              <a:buFont typeface="Arial"/>
              <a:buChar char="•"/>
            </a:pPr>
            <a:r>
              <a:rPr lang="en-US" b="true" sz="3200">
                <a:solidFill>
                  <a:srgbClr val="757070"/>
                </a:solidFill>
                <a:latin typeface="Quicksand Bold"/>
                <a:ea typeface="Quicksand Bold"/>
                <a:cs typeface="Quicksand Bold"/>
                <a:sym typeface="Quicksand Bold"/>
              </a:rPr>
              <a:t>Supports small pet-related businesses through marketplace integration</a:t>
            </a:r>
          </a:p>
          <a:p>
            <a:pPr algn="just">
              <a:lnSpc>
                <a:spcPts val="3840"/>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858024" y="111725"/>
            <a:ext cx="2905267" cy="916975"/>
            <a:chOff x="0" y="0"/>
            <a:chExt cx="3873689" cy="1222633"/>
          </a:xfrm>
        </p:grpSpPr>
        <p:sp>
          <p:nvSpPr>
            <p:cNvPr name="Freeform 3" id="3"/>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2"/>
              <a:stretch>
                <a:fillRect l="0" t="0" r="-1" b="0"/>
              </a:stretch>
            </a:blipFill>
          </p:spPr>
        </p:sp>
      </p:grpSp>
      <p:graphicFrame>
        <p:nvGraphicFramePr>
          <p:cNvPr name="Object 4" id="4"/>
          <p:cNvGraphicFramePr/>
          <p:nvPr/>
        </p:nvGraphicFramePr>
        <p:xfrm>
          <a:off x="2938411" y="2702304"/>
          <a:ext cx="7543800" cy="3143250"/>
        </p:xfrm>
        <a:graphic>
          <a:graphicData uri="http://schemas.openxmlformats.org/presentationml/2006/ole">
            <p:oleObj imgW="9042400" imgH="4648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724929" y="241600"/>
            <a:ext cx="7133703" cy="657225"/>
          </a:xfrm>
          <a:prstGeom prst="rect">
            <a:avLst/>
          </a:prstGeom>
        </p:spPr>
        <p:txBody>
          <a:bodyPr anchor="t" rtlCol="false" tIns="0" lIns="0" bIns="0" rIns="0">
            <a:spAutoFit/>
          </a:bodyPr>
          <a:lstStyle/>
          <a:p>
            <a:pPr algn="l">
              <a:lnSpc>
                <a:spcPts val="5182"/>
              </a:lnSpc>
              <a:spcBef>
                <a:spcPct val="0"/>
              </a:spcBef>
            </a:pPr>
            <a:r>
              <a:rPr lang="en-US" b="true" sz="4319">
                <a:solidFill>
                  <a:srgbClr val="000000"/>
                </a:solidFill>
                <a:latin typeface="Quicksand Bold"/>
                <a:ea typeface="Quicksand Bold"/>
                <a:cs typeface="Quicksand Bold"/>
                <a:sym typeface="Quicksand Bold"/>
              </a:rPr>
              <a:t>Go-to-Market Strategy</a:t>
            </a:r>
          </a:p>
        </p:txBody>
      </p:sp>
      <p:sp>
        <p:nvSpPr>
          <p:cNvPr name="TextBox 6" id="6"/>
          <p:cNvSpPr txBox="true"/>
          <p:nvPr/>
        </p:nvSpPr>
        <p:spPr>
          <a:xfrm rot="0">
            <a:off x="724929" y="1568829"/>
            <a:ext cx="7133703" cy="1447800"/>
          </a:xfrm>
          <a:prstGeom prst="rect">
            <a:avLst/>
          </a:prstGeom>
        </p:spPr>
        <p:txBody>
          <a:bodyPr anchor="t" rtlCol="false" tIns="0" lIns="0" bIns="0" rIns="0">
            <a:spAutoFit/>
          </a:bodyPr>
          <a:lstStyle/>
          <a:p>
            <a:pPr algn="l">
              <a:lnSpc>
                <a:spcPts val="3840"/>
              </a:lnSpc>
            </a:pPr>
            <a:r>
              <a:rPr lang="en-US" sz="3200" b="true">
                <a:solidFill>
                  <a:srgbClr val="000000"/>
                </a:solidFill>
                <a:latin typeface="Quicksand Bold"/>
                <a:ea typeface="Quicksand Bold"/>
                <a:cs typeface="Quicksand Bold"/>
                <a:sym typeface="Quicksand Bold"/>
              </a:rPr>
              <a:t>Action Plan (12-Month Roadmap)</a:t>
            </a:r>
          </a:p>
          <a:p>
            <a:pPr algn="l">
              <a:lnSpc>
                <a:spcPts val="3840"/>
              </a:lnSpc>
            </a:pPr>
          </a:p>
          <a:p>
            <a:pPr algn="l">
              <a:lnSpc>
                <a:spcPts val="3840"/>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858024" y="111725"/>
            <a:ext cx="2905267" cy="916975"/>
            <a:chOff x="0" y="0"/>
            <a:chExt cx="3873689" cy="1222633"/>
          </a:xfrm>
        </p:grpSpPr>
        <p:sp>
          <p:nvSpPr>
            <p:cNvPr name="Freeform 3" id="3"/>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2"/>
              <a:stretch>
                <a:fillRect l="0" t="0" r="-1" b="0"/>
              </a:stretch>
            </a:blipFill>
          </p:spPr>
        </p:sp>
      </p:grpSp>
      <p:graphicFrame>
        <p:nvGraphicFramePr>
          <p:cNvPr name="Object 4" id="4"/>
          <p:cNvGraphicFramePr/>
          <p:nvPr/>
        </p:nvGraphicFramePr>
        <p:xfrm>
          <a:off x="4140289" y="2702304"/>
          <a:ext cx="5657850" cy="3143250"/>
        </p:xfrm>
        <a:graphic>
          <a:graphicData uri="http://schemas.openxmlformats.org/presentationml/2006/ole">
            <p:oleObj imgW="6781800" imgH="4267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724929" y="241600"/>
            <a:ext cx="7133703" cy="657225"/>
          </a:xfrm>
          <a:prstGeom prst="rect">
            <a:avLst/>
          </a:prstGeom>
        </p:spPr>
        <p:txBody>
          <a:bodyPr anchor="t" rtlCol="false" tIns="0" lIns="0" bIns="0" rIns="0">
            <a:spAutoFit/>
          </a:bodyPr>
          <a:lstStyle/>
          <a:p>
            <a:pPr algn="l">
              <a:lnSpc>
                <a:spcPts val="5182"/>
              </a:lnSpc>
              <a:spcBef>
                <a:spcPct val="0"/>
              </a:spcBef>
            </a:pPr>
            <a:r>
              <a:rPr lang="en-US" b="true" sz="4319">
                <a:solidFill>
                  <a:srgbClr val="000000"/>
                </a:solidFill>
                <a:latin typeface="Quicksand Bold"/>
                <a:ea typeface="Quicksand Bold"/>
                <a:cs typeface="Quicksand Bold"/>
                <a:sym typeface="Quicksand Bold"/>
              </a:rPr>
              <a:t>Go-to-Market Strategy</a:t>
            </a:r>
          </a:p>
        </p:txBody>
      </p:sp>
      <p:sp>
        <p:nvSpPr>
          <p:cNvPr name="TextBox 6" id="6"/>
          <p:cNvSpPr txBox="true"/>
          <p:nvPr/>
        </p:nvSpPr>
        <p:spPr>
          <a:xfrm rot="0">
            <a:off x="724929" y="1568829"/>
            <a:ext cx="7133703" cy="476250"/>
          </a:xfrm>
          <a:prstGeom prst="rect">
            <a:avLst/>
          </a:prstGeom>
        </p:spPr>
        <p:txBody>
          <a:bodyPr anchor="t" rtlCol="false" tIns="0" lIns="0" bIns="0" rIns="0">
            <a:spAutoFit/>
          </a:bodyPr>
          <a:lstStyle/>
          <a:p>
            <a:pPr algn="l">
              <a:lnSpc>
                <a:spcPts val="3840"/>
              </a:lnSpc>
              <a:spcBef>
                <a:spcPct val="0"/>
              </a:spcBef>
            </a:pPr>
            <a:r>
              <a:rPr lang="en-US" b="true" sz="3200">
                <a:solidFill>
                  <a:srgbClr val="000000"/>
                </a:solidFill>
                <a:latin typeface="Quicksand Bold"/>
                <a:ea typeface="Quicksand Bold"/>
                <a:cs typeface="Quicksand Bold"/>
                <a:sym typeface="Quicksand Bold"/>
              </a:rPr>
              <a:t>Sales &amp; Distribution Model</a:t>
            </a:r>
          </a:p>
        </p:txBody>
      </p:sp>
      <p:sp>
        <p:nvSpPr>
          <p:cNvPr name="TextBox 7" id="7"/>
          <p:cNvSpPr txBox="true"/>
          <p:nvPr/>
        </p:nvSpPr>
        <p:spPr>
          <a:xfrm rot="0">
            <a:off x="1028700" y="7994191"/>
            <a:ext cx="10581329" cy="1457325"/>
          </a:xfrm>
          <a:prstGeom prst="rect">
            <a:avLst/>
          </a:prstGeom>
        </p:spPr>
        <p:txBody>
          <a:bodyPr anchor="t" rtlCol="false" tIns="0" lIns="0" bIns="0" rIns="0">
            <a:spAutoFit/>
          </a:bodyPr>
          <a:lstStyle/>
          <a:p>
            <a:pPr algn="just">
              <a:lnSpc>
                <a:spcPts val="2879"/>
              </a:lnSpc>
              <a:spcBef>
                <a:spcPct val="0"/>
              </a:spcBef>
            </a:pPr>
            <a:r>
              <a:rPr lang="en-US" sz="2400">
                <a:solidFill>
                  <a:srgbClr val="000000"/>
                </a:solidFill>
                <a:latin typeface="Quicksand"/>
                <a:ea typeface="Quicksand"/>
                <a:cs typeface="Quicksand"/>
                <a:sym typeface="Quicksand"/>
              </a:rPr>
              <a:t>Sales Model:</a:t>
            </a:r>
          </a:p>
          <a:p>
            <a:pPr algn="just" marL="518160" indent="-259080" lvl="1">
              <a:lnSpc>
                <a:spcPts val="2879"/>
              </a:lnSpc>
              <a:buFont typeface="Arial"/>
              <a:buChar char="•"/>
            </a:pPr>
            <a:r>
              <a:rPr lang="en-US" sz="2400">
                <a:solidFill>
                  <a:srgbClr val="000000"/>
                </a:solidFill>
                <a:latin typeface="Quicksand"/>
                <a:ea typeface="Quicksand"/>
                <a:cs typeface="Quicksand"/>
                <a:sym typeface="Quicksand"/>
              </a:rPr>
              <a:t>10–15% commission per successful booking</a:t>
            </a:r>
          </a:p>
          <a:p>
            <a:pPr algn="just" marL="518160" indent="-259080" lvl="1">
              <a:lnSpc>
                <a:spcPts val="2879"/>
              </a:lnSpc>
              <a:buFont typeface="Arial"/>
              <a:buChar char="•"/>
            </a:pPr>
            <a:r>
              <a:rPr lang="en-US" sz="2400">
                <a:solidFill>
                  <a:srgbClr val="000000"/>
                </a:solidFill>
                <a:latin typeface="Quicksand"/>
                <a:ea typeface="Quicksand"/>
                <a:cs typeface="Quicksand"/>
                <a:sym typeface="Quicksand"/>
              </a:rPr>
              <a:t>Optional sitter subscription for premium listing visibility</a:t>
            </a:r>
          </a:p>
          <a:p>
            <a:pPr algn="just" marL="518160" indent="-259080" lvl="1">
              <a:lnSpc>
                <a:spcPts val="2879"/>
              </a:lnSpc>
              <a:buFont typeface="Arial"/>
              <a:buChar char="•"/>
            </a:pPr>
            <a:r>
              <a:rPr lang="en-US" sz="2400">
                <a:solidFill>
                  <a:srgbClr val="000000"/>
                </a:solidFill>
                <a:latin typeface="Quicksand"/>
                <a:ea typeface="Quicksand"/>
                <a:cs typeface="Quicksand"/>
                <a:sym typeface="Quicksand"/>
              </a:rPr>
              <a:t>Additional income from sponsored ads and in-app promotions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858024" y="111725"/>
            <a:ext cx="2905267" cy="916975"/>
            <a:chOff x="0" y="0"/>
            <a:chExt cx="3873689" cy="1222633"/>
          </a:xfrm>
        </p:grpSpPr>
        <p:sp>
          <p:nvSpPr>
            <p:cNvPr name="Freeform 3" id="3"/>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2"/>
              <a:stretch>
                <a:fillRect l="0" t="0" r="-1" b="0"/>
              </a:stretch>
            </a:blipFill>
          </p:spPr>
        </p:sp>
      </p:grpSp>
      <p:graphicFrame>
        <p:nvGraphicFramePr>
          <p:cNvPr name="Object 4" id="4"/>
          <p:cNvGraphicFramePr/>
          <p:nvPr/>
        </p:nvGraphicFramePr>
        <p:xfrm>
          <a:off x="9490953" y="2167874"/>
          <a:ext cx="5657850" cy="7543800"/>
        </p:xfrm>
        <a:graphic>
          <a:graphicData uri="http://schemas.openxmlformats.org/presentationml/2006/ole">
            <p:oleObj imgW="7162800" imgH="9042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724929" y="241600"/>
            <a:ext cx="4199468" cy="657225"/>
          </a:xfrm>
          <a:prstGeom prst="rect">
            <a:avLst/>
          </a:prstGeom>
        </p:spPr>
        <p:txBody>
          <a:bodyPr anchor="t" rtlCol="false" tIns="0" lIns="0" bIns="0" rIns="0">
            <a:spAutoFit/>
          </a:bodyPr>
          <a:lstStyle/>
          <a:p>
            <a:pPr algn="l">
              <a:lnSpc>
                <a:spcPts val="5182"/>
              </a:lnSpc>
              <a:spcBef>
                <a:spcPct val="0"/>
              </a:spcBef>
            </a:pPr>
            <a:r>
              <a:rPr lang="en-US" b="true" sz="4319">
                <a:solidFill>
                  <a:srgbClr val="000000"/>
                </a:solidFill>
                <a:latin typeface="Quicksand Bold"/>
                <a:ea typeface="Quicksand Bold"/>
                <a:cs typeface="Quicksand Bold"/>
                <a:sym typeface="Quicksand Bold"/>
              </a:rPr>
              <a:t>Funding Plan</a:t>
            </a:r>
          </a:p>
        </p:txBody>
      </p:sp>
      <p:sp>
        <p:nvSpPr>
          <p:cNvPr name="TextBox 6" id="6"/>
          <p:cNvSpPr txBox="true"/>
          <p:nvPr/>
        </p:nvSpPr>
        <p:spPr>
          <a:xfrm rot="0">
            <a:off x="724929" y="1408425"/>
            <a:ext cx="7325581" cy="2276843"/>
          </a:xfrm>
          <a:prstGeom prst="rect">
            <a:avLst/>
          </a:prstGeom>
        </p:spPr>
        <p:txBody>
          <a:bodyPr anchor="t" rtlCol="false" tIns="0" lIns="0" bIns="0" rIns="0">
            <a:spAutoFit/>
          </a:bodyPr>
          <a:lstStyle/>
          <a:p>
            <a:pPr algn="just">
              <a:lnSpc>
                <a:spcPts val="1811"/>
              </a:lnSpc>
              <a:spcBef>
                <a:spcPct val="0"/>
              </a:spcBef>
            </a:pPr>
            <a:r>
              <a:rPr lang="en-US" b="true" sz="1509">
                <a:solidFill>
                  <a:srgbClr val="000000"/>
                </a:solidFill>
                <a:latin typeface="Quicksand Bold"/>
                <a:ea typeface="Quicksand Bold"/>
                <a:cs typeface="Quicksand Bold"/>
                <a:sym typeface="Quicksand Bold"/>
              </a:rPr>
              <a:t>How much funds required to reach the next level of the venture?</a:t>
            </a:r>
          </a:p>
          <a:p>
            <a:pPr algn="just" marL="325948" indent="-162974" lvl="1">
              <a:lnSpc>
                <a:spcPts val="1811"/>
              </a:lnSpc>
              <a:spcBef>
                <a:spcPct val="0"/>
              </a:spcBef>
              <a:buFont typeface="Arial"/>
              <a:buChar char="•"/>
            </a:pPr>
            <a:r>
              <a:rPr lang="en-US" b="true" sz="1509">
                <a:solidFill>
                  <a:srgbClr val="757070"/>
                </a:solidFill>
                <a:latin typeface="Quicksand Bold"/>
                <a:ea typeface="Quicksand Bold"/>
                <a:cs typeface="Quicksand Bold"/>
                <a:sym typeface="Quicksand Bold"/>
              </a:rPr>
              <a:t>To reach our next stage (official app launch + first 6 months of operations), we originally required ₱150,000 in funding.</a:t>
            </a:r>
          </a:p>
          <a:p>
            <a:pPr algn="just" marL="325948" indent="-162974" lvl="1">
              <a:lnSpc>
                <a:spcPts val="1811"/>
              </a:lnSpc>
              <a:spcBef>
                <a:spcPct val="0"/>
              </a:spcBef>
              <a:buFont typeface="Arial"/>
              <a:buChar char="•"/>
            </a:pPr>
            <a:r>
              <a:rPr lang="en-US" b="true" sz="1509">
                <a:solidFill>
                  <a:srgbClr val="757070"/>
                </a:solidFill>
                <a:latin typeface="Quicksand Bold"/>
                <a:ea typeface="Quicksand Bold"/>
                <a:cs typeface="Quicksand Bold"/>
                <a:sym typeface="Quicksand Bold"/>
              </a:rPr>
              <a:t> After adding an additional one-third (₱50,000) as a buffer for scaling, unforeseen costs, and accelerated marketing needs, our updated total funding requirement is:</a:t>
            </a:r>
          </a:p>
          <a:p>
            <a:pPr algn="just" marL="325948" indent="-162974" lvl="1">
              <a:lnSpc>
                <a:spcPts val="1811"/>
              </a:lnSpc>
              <a:spcBef>
                <a:spcPct val="0"/>
              </a:spcBef>
              <a:buFont typeface="Arial"/>
              <a:buChar char="•"/>
            </a:pPr>
            <a:r>
              <a:rPr lang="en-US" b="true" sz="1509">
                <a:solidFill>
                  <a:srgbClr val="757070"/>
                </a:solidFill>
                <a:latin typeface="Quicksand Bold"/>
                <a:ea typeface="Quicksand Bold"/>
                <a:cs typeface="Quicksand Bold"/>
                <a:sym typeface="Quicksand Bold"/>
              </a:rPr>
              <a:t> ₱200,000 Total Funding Required</a:t>
            </a:r>
          </a:p>
          <a:p>
            <a:pPr algn="just" marL="325948" indent="-162974" lvl="1">
              <a:lnSpc>
                <a:spcPts val="1811"/>
              </a:lnSpc>
              <a:spcBef>
                <a:spcPct val="0"/>
              </a:spcBef>
              <a:buFont typeface="Arial"/>
              <a:buChar char="•"/>
            </a:pPr>
            <a:r>
              <a:rPr lang="en-US" b="true" sz="1509">
                <a:solidFill>
                  <a:srgbClr val="757070"/>
                </a:solidFill>
                <a:latin typeface="Quicksand Bold"/>
                <a:ea typeface="Quicksand Bold"/>
                <a:cs typeface="Quicksand Bold"/>
                <a:sym typeface="Quicksand Bold"/>
              </a:rPr>
              <a:t>T</a:t>
            </a:r>
            <a:r>
              <a:rPr lang="en-US" b="true" sz="1509">
                <a:solidFill>
                  <a:srgbClr val="757070"/>
                </a:solidFill>
                <a:latin typeface="Quicksand Bold"/>
                <a:ea typeface="Quicksand Bold"/>
                <a:cs typeface="Quicksand Bold"/>
                <a:sym typeface="Quicksand Bold"/>
              </a:rPr>
              <a:t>his amount will cover app upgrades, marketing expansion, and operational support to achieve 5,000 active users within one year.</a:t>
            </a:r>
          </a:p>
          <a:p>
            <a:pPr algn="just">
              <a:lnSpc>
                <a:spcPts val="1811"/>
              </a:lnSpc>
              <a:spcBef>
                <a:spcPct val="0"/>
              </a:spcBef>
            </a:pPr>
          </a:p>
        </p:txBody>
      </p:sp>
      <p:sp>
        <p:nvSpPr>
          <p:cNvPr name="TextBox 7" id="7"/>
          <p:cNvSpPr txBox="true"/>
          <p:nvPr/>
        </p:nvSpPr>
        <p:spPr>
          <a:xfrm rot="0">
            <a:off x="724929" y="4086388"/>
            <a:ext cx="8093853" cy="3408223"/>
          </a:xfrm>
          <a:prstGeom prst="rect">
            <a:avLst/>
          </a:prstGeom>
        </p:spPr>
        <p:txBody>
          <a:bodyPr anchor="t" rtlCol="false" tIns="0" lIns="0" bIns="0" rIns="0">
            <a:spAutoFit/>
          </a:bodyPr>
          <a:lstStyle/>
          <a:p>
            <a:pPr algn="just">
              <a:lnSpc>
                <a:spcPts val="1811"/>
              </a:lnSpc>
              <a:spcBef>
                <a:spcPct val="0"/>
              </a:spcBef>
            </a:pPr>
            <a:r>
              <a:rPr lang="en-US" b="true" sz="1509">
                <a:solidFill>
                  <a:srgbClr val="000000"/>
                </a:solidFill>
                <a:latin typeface="Quicksand Bold"/>
                <a:ea typeface="Quicksand Bold"/>
                <a:cs typeface="Quicksand Bold"/>
                <a:sym typeface="Quicksand Bold"/>
              </a:rPr>
              <a:t>How much have been bootstrapped? If not, why?</a:t>
            </a:r>
          </a:p>
          <a:p>
            <a:pPr algn="just" marL="325948" indent="-162974" lvl="1">
              <a:lnSpc>
                <a:spcPts val="1811"/>
              </a:lnSpc>
              <a:spcBef>
                <a:spcPct val="0"/>
              </a:spcBef>
              <a:buFont typeface="Arial"/>
              <a:buChar char="•"/>
            </a:pPr>
            <a:r>
              <a:rPr lang="en-US" b="true" sz="1509">
                <a:solidFill>
                  <a:srgbClr val="757070"/>
                </a:solidFill>
                <a:latin typeface="Quicksand Bold"/>
                <a:ea typeface="Quicksand Bold"/>
                <a:cs typeface="Quicksand Bold"/>
                <a:sym typeface="Quicksand Bold"/>
              </a:rPr>
              <a:t>We a</a:t>
            </a:r>
            <a:r>
              <a:rPr lang="en-US" b="true" sz="1509">
                <a:solidFill>
                  <a:srgbClr val="757070"/>
                </a:solidFill>
                <a:latin typeface="Quicksand Bold"/>
                <a:ea typeface="Quicksand Bold"/>
                <a:cs typeface="Quicksand Bold"/>
                <a:sym typeface="Quicksand Bold"/>
              </a:rPr>
              <a:t>rrived at the ₱31,500 bootstrapped amount by calculating the actual out-of-pocket expenses our team contributed during the development of the MVP. A significant portion went to essential development tools and software—including the domain name, hosting, and premium plugins—totaling ₱12,000. We allocated another ₱8,000 for initial marketing materials such as logo design, social media content, and small promotional boosts to attract early testers. </a:t>
            </a:r>
            <a:r>
              <a:rPr lang="en-US" b="true" sz="1509">
                <a:solidFill>
                  <a:srgbClr val="757070"/>
                </a:solidFill>
                <a:latin typeface="Quicksand Bold"/>
                <a:ea typeface="Quicksand Bold"/>
                <a:cs typeface="Quicksand Bold"/>
                <a:sym typeface="Quicksand Bold"/>
              </a:rPr>
              <a:t>To pol</a:t>
            </a:r>
            <a:r>
              <a:rPr lang="en-US" b="true" sz="1509">
                <a:solidFill>
                  <a:srgbClr val="757070"/>
                </a:solidFill>
                <a:latin typeface="Quicksand Bold"/>
                <a:ea typeface="Quicksand Bold"/>
                <a:cs typeface="Quicksand Bold"/>
                <a:sym typeface="Quicksand Bold"/>
              </a:rPr>
              <a:t>ish the prototype, we spent ₱4,500 on UI/UX assets like icon packs and interface templates. Around ₱3,000 covered registration and administrative needs, including document processing and minor logistics. Finally, ₱4,000 was used for user testing activities, such as communication expenses and providing small incentives for early participants. Altogether, these expenses amounted to ₱31,500, representing our team’s personal investment and commitment to building a functional MVP before seeking external funding.</a:t>
            </a:r>
          </a:p>
          <a:p>
            <a:pPr algn="just">
              <a:lnSpc>
                <a:spcPts val="1811"/>
              </a:lnSpc>
              <a:spcBef>
                <a:spcPct val="0"/>
              </a:spcBef>
            </a:pPr>
          </a:p>
        </p:txBody>
      </p:sp>
      <p:sp>
        <p:nvSpPr>
          <p:cNvPr name="TextBox 8" id="8"/>
          <p:cNvSpPr txBox="true"/>
          <p:nvPr/>
        </p:nvSpPr>
        <p:spPr>
          <a:xfrm rot="0">
            <a:off x="724929" y="7688649"/>
            <a:ext cx="3914452" cy="2057400"/>
          </a:xfrm>
          <a:prstGeom prst="rect">
            <a:avLst/>
          </a:prstGeom>
        </p:spPr>
        <p:txBody>
          <a:bodyPr anchor="t" rtlCol="false" tIns="0" lIns="0" bIns="0" rIns="0">
            <a:spAutoFit/>
          </a:bodyPr>
          <a:lstStyle/>
          <a:p>
            <a:pPr algn="just">
              <a:lnSpc>
                <a:spcPts val="1811"/>
              </a:lnSpc>
              <a:spcBef>
                <a:spcPct val="0"/>
              </a:spcBef>
            </a:pPr>
            <a:r>
              <a:rPr lang="en-US" b="true" sz="1509">
                <a:solidFill>
                  <a:srgbClr val="000000"/>
                </a:solidFill>
                <a:latin typeface="Quicksand Bold"/>
                <a:ea typeface="Quicksand Bold"/>
                <a:cs typeface="Quicksand Bold"/>
                <a:sym typeface="Quicksand Bold"/>
              </a:rPr>
              <a:t>How much can be bootstrapped?</a:t>
            </a:r>
          </a:p>
          <a:p>
            <a:pPr algn="just">
              <a:lnSpc>
                <a:spcPts val="1811"/>
              </a:lnSpc>
              <a:spcBef>
                <a:spcPct val="0"/>
              </a:spcBef>
            </a:pPr>
            <a:r>
              <a:rPr lang="en-US" b="true" sz="1509">
                <a:solidFill>
                  <a:srgbClr val="000000"/>
                </a:solidFill>
                <a:latin typeface="Quicksand Bold"/>
                <a:ea typeface="Quicksand Bold"/>
                <a:cs typeface="Quicksand Bold"/>
                <a:sym typeface="Quicksand Bold"/>
              </a:rPr>
              <a:t>•</a:t>
            </a:r>
            <a:r>
              <a:rPr lang="en-US" b="true" sz="1509">
                <a:solidFill>
                  <a:srgbClr val="000000"/>
                </a:solidFill>
                <a:latin typeface="Quicksand Bold"/>
                <a:ea typeface="Quicksand Bold"/>
                <a:cs typeface="Quicksand Bold"/>
                <a:sym typeface="Quicksand Bold"/>
              </a:rPr>
              <a:t> </a:t>
            </a:r>
            <a:r>
              <a:rPr lang="en-US" b="true" sz="1509">
                <a:solidFill>
                  <a:srgbClr val="757070"/>
                </a:solidFill>
                <a:latin typeface="Quicksand Bold"/>
                <a:ea typeface="Quicksand Bold"/>
                <a:cs typeface="Quicksand Bold"/>
                <a:sym typeface="Quicksand Bold"/>
              </a:rPr>
              <a:t>The team can further bootstrap ₱20,000, pooled from group member contributions and small pre-launch revenue (e.g., early sitter onboarding fees).</a:t>
            </a:r>
          </a:p>
          <a:p>
            <a:pPr algn="just">
              <a:lnSpc>
                <a:spcPts val="1811"/>
              </a:lnSpc>
              <a:spcBef>
                <a:spcPct val="0"/>
              </a:spcBef>
            </a:pPr>
            <a:r>
              <a:rPr lang="en-US" b="true" sz="1509">
                <a:solidFill>
                  <a:srgbClr val="757070"/>
                </a:solidFill>
                <a:latin typeface="Quicksand Bold"/>
                <a:ea typeface="Quicksand Bold"/>
                <a:cs typeface="Quicksand Bold"/>
                <a:sym typeface="Quicksand Bold"/>
              </a:rPr>
              <a:t> • T</a:t>
            </a:r>
            <a:r>
              <a:rPr lang="en-US" b="true" sz="1509">
                <a:solidFill>
                  <a:srgbClr val="757070"/>
                </a:solidFill>
                <a:latin typeface="Quicksand Bold"/>
                <a:ea typeface="Quicksand Bold"/>
                <a:cs typeface="Quicksand Bold"/>
                <a:sym typeface="Quicksand Bold"/>
              </a:rPr>
              <a:t>his will be used for continuous app maintenance and small-scale digital ads.</a:t>
            </a:r>
          </a:p>
          <a:p>
            <a:pPr algn="just">
              <a:lnSpc>
                <a:spcPts val="1811"/>
              </a:lnSpc>
              <a:spcBef>
                <a:spcPct val="0"/>
              </a:spcBef>
            </a:pPr>
          </a:p>
        </p:txBody>
      </p:sp>
      <p:sp>
        <p:nvSpPr>
          <p:cNvPr name="TextBox 9" id="9"/>
          <p:cNvSpPr txBox="true"/>
          <p:nvPr/>
        </p:nvSpPr>
        <p:spPr>
          <a:xfrm rot="0">
            <a:off x="9504907" y="1398900"/>
            <a:ext cx="6805751" cy="952500"/>
          </a:xfrm>
          <a:prstGeom prst="rect">
            <a:avLst/>
          </a:prstGeom>
        </p:spPr>
        <p:txBody>
          <a:bodyPr anchor="t" rtlCol="false" tIns="0" lIns="0" bIns="0" rIns="0">
            <a:spAutoFit/>
          </a:bodyPr>
          <a:lstStyle/>
          <a:p>
            <a:pPr algn="l">
              <a:lnSpc>
                <a:spcPts val="2520"/>
              </a:lnSpc>
            </a:pPr>
            <a:r>
              <a:rPr lang="en-US" sz="2100" b="true">
                <a:solidFill>
                  <a:srgbClr val="000000"/>
                </a:solidFill>
                <a:latin typeface="Quicksand Bold"/>
                <a:ea typeface="Quicksand Bold"/>
                <a:cs typeface="Quicksand Bold"/>
                <a:sym typeface="Quicksand Bold"/>
              </a:rPr>
              <a:t>Funds Utilization Strategy (Details)</a:t>
            </a:r>
          </a:p>
          <a:p>
            <a:pPr algn="l">
              <a:lnSpc>
                <a:spcPts val="2520"/>
              </a:lnSpc>
            </a:pPr>
          </a:p>
          <a:p>
            <a:pPr algn="l">
              <a:lnSpc>
                <a:spcPts val="2520"/>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TextBox 2" id="2"/>
          <p:cNvSpPr txBox="true"/>
          <p:nvPr/>
        </p:nvSpPr>
        <p:spPr>
          <a:xfrm rot="0">
            <a:off x="451850" y="-58022"/>
            <a:ext cx="12338400" cy="1212300"/>
          </a:xfrm>
          <a:prstGeom prst="rect">
            <a:avLst/>
          </a:prstGeom>
        </p:spPr>
        <p:txBody>
          <a:bodyPr anchor="t" rtlCol="false" tIns="0" lIns="0" bIns="0" rIns="0">
            <a:spAutoFit/>
          </a:bodyPr>
          <a:lstStyle/>
          <a:p>
            <a:pPr algn="l">
              <a:lnSpc>
                <a:spcPts val="10496"/>
              </a:lnSpc>
            </a:pPr>
            <a:r>
              <a:rPr lang="en-US" b="true" sz="5400">
                <a:solidFill>
                  <a:srgbClr val="000000"/>
                </a:solidFill>
                <a:latin typeface="Montserrat Bold"/>
                <a:ea typeface="Montserrat Bold"/>
                <a:cs typeface="Montserrat Bold"/>
                <a:sym typeface="Montserrat Bold"/>
              </a:rPr>
              <a:t>Team Composition</a:t>
            </a:r>
          </a:p>
        </p:txBody>
      </p:sp>
      <p:grpSp>
        <p:nvGrpSpPr>
          <p:cNvPr name="Group 3" id="3"/>
          <p:cNvGrpSpPr/>
          <p:nvPr/>
        </p:nvGrpSpPr>
        <p:grpSpPr>
          <a:xfrm rot="0">
            <a:off x="836908" y="1959122"/>
            <a:ext cx="1607000" cy="1502300"/>
            <a:chOff x="0" y="0"/>
            <a:chExt cx="2142667" cy="2003067"/>
          </a:xfrm>
        </p:grpSpPr>
        <p:sp>
          <p:nvSpPr>
            <p:cNvPr name="Freeform 4" id="4"/>
            <p:cNvSpPr/>
            <p:nvPr/>
          </p:nvSpPr>
          <p:spPr>
            <a:xfrm flipH="false" flipV="false" rot="0">
              <a:off x="0" y="0"/>
              <a:ext cx="2142617" cy="2003044"/>
            </a:xfrm>
            <a:custGeom>
              <a:avLst/>
              <a:gdLst/>
              <a:ahLst/>
              <a:cxnLst/>
              <a:rect r="r" b="b" t="t" l="l"/>
              <a:pathLst>
                <a:path h="2003044" w="2142617">
                  <a:moveTo>
                    <a:pt x="16891" y="0"/>
                  </a:moveTo>
                  <a:lnTo>
                    <a:pt x="2125726" y="0"/>
                  </a:lnTo>
                  <a:cubicBezTo>
                    <a:pt x="2135124" y="0"/>
                    <a:pt x="2142617" y="7620"/>
                    <a:pt x="2142617" y="16891"/>
                  </a:cubicBezTo>
                  <a:lnTo>
                    <a:pt x="2142617" y="1986153"/>
                  </a:lnTo>
                  <a:cubicBezTo>
                    <a:pt x="2142617" y="1995551"/>
                    <a:pt x="2134997" y="2003044"/>
                    <a:pt x="2125726" y="2003044"/>
                  </a:cubicBezTo>
                  <a:lnTo>
                    <a:pt x="16891" y="2003044"/>
                  </a:lnTo>
                  <a:cubicBezTo>
                    <a:pt x="7493" y="2003044"/>
                    <a:pt x="0" y="1995424"/>
                    <a:pt x="0" y="1986153"/>
                  </a:cubicBezTo>
                  <a:lnTo>
                    <a:pt x="0" y="16891"/>
                  </a:lnTo>
                  <a:cubicBezTo>
                    <a:pt x="0" y="7620"/>
                    <a:pt x="7620" y="0"/>
                    <a:pt x="16891" y="0"/>
                  </a:cubicBezTo>
                  <a:moveTo>
                    <a:pt x="16891" y="33909"/>
                  </a:moveTo>
                  <a:lnTo>
                    <a:pt x="16891" y="16891"/>
                  </a:lnTo>
                  <a:lnTo>
                    <a:pt x="33909" y="16891"/>
                  </a:lnTo>
                  <a:lnTo>
                    <a:pt x="33909" y="1986153"/>
                  </a:lnTo>
                  <a:lnTo>
                    <a:pt x="16891" y="1986153"/>
                  </a:lnTo>
                  <a:lnTo>
                    <a:pt x="16891" y="1969262"/>
                  </a:lnTo>
                  <a:lnTo>
                    <a:pt x="2125726" y="1969262"/>
                  </a:lnTo>
                  <a:lnTo>
                    <a:pt x="2125726" y="1986153"/>
                  </a:lnTo>
                  <a:lnTo>
                    <a:pt x="2108835" y="1986153"/>
                  </a:lnTo>
                  <a:lnTo>
                    <a:pt x="2108835" y="16891"/>
                  </a:lnTo>
                  <a:lnTo>
                    <a:pt x="2125726" y="16891"/>
                  </a:lnTo>
                  <a:lnTo>
                    <a:pt x="2125726" y="33909"/>
                  </a:lnTo>
                  <a:lnTo>
                    <a:pt x="16891" y="33909"/>
                  </a:lnTo>
                  <a:close/>
                </a:path>
              </a:pathLst>
            </a:custGeom>
            <a:solidFill>
              <a:srgbClr val="F79646"/>
            </a:solidFill>
          </p:spPr>
        </p:sp>
      </p:grpSp>
      <p:grpSp>
        <p:nvGrpSpPr>
          <p:cNvPr name="Group 5" id="5"/>
          <p:cNvGrpSpPr/>
          <p:nvPr/>
        </p:nvGrpSpPr>
        <p:grpSpPr>
          <a:xfrm rot="0">
            <a:off x="3958497" y="1958823"/>
            <a:ext cx="1500500" cy="1502900"/>
            <a:chOff x="0" y="0"/>
            <a:chExt cx="2000667" cy="2003867"/>
          </a:xfrm>
        </p:grpSpPr>
        <p:sp>
          <p:nvSpPr>
            <p:cNvPr name="Freeform 6" id="6"/>
            <p:cNvSpPr/>
            <p:nvPr/>
          </p:nvSpPr>
          <p:spPr>
            <a:xfrm flipH="false" flipV="false" rot="0">
              <a:off x="0" y="0"/>
              <a:ext cx="2000631" cy="2003806"/>
            </a:xfrm>
            <a:custGeom>
              <a:avLst/>
              <a:gdLst/>
              <a:ahLst/>
              <a:cxnLst/>
              <a:rect r="r" b="b" t="t" l="l"/>
              <a:pathLst>
                <a:path h="2003806" w="2000631">
                  <a:moveTo>
                    <a:pt x="16891" y="0"/>
                  </a:moveTo>
                  <a:lnTo>
                    <a:pt x="1983740" y="0"/>
                  </a:lnTo>
                  <a:cubicBezTo>
                    <a:pt x="1993138" y="0"/>
                    <a:pt x="2000631" y="7620"/>
                    <a:pt x="2000631" y="16891"/>
                  </a:cubicBezTo>
                  <a:lnTo>
                    <a:pt x="2000631" y="1986915"/>
                  </a:lnTo>
                  <a:cubicBezTo>
                    <a:pt x="2000631" y="1996313"/>
                    <a:pt x="1993011" y="2003806"/>
                    <a:pt x="1983740" y="2003806"/>
                  </a:cubicBezTo>
                  <a:lnTo>
                    <a:pt x="16891" y="2003806"/>
                  </a:lnTo>
                  <a:cubicBezTo>
                    <a:pt x="7493" y="2003806"/>
                    <a:pt x="0" y="1996186"/>
                    <a:pt x="0" y="1986915"/>
                  </a:cubicBezTo>
                  <a:lnTo>
                    <a:pt x="0" y="16891"/>
                  </a:lnTo>
                  <a:cubicBezTo>
                    <a:pt x="0" y="7620"/>
                    <a:pt x="7620" y="0"/>
                    <a:pt x="16891" y="0"/>
                  </a:cubicBezTo>
                  <a:moveTo>
                    <a:pt x="16891" y="33909"/>
                  </a:moveTo>
                  <a:lnTo>
                    <a:pt x="16891" y="16891"/>
                  </a:lnTo>
                  <a:lnTo>
                    <a:pt x="33909" y="16891"/>
                  </a:lnTo>
                  <a:lnTo>
                    <a:pt x="33909" y="1986915"/>
                  </a:lnTo>
                  <a:lnTo>
                    <a:pt x="16891" y="1986915"/>
                  </a:lnTo>
                  <a:lnTo>
                    <a:pt x="16891" y="1970024"/>
                  </a:lnTo>
                  <a:lnTo>
                    <a:pt x="1983740" y="1970024"/>
                  </a:lnTo>
                  <a:lnTo>
                    <a:pt x="1983740" y="1986915"/>
                  </a:lnTo>
                  <a:lnTo>
                    <a:pt x="1966849" y="1986915"/>
                  </a:lnTo>
                  <a:lnTo>
                    <a:pt x="1966849" y="16891"/>
                  </a:lnTo>
                  <a:lnTo>
                    <a:pt x="1983740" y="16891"/>
                  </a:lnTo>
                  <a:lnTo>
                    <a:pt x="1983740" y="33909"/>
                  </a:lnTo>
                  <a:lnTo>
                    <a:pt x="16891" y="33909"/>
                  </a:lnTo>
                  <a:close/>
                </a:path>
              </a:pathLst>
            </a:custGeom>
            <a:solidFill>
              <a:srgbClr val="F79646"/>
            </a:solidFill>
          </p:spPr>
        </p:sp>
      </p:grpSp>
      <p:grpSp>
        <p:nvGrpSpPr>
          <p:cNvPr name="Group 7" id="7"/>
          <p:cNvGrpSpPr/>
          <p:nvPr/>
        </p:nvGrpSpPr>
        <p:grpSpPr>
          <a:xfrm rot="0">
            <a:off x="6958982" y="1959126"/>
            <a:ext cx="1607000" cy="1502300"/>
            <a:chOff x="0" y="0"/>
            <a:chExt cx="2142667" cy="2003067"/>
          </a:xfrm>
        </p:grpSpPr>
        <p:sp>
          <p:nvSpPr>
            <p:cNvPr name="Freeform 8" id="8"/>
            <p:cNvSpPr/>
            <p:nvPr/>
          </p:nvSpPr>
          <p:spPr>
            <a:xfrm flipH="false" flipV="false" rot="0">
              <a:off x="0" y="0"/>
              <a:ext cx="2142617" cy="2003044"/>
            </a:xfrm>
            <a:custGeom>
              <a:avLst/>
              <a:gdLst/>
              <a:ahLst/>
              <a:cxnLst/>
              <a:rect r="r" b="b" t="t" l="l"/>
              <a:pathLst>
                <a:path h="2003044" w="2142617">
                  <a:moveTo>
                    <a:pt x="16891" y="0"/>
                  </a:moveTo>
                  <a:lnTo>
                    <a:pt x="2125726" y="0"/>
                  </a:lnTo>
                  <a:cubicBezTo>
                    <a:pt x="2135124" y="0"/>
                    <a:pt x="2142617" y="7620"/>
                    <a:pt x="2142617" y="16891"/>
                  </a:cubicBezTo>
                  <a:lnTo>
                    <a:pt x="2142617" y="1986153"/>
                  </a:lnTo>
                  <a:cubicBezTo>
                    <a:pt x="2142617" y="1995551"/>
                    <a:pt x="2134997" y="2003044"/>
                    <a:pt x="2125726" y="2003044"/>
                  </a:cubicBezTo>
                  <a:lnTo>
                    <a:pt x="16891" y="2003044"/>
                  </a:lnTo>
                  <a:cubicBezTo>
                    <a:pt x="7493" y="2003044"/>
                    <a:pt x="0" y="1995424"/>
                    <a:pt x="0" y="1986153"/>
                  </a:cubicBezTo>
                  <a:lnTo>
                    <a:pt x="0" y="16891"/>
                  </a:lnTo>
                  <a:cubicBezTo>
                    <a:pt x="0" y="7620"/>
                    <a:pt x="7620" y="0"/>
                    <a:pt x="16891" y="0"/>
                  </a:cubicBezTo>
                  <a:moveTo>
                    <a:pt x="16891" y="33909"/>
                  </a:moveTo>
                  <a:lnTo>
                    <a:pt x="16891" y="16891"/>
                  </a:lnTo>
                  <a:lnTo>
                    <a:pt x="33909" y="16891"/>
                  </a:lnTo>
                  <a:lnTo>
                    <a:pt x="33909" y="1986153"/>
                  </a:lnTo>
                  <a:lnTo>
                    <a:pt x="16891" y="1986153"/>
                  </a:lnTo>
                  <a:lnTo>
                    <a:pt x="16891" y="1969262"/>
                  </a:lnTo>
                  <a:lnTo>
                    <a:pt x="2125726" y="1969262"/>
                  </a:lnTo>
                  <a:lnTo>
                    <a:pt x="2125726" y="1986153"/>
                  </a:lnTo>
                  <a:lnTo>
                    <a:pt x="2108835" y="1986153"/>
                  </a:lnTo>
                  <a:lnTo>
                    <a:pt x="2108835" y="16891"/>
                  </a:lnTo>
                  <a:lnTo>
                    <a:pt x="2125726" y="16891"/>
                  </a:lnTo>
                  <a:lnTo>
                    <a:pt x="2125726" y="33909"/>
                  </a:lnTo>
                  <a:lnTo>
                    <a:pt x="16891" y="33909"/>
                  </a:lnTo>
                  <a:close/>
                </a:path>
              </a:pathLst>
            </a:custGeom>
            <a:solidFill>
              <a:srgbClr val="F79646"/>
            </a:solidFill>
          </p:spPr>
        </p:sp>
      </p:grpSp>
      <p:sp>
        <p:nvSpPr>
          <p:cNvPr name="TextBox 9" id="9"/>
          <p:cNvSpPr txBox="true"/>
          <p:nvPr/>
        </p:nvSpPr>
        <p:spPr>
          <a:xfrm rot="0">
            <a:off x="882728" y="1247540"/>
            <a:ext cx="1528050" cy="592900"/>
          </a:xfrm>
          <a:prstGeom prst="rect">
            <a:avLst/>
          </a:prstGeom>
        </p:spPr>
        <p:txBody>
          <a:bodyPr anchor="t" rtlCol="false" tIns="0" lIns="0" bIns="0" rIns="0">
            <a:spAutoFit/>
          </a:bodyPr>
          <a:lstStyle/>
          <a:p>
            <a:pPr algn="ctr">
              <a:lnSpc>
                <a:spcPts val="2160"/>
              </a:lnSpc>
            </a:pPr>
            <a:r>
              <a:rPr lang="en-US" sz="1800">
                <a:solidFill>
                  <a:srgbClr val="000000"/>
                </a:solidFill>
                <a:latin typeface="Calibri (MS)"/>
                <a:ea typeface="Calibri (MS)"/>
                <a:cs typeface="Calibri (MS)"/>
                <a:sym typeface="Calibri (MS)"/>
              </a:rPr>
              <a:t>PENOLA, JOHN PAUL</a:t>
            </a:r>
          </a:p>
        </p:txBody>
      </p:sp>
      <p:sp>
        <p:nvSpPr>
          <p:cNvPr name="TextBox 10" id="10"/>
          <p:cNvSpPr txBox="true"/>
          <p:nvPr/>
        </p:nvSpPr>
        <p:spPr>
          <a:xfrm rot="0">
            <a:off x="3833756" y="1430415"/>
            <a:ext cx="1869750" cy="592900"/>
          </a:xfrm>
          <a:prstGeom prst="rect">
            <a:avLst/>
          </a:prstGeom>
        </p:spPr>
        <p:txBody>
          <a:bodyPr anchor="t" rtlCol="false" tIns="0" lIns="0" bIns="0" rIns="0">
            <a:spAutoFit/>
          </a:bodyPr>
          <a:lstStyle/>
          <a:p>
            <a:pPr algn="ctr">
              <a:lnSpc>
                <a:spcPts val="2160"/>
              </a:lnSpc>
            </a:pPr>
            <a:r>
              <a:rPr lang="en-US" sz="1800">
                <a:solidFill>
                  <a:srgbClr val="000000"/>
                </a:solidFill>
                <a:latin typeface="Calibri (MS)"/>
                <a:ea typeface="Calibri (MS)"/>
                <a:cs typeface="Calibri (MS)"/>
                <a:sym typeface="Calibri (MS)"/>
              </a:rPr>
              <a:t>LIBAG. JOSHUA</a:t>
            </a:r>
          </a:p>
        </p:txBody>
      </p:sp>
      <p:sp>
        <p:nvSpPr>
          <p:cNvPr name="TextBox 11" id="11"/>
          <p:cNvSpPr txBox="true"/>
          <p:nvPr/>
        </p:nvSpPr>
        <p:spPr>
          <a:xfrm rot="0">
            <a:off x="6659299" y="1247559"/>
            <a:ext cx="2206350" cy="571500"/>
          </a:xfrm>
          <a:prstGeom prst="rect">
            <a:avLst/>
          </a:prstGeom>
        </p:spPr>
        <p:txBody>
          <a:bodyPr anchor="t" rtlCol="false" tIns="0" lIns="0" bIns="0" rIns="0">
            <a:spAutoFit/>
          </a:bodyPr>
          <a:lstStyle/>
          <a:p>
            <a:pPr algn="ctr">
              <a:lnSpc>
                <a:spcPts val="2160"/>
              </a:lnSpc>
            </a:pPr>
            <a:r>
              <a:rPr lang="en-US" sz="1800">
                <a:solidFill>
                  <a:srgbClr val="000000"/>
                </a:solidFill>
                <a:latin typeface="Calibri (MS)"/>
                <a:ea typeface="Calibri (MS)"/>
                <a:cs typeface="Calibri (MS)"/>
                <a:sym typeface="Calibri (MS)"/>
              </a:rPr>
              <a:t>HERNANDEZ, MARK DAVID</a:t>
            </a:r>
          </a:p>
        </p:txBody>
      </p:sp>
      <p:grpSp>
        <p:nvGrpSpPr>
          <p:cNvPr name="Group 12" id="12"/>
          <p:cNvGrpSpPr/>
          <p:nvPr/>
        </p:nvGrpSpPr>
        <p:grpSpPr>
          <a:xfrm rot="0">
            <a:off x="502891" y="3600430"/>
            <a:ext cx="2287725" cy="655725"/>
            <a:chOff x="0" y="0"/>
            <a:chExt cx="3050300" cy="874300"/>
          </a:xfrm>
        </p:grpSpPr>
        <p:sp>
          <p:nvSpPr>
            <p:cNvPr name="Freeform 13" id="13"/>
            <p:cNvSpPr/>
            <p:nvPr/>
          </p:nvSpPr>
          <p:spPr>
            <a:xfrm flipH="false" flipV="false" rot="0">
              <a:off x="0" y="0"/>
              <a:ext cx="3050286" cy="874268"/>
            </a:xfrm>
            <a:custGeom>
              <a:avLst/>
              <a:gdLst/>
              <a:ahLst/>
              <a:cxnLst/>
              <a:rect r="r" b="b" t="t" l="l"/>
              <a:pathLst>
                <a:path h="874268" w="3050286">
                  <a:moveTo>
                    <a:pt x="6350" y="0"/>
                  </a:moveTo>
                  <a:lnTo>
                    <a:pt x="3043936" y="0"/>
                  </a:lnTo>
                  <a:cubicBezTo>
                    <a:pt x="3047492" y="0"/>
                    <a:pt x="3050286" y="2794"/>
                    <a:pt x="3050286" y="6350"/>
                  </a:cubicBezTo>
                  <a:lnTo>
                    <a:pt x="3050286" y="867918"/>
                  </a:lnTo>
                  <a:cubicBezTo>
                    <a:pt x="3050286" y="871474"/>
                    <a:pt x="3047492" y="874268"/>
                    <a:pt x="3043936" y="874268"/>
                  </a:cubicBezTo>
                  <a:lnTo>
                    <a:pt x="6350" y="874268"/>
                  </a:lnTo>
                  <a:cubicBezTo>
                    <a:pt x="2794" y="874268"/>
                    <a:pt x="0" y="871474"/>
                    <a:pt x="0" y="867918"/>
                  </a:cubicBezTo>
                  <a:lnTo>
                    <a:pt x="0" y="6350"/>
                  </a:lnTo>
                  <a:cubicBezTo>
                    <a:pt x="0" y="2794"/>
                    <a:pt x="2794" y="0"/>
                    <a:pt x="6350" y="0"/>
                  </a:cubicBezTo>
                  <a:moveTo>
                    <a:pt x="6350" y="12700"/>
                  </a:moveTo>
                  <a:lnTo>
                    <a:pt x="6350" y="6350"/>
                  </a:lnTo>
                  <a:lnTo>
                    <a:pt x="12700" y="6350"/>
                  </a:lnTo>
                  <a:lnTo>
                    <a:pt x="12700" y="867918"/>
                  </a:lnTo>
                  <a:lnTo>
                    <a:pt x="6350" y="867918"/>
                  </a:lnTo>
                  <a:lnTo>
                    <a:pt x="6350" y="861568"/>
                  </a:lnTo>
                  <a:lnTo>
                    <a:pt x="3043936" y="861568"/>
                  </a:lnTo>
                  <a:lnTo>
                    <a:pt x="3043936" y="867918"/>
                  </a:lnTo>
                  <a:lnTo>
                    <a:pt x="3037586" y="867918"/>
                  </a:lnTo>
                  <a:lnTo>
                    <a:pt x="3037586" y="6350"/>
                  </a:lnTo>
                  <a:lnTo>
                    <a:pt x="3043936" y="6350"/>
                  </a:lnTo>
                  <a:lnTo>
                    <a:pt x="3043936" y="12700"/>
                  </a:lnTo>
                  <a:lnTo>
                    <a:pt x="6350" y="12700"/>
                  </a:lnTo>
                  <a:close/>
                </a:path>
              </a:pathLst>
            </a:custGeom>
            <a:solidFill>
              <a:srgbClr val="000000"/>
            </a:solidFill>
          </p:spPr>
        </p:sp>
        <p:sp>
          <p:nvSpPr>
            <p:cNvPr name="TextBox 14" id="14"/>
            <p:cNvSpPr txBox="true"/>
            <p:nvPr/>
          </p:nvSpPr>
          <p:spPr>
            <a:xfrm>
              <a:off x="0" y="-19050"/>
              <a:ext cx="3050300" cy="893350"/>
            </a:xfrm>
            <a:prstGeom prst="rect">
              <a:avLst/>
            </a:prstGeom>
          </p:spPr>
          <p:txBody>
            <a:bodyPr anchor="t" rtlCol="false" tIns="50800" lIns="50800" bIns="50800" rIns="50800"/>
            <a:lstStyle/>
            <a:p>
              <a:pPr algn="ctr">
                <a:lnSpc>
                  <a:spcPts val="1680"/>
                </a:lnSpc>
              </a:pPr>
            </a:p>
            <a:p>
              <a:pPr algn="ctr">
                <a:lnSpc>
                  <a:spcPts val="2160"/>
                </a:lnSpc>
              </a:pPr>
              <a:r>
                <a:rPr lang="en-US" sz="1800">
                  <a:solidFill>
                    <a:srgbClr val="000000"/>
                  </a:solidFill>
                  <a:latin typeface="Calibri (MS)"/>
                  <a:ea typeface="Calibri (MS)"/>
                  <a:cs typeface="Calibri (MS)"/>
                  <a:sym typeface="Calibri (MS)"/>
                </a:rPr>
                <a:t>Chief Executive Officer</a:t>
              </a:r>
            </a:p>
          </p:txBody>
        </p:sp>
      </p:grpSp>
      <p:grpSp>
        <p:nvGrpSpPr>
          <p:cNvPr name="Group 15" id="15"/>
          <p:cNvGrpSpPr/>
          <p:nvPr/>
        </p:nvGrpSpPr>
        <p:grpSpPr>
          <a:xfrm rot="0">
            <a:off x="3897272" y="3621055"/>
            <a:ext cx="1561725" cy="655725"/>
            <a:chOff x="0" y="0"/>
            <a:chExt cx="2082300" cy="874300"/>
          </a:xfrm>
        </p:grpSpPr>
        <p:sp>
          <p:nvSpPr>
            <p:cNvPr name="Freeform 16" id="16"/>
            <p:cNvSpPr/>
            <p:nvPr/>
          </p:nvSpPr>
          <p:spPr>
            <a:xfrm flipH="false" flipV="false" rot="0">
              <a:off x="0" y="0"/>
              <a:ext cx="2082292" cy="874268"/>
            </a:xfrm>
            <a:custGeom>
              <a:avLst/>
              <a:gdLst/>
              <a:ahLst/>
              <a:cxnLst/>
              <a:rect r="r" b="b" t="t" l="l"/>
              <a:pathLst>
                <a:path h="874268" w="2082292">
                  <a:moveTo>
                    <a:pt x="6350" y="0"/>
                  </a:moveTo>
                  <a:lnTo>
                    <a:pt x="2075942" y="0"/>
                  </a:lnTo>
                  <a:cubicBezTo>
                    <a:pt x="2079498" y="0"/>
                    <a:pt x="2082292" y="2794"/>
                    <a:pt x="2082292" y="6350"/>
                  </a:cubicBezTo>
                  <a:lnTo>
                    <a:pt x="2082292" y="867918"/>
                  </a:lnTo>
                  <a:cubicBezTo>
                    <a:pt x="2082292" y="871474"/>
                    <a:pt x="2079498" y="874268"/>
                    <a:pt x="2075942" y="874268"/>
                  </a:cubicBezTo>
                  <a:lnTo>
                    <a:pt x="6350" y="874268"/>
                  </a:lnTo>
                  <a:cubicBezTo>
                    <a:pt x="2794" y="874268"/>
                    <a:pt x="0" y="871474"/>
                    <a:pt x="0" y="867918"/>
                  </a:cubicBezTo>
                  <a:lnTo>
                    <a:pt x="0" y="6350"/>
                  </a:lnTo>
                  <a:cubicBezTo>
                    <a:pt x="0" y="2794"/>
                    <a:pt x="2794" y="0"/>
                    <a:pt x="6350" y="0"/>
                  </a:cubicBezTo>
                  <a:moveTo>
                    <a:pt x="6350" y="12700"/>
                  </a:moveTo>
                  <a:lnTo>
                    <a:pt x="6350" y="6350"/>
                  </a:lnTo>
                  <a:lnTo>
                    <a:pt x="12700" y="6350"/>
                  </a:lnTo>
                  <a:lnTo>
                    <a:pt x="12700" y="867918"/>
                  </a:lnTo>
                  <a:lnTo>
                    <a:pt x="6350" y="867918"/>
                  </a:lnTo>
                  <a:lnTo>
                    <a:pt x="6350" y="861568"/>
                  </a:lnTo>
                  <a:lnTo>
                    <a:pt x="2075942" y="861568"/>
                  </a:lnTo>
                  <a:lnTo>
                    <a:pt x="2075942" y="867918"/>
                  </a:lnTo>
                  <a:lnTo>
                    <a:pt x="2069592" y="867918"/>
                  </a:lnTo>
                  <a:lnTo>
                    <a:pt x="2069592" y="6350"/>
                  </a:lnTo>
                  <a:lnTo>
                    <a:pt x="2075942" y="6350"/>
                  </a:lnTo>
                  <a:lnTo>
                    <a:pt x="2075942" y="12700"/>
                  </a:lnTo>
                  <a:lnTo>
                    <a:pt x="6350" y="12700"/>
                  </a:lnTo>
                  <a:close/>
                </a:path>
              </a:pathLst>
            </a:custGeom>
            <a:solidFill>
              <a:srgbClr val="000000"/>
            </a:solidFill>
          </p:spPr>
        </p:sp>
        <p:sp>
          <p:nvSpPr>
            <p:cNvPr name="TextBox 17" id="17"/>
            <p:cNvSpPr txBox="true"/>
            <p:nvPr/>
          </p:nvSpPr>
          <p:spPr>
            <a:xfrm>
              <a:off x="0" y="-38100"/>
              <a:ext cx="2082300" cy="912400"/>
            </a:xfrm>
            <a:prstGeom prst="rect">
              <a:avLst/>
            </a:prstGeom>
          </p:spPr>
          <p:txBody>
            <a:bodyPr anchor="t" rtlCol="false" tIns="50800" lIns="50800" bIns="50800" rIns="50800"/>
            <a:lstStyle/>
            <a:p>
              <a:pPr algn="l">
                <a:lnSpc>
                  <a:spcPts val="2160"/>
                </a:lnSpc>
              </a:pPr>
              <a:r>
                <a:rPr lang="en-US" sz="1800">
                  <a:solidFill>
                    <a:srgbClr val="000000"/>
                  </a:solidFill>
                  <a:latin typeface="Calibri (MS)"/>
                  <a:ea typeface="Calibri (MS)"/>
                  <a:cs typeface="Calibri (MS)"/>
                  <a:sym typeface="Calibri (MS)"/>
                </a:rPr>
                <a:t>Role/Position: </a:t>
              </a:r>
            </a:p>
            <a:p>
              <a:pPr algn="ctr">
                <a:lnSpc>
                  <a:spcPts val="2160"/>
                </a:lnSpc>
              </a:pPr>
              <a:r>
                <a:rPr lang="en-US" sz="1800">
                  <a:solidFill>
                    <a:srgbClr val="000000"/>
                  </a:solidFill>
                  <a:latin typeface="Calibri (MS)"/>
                  <a:ea typeface="Calibri (MS)"/>
                  <a:cs typeface="Calibri (MS)"/>
                  <a:sym typeface="Calibri (MS)"/>
                </a:rPr>
                <a:t>COO </a:t>
              </a:r>
            </a:p>
          </p:txBody>
        </p:sp>
      </p:grpSp>
      <p:grpSp>
        <p:nvGrpSpPr>
          <p:cNvPr name="Group 18" id="18"/>
          <p:cNvGrpSpPr/>
          <p:nvPr/>
        </p:nvGrpSpPr>
        <p:grpSpPr>
          <a:xfrm rot="0">
            <a:off x="7037798" y="3596464"/>
            <a:ext cx="1561725" cy="655725"/>
            <a:chOff x="0" y="0"/>
            <a:chExt cx="2082300" cy="874300"/>
          </a:xfrm>
        </p:grpSpPr>
        <p:sp>
          <p:nvSpPr>
            <p:cNvPr name="Freeform 19" id="19"/>
            <p:cNvSpPr/>
            <p:nvPr/>
          </p:nvSpPr>
          <p:spPr>
            <a:xfrm flipH="false" flipV="false" rot="0">
              <a:off x="0" y="0"/>
              <a:ext cx="2082292" cy="874268"/>
            </a:xfrm>
            <a:custGeom>
              <a:avLst/>
              <a:gdLst/>
              <a:ahLst/>
              <a:cxnLst/>
              <a:rect r="r" b="b" t="t" l="l"/>
              <a:pathLst>
                <a:path h="874268" w="2082292">
                  <a:moveTo>
                    <a:pt x="6350" y="0"/>
                  </a:moveTo>
                  <a:lnTo>
                    <a:pt x="2075942" y="0"/>
                  </a:lnTo>
                  <a:cubicBezTo>
                    <a:pt x="2079498" y="0"/>
                    <a:pt x="2082292" y="2794"/>
                    <a:pt x="2082292" y="6350"/>
                  </a:cubicBezTo>
                  <a:lnTo>
                    <a:pt x="2082292" y="867918"/>
                  </a:lnTo>
                  <a:cubicBezTo>
                    <a:pt x="2082292" y="871474"/>
                    <a:pt x="2079498" y="874268"/>
                    <a:pt x="2075942" y="874268"/>
                  </a:cubicBezTo>
                  <a:lnTo>
                    <a:pt x="6350" y="874268"/>
                  </a:lnTo>
                  <a:cubicBezTo>
                    <a:pt x="2794" y="874268"/>
                    <a:pt x="0" y="871474"/>
                    <a:pt x="0" y="867918"/>
                  </a:cubicBezTo>
                  <a:lnTo>
                    <a:pt x="0" y="6350"/>
                  </a:lnTo>
                  <a:cubicBezTo>
                    <a:pt x="0" y="2794"/>
                    <a:pt x="2794" y="0"/>
                    <a:pt x="6350" y="0"/>
                  </a:cubicBezTo>
                  <a:moveTo>
                    <a:pt x="6350" y="12700"/>
                  </a:moveTo>
                  <a:lnTo>
                    <a:pt x="6350" y="6350"/>
                  </a:lnTo>
                  <a:lnTo>
                    <a:pt x="12700" y="6350"/>
                  </a:lnTo>
                  <a:lnTo>
                    <a:pt x="12700" y="867918"/>
                  </a:lnTo>
                  <a:lnTo>
                    <a:pt x="6350" y="867918"/>
                  </a:lnTo>
                  <a:lnTo>
                    <a:pt x="6350" y="861568"/>
                  </a:lnTo>
                  <a:lnTo>
                    <a:pt x="2075942" y="861568"/>
                  </a:lnTo>
                  <a:lnTo>
                    <a:pt x="2075942" y="867918"/>
                  </a:lnTo>
                  <a:lnTo>
                    <a:pt x="2069592" y="867918"/>
                  </a:lnTo>
                  <a:lnTo>
                    <a:pt x="2069592" y="6350"/>
                  </a:lnTo>
                  <a:lnTo>
                    <a:pt x="2075942" y="6350"/>
                  </a:lnTo>
                  <a:lnTo>
                    <a:pt x="2075942" y="12700"/>
                  </a:lnTo>
                  <a:lnTo>
                    <a:pt x="6350" y="12700"/>
                  </a:lnTo>
                  <a:close/>
                </a:path>
              </a:pathLst>
            </a:custGeom>
            <a:solidFill>
              <a:srgbClr val="000000"/>
            </a:solidFill>
          </p:spPr>
        </p:sp>
        <p:sp>
          <p:nvSpPr>
            <p:cNvPr name="TextBox 20" id="20"/>
            <p:cNvSpPr txBox="true"/>
            <p:nvPr/>
          </p:nvSpPr>
          <p:spPr>
            <a:xfrm>
              <a:off x="0" y="-38100"/>
              <a:ext cx="2082300" cy="912400"/>
            </a:xfrm>
            <a:prstGeom prst="rect">
              <a:avLst/>
            </a:prstGeom>
          </p:spPr>
          <p:txBody>
            <a:bodyPr anchor="t"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Role/Position: </a:t>
              </a:r>
            </a:p>
            <a:p>
              <a:pPr algn="ctr">
                <a:lnSpc>
                  <a:spcPts val="2160"/>
                </a:lnSpc>
              </a:pPr>
              <a:r>
                <a:rPr lang="en-US" sz="1800">
                  <a:solidFill>
                    <a:srgbClr val="000000"/>
                  </a:solidFill>
                  <a:latin typeface="Calibri (MS)"/>
                  <a:ea typeface="Calibri (MS)"/>
                  <a:cs typeface="Calibri (MS)"/>
                  <a:sym typeface="Calibri (MS)"/>
                </a:rPr>
                <a:t>CTO</a:t>
              </a:r>
            </a:p>
          </p:txBody>
        </p:sp>
      </p:grpSp>
      <p:grpSp>
        <p:nvGrpSpPr>
          <p:cNvPr name="Group 21" id="21"/>
          <p:cNvGrpSpPr/>
          <p:nvPr/>
        </p:nvGrpSpPr>
        <p:grpSpPr>
          <a:xfrm rot="0">
            <a:off x="199438" y="4354362"/>
            <a:ext cx="2894625" cy="5591925"/>
            <a:chOff x="0" y="0"/>
            <a:chExt cx="3859500" cy="7455900"/>
          </a:xfrm>
        </p:grpSpPr>
        <p:sp>
          <p:nvSpPr>
            <p:cNvPr name="Freeform 22" id="22"/>
            <p:cNvSpPr/>
            <p:nvPr/>
          </p:nvSpPr>
          <p:spPr>
            <a:xfrm flipH="false" flipV="false" rot="0">
              <a:off x="0" y="0"/>
              <a:ext cx="3859530" cy="7455916"/>
            </a:xfrm>
            <a:custGeom>
              <a:avLst/>
              <a:gdLst/>
              <a:ahLst/>
              <a:cxnLst/>
              <a:rect r="r" b="b" t="t" l="l"/>
              <a:pathLst>
                <a:path h="7455916" w="3859530">
                  <a:moveTo>
                    <a:pt x="6350" y="0"/>
                  </a:moveTo>
                  <a:lnTo>
                    <a:pt x="3853180" y="0"/>
                  </a:lnTo>
                  <a:cubicBezTo>
                    <a:pt x="3856736" y="0"/>
                    <a:pt x="3859530" y="2794"/>
                    <a:pt x="3859530" y="6350"/>
                  </a:cubicBezTo>
                  <a:lnTo>
                    <a:pt x="3859530" y="7449566"/>
                  </a:lnTo>
                  <a:cubicBezTo>
                    <a:pt x="3859530" y="7453123"/>
                    <a:pt x="3856736" y="7455916"/>
                    <a:pt x="3853180" y="7455916"/>
                  </a:cubicBezTo>
                  <a:lnTo>
                    <a:pt x="6350" y="7455916"/>
                  </a:lnTo>
                  <a:cubicBezTo>
                    <a:pt x="2794" y="7455916"/>
                    <a:pt x="0" y="7453123"/>
                    <a:pt x="0" y="7449566"/>
                  </a:cubicBezTo>
                  <a:lnTo>
                    <a:pt x="0" y="6350"/>
                  </a:lnTo>
                  <a:cubicBezTo>
                    <a:pt x="0" y="2794"/>
                    <a:pt x="2794" y="0"/>
                    <a:pt x="6350" y="0"/>
                  </a:cubicBezTo>
                  <a:moveTo>
                    <a:pt x="6350" y="12700"/>
                  </a:moveTo>
                  <a:lnTo>
                    <a:pt x="6350" y="6350"/>
                  </a:lnTo>
                  <a:lnTo>
                    <a:pt x="12700" y="6350"/>
                  </a:lnTo>
                  <a:lnTo>
                    <a:pt x="12700" y="7449566"/>
                  </a:lnTo>
                  <a:lnTo>
                    <a:pt x="6350" y="7449566"/>
                  </a:lnTo>
                  <a:lnTo>
                    <a:pt x="6350" y="7443216"/>
                  </a:lnTo>
                  <a:lnTo>
                    <a:pt x="3853180" y="7443216"/>
                  </a:lnTo>
                  <a:lnTo>
                    <a:pt x="3853180" y="7449566"/>
                  </a:lnTo>
                  <a:lnTo>
                    <a:pt x="3846830" y="7449566"/>
                  </a:lnTo>
                  <a:lnTo>
                    <a:pt x="3846830" y="6350"/>
                  </a:lnTo>
                  <a:lnTo>
                    <a:pt x="3853180" y="6350"/>
                  </a:lnTo>
                  <a:lnTo>
                    <a:pt x="3853180" y="12700"/>
                  </a:lnTo>
                  <a:lnTo>
                    <a:pt x="6350" y="12700"/>
                  </a:lnTo>
                  <a:close/>
                </a:path>
              </a:pathLst>
            </a:custGeom>
            <a:solidFill>
              <a:srgbClr val="000000"/>
            </a:solidFill>
          </p:spPr>
        </p:sp>
        <p:sp>
          <p:nvSpPr>
            <p:cNvPr name="TextBox 23" id="23"/>
            <p:cNvSpPr txBox="true"/>
            <p:nvPr/>
          </p:nvSpPr>
          <p:spPr>
            <a:xfrm>
              <a:off x="0" y="-38100"/>
              <a:ext cx="3859500" cy="7494000"/>
            </a:xfrm>
            <a:prstGeom prst="rect">
              <a:avLst/>
            </a:prstGeom>
          </p:spPr>
          <p:txBody>
            <a:bodyPr anchor="t" rtlCol="false" tIns="50800" lIns="50800" bIns="50800" rIns="50800"/>
            <a:lstStyle/>
            <a:p>
              <a:pPr algn="l">
                <a:lnSpc>
                  <a:spcPts val="2160"/>
                </a:lnSpc>
              </a:pPr>
              <a:r>
                <a:rPr lang="en-US" sz="1800">
                  <a:solidFill>
                    <a:srgbClr val="000000"/>
                  </a:solidFill>
                  <a:latin typeface="Calibri (MS)"/>
                  <a:ea typeface="Calibri (MS)"/>
                  <a:cs typeface="Calibri (MS)"/>
                  <a:sym typeface="Calibri (MS)"/>
                </a:rPr>
                <a:t>Key Strengths and abilities:</a:t>
              </a:r>
            </a:p>
            <a:p>
              <a:pPr algn="just" marL="314325" indent="-157162" lvl="1">
                <a:lnSpc>
                  <a:spcPts val="1800"/>
                </a:lnSpc>
                <a:buFont typeface="Arial"/>
                <a:buChar char="•"/>
              </a:pPr>
              <a:r>
                <a:rPr lang="en-US" sz="1500">
                  <a:solidFill>
                    <a:srgbClr val="000000"/>
                  </a:solidFill>
                  <a:latin typeface="Calibri (MS)"/>
                  <a:ea typeface="Calibri (MS)"/>
                  <a:cs typeface="Calibri (MS)"/>
                  <a:sym typeface="Calibri (MS)"/>
                </a:rPr>
                <a:t>Strong leadership and initiative (driving most of the project work).</a:t>
              </a:r>
            </a:p>
            <a:p>
              <a:pPr algn="just" marL="314325" indent="-157162" lvl="1">
                <a:lnSpc>
                  <a:spcPts val="1800"/>
                </a:lnSpc>
                <a:buFont typeface="Arial"/>
                <a:buChar char="•"/>
              </a:pPr>
              <a:r>
                <a:rPr lang="en-US" sz="1500">
                  <a:solidFill>
                    <a:srgbClr val="000000"/>
                  </a:solidFill>
                  <a:latin typeface="Calibri (MS)"/>
                  <a:ea typeface="Calibri (MS)"/>
                  <a:cs typeface="Calibri (MS)"/>
                  <a:sym typeface="Calibri (MS)"/>
                </a:rPr>
                <a:t>Skilled in research, data gathering, and market validation.</a:t>
              </a:r>
            </a:p>
            <a:p>
              <a:pPr algn="just" marL="314325" indent="-157162" lvl="1">
                <a:lnSpc>
                  <a:spcPts val="1800"/>
                </a:lnSpc>
                <a:buFont typeface="Arial"/>
                <a:buChar char="•"/>
              </a:pPr>
              <a:r>
                <a:rPr lang="en-US" sz="1500">
                  <a:solidFill>
                    <a:srgbClr val="000000"/>
                  </a:solidFill>
                  <a:latin typeface="Calibri (MS)"/>
                  <a:ea typeface="Calibri (MS)"/>
                  <a:cs typeface="Calibri (MS)"/>
                  <a:sym typeface="Calibri (MS)"/>
                </a:rPr>
                <a:t>Ability to design and organize surveys, interpret results, and turn insights into strategy.</a:t>
              </a:r>
            </a:p>
            <a:p>
              <a:pPr algn="just" marL="314325" indent="-157162" lvl="1">
                <a:lnSpc>
                  <a:spcPts val="1800"/>
                </a:lnSpc>
                <a:buFont typeface="Arial"/>
                <a:buChar char="•"/>
              </a:pPr>
              <a:r>
                <a:rPr lang="en-US" sz="1500">
                  <a:solidFill>
                    <a:srgbClr val="000000"/>
                  </a:solidFill>
                  <a:latin typeface="Calibri (MS)"/>
                  <a:ea typeface="Calibri (MS)"/>
                  <a:cs typeface="Calibri (MS)"/>
                  <a:sym typeface="Calibri (MS)"/>
                </a:rPr>
                <a:t>Excellent presentation and documentation skills.</a:t>
              </a:r>
            </a:p>
            <a:p>
              <a:pPr algn="just" marL="314325" indent="-157162" lvl="1">
                <a:lnSpc>
                  <a:spcPts val="1800"/>
                </a:lnSpc>
                <a:buFont typeface="Arial"/>
                <a:buChar char="•"/>
              </a:pPr>
              <a:r>
                <a:rPr lang="en-US" sz="1500">
                  <a:solidFill>
                    <a:srgbClr val="000000"/>
                  </a:solidFill>
                  <a:latin typeface="Calibri (MS)"/>
                  <a:ea typeface="Calibri (MS)"/>
                  <a:cs typeface="Calibri (MS)"/>
                  <a:sym typeface="Calibri (MS)"/>
                </a:rPr>
                <a:t>Multitasker – managing multiple aspects (concept development, analysis, and coordination).</a:t>
              </a:r>
            </a:p>
            <a:p>
              <a:pPr algn="just" marL="314325" indent="-157162" lvl="1">
                <a:lnSpc>
                  <a:spcPts val="1800"/>
                </a:lnSpc>
                <a:buFont typeface="Arial"/>
                <a:buChar char="•"/>
              </a:pPr>
              <a:r>
                <a:rPr lang="en-US" sz="1500">
                  <a:solidFill>
                    <a:srgbClr val="000000"/>
                  </a:solidFill>
                  <a:latin typeface="Calibri (MS)"/>
                  <a:ea typeface="Calibri (MS)"/>
                  <a:cs typeface="Calibri (MS)"/>
                  <a:sym typeface="Calibri (MS)"/>
                </a:rPr>
                <a:t>Passion for pets and empathy for customer needs (core to the product vision).</a:t>
              </a:r>
            </a:p>
            <a:p>
              <a:pPr algn="just" marL="314325" indent="-157162" lvl="1">
                <a:lnSpc>
                  <a:spcPts val="1800"/>
                </a:lnSpc>
                <a:buFont typeface="Arial"/>
                <a:buChar char="•"/>
              </a:pPr>
              <a:r>
                <a:rPr lang="en-US" sz="1500">
                  <a:solidFill>
                    <a:srgbClr val="000000"/>
                  </a:solidFill>
                  <a:latin typeface="Calibri (MS)"/>
                  <a:ea typeface="Calibri (MS)"/>
                  <a:cs typeface="Calibri (MS)"/>
                  <a:sym typeface="Calibri (MS)"/>
                </a:rPr>
                <a:t>Entrepreneurial mindset with creativity in problem-solving.</a:t>
              </a:r>
            </a:p>
            <a:p>
              <a:pPr algn="just" marL="293371" indent="-146685" lvl="1">
                <a:lnSpc>
                  <a:spcPts val="1680"/>
                </a:lnSpc>
              </a:pPr>
            </a:p>
            <a:p>
              <a:pPr algn="l" marL="293371" indent="-146685" lvl="1">
                <a:lnSpc>
                  <a:spcPts val="1680"/>
                </a:lnSpc>
              </a:pPr>
            </a:p>
            <a:p>
              <a:pPr algn="l" marL="293371" indent="-146685" lvl="1">
                <a:lnSpc>
                  <a:spcPts val="1680"/>
                </a:lnSpc>
              </a:pPr>
            </a:p>
            <a:p>
              <a:pPr algn="l" marL="293371" indent="-146685" lvl="1">
                <a:lnSpc>
                  <a:spcPts val="1680"/>
                </a:lnSpc>
              </a:pPr>
            </a:p>
            <a:p>
              <a:pPr algn="l" marL="293371" indent="-146685" lvl="1">
                <a:lnSpc>
                  <a:spcPts val="1680"/>
                </a:lnSpc>
              </a:pPr>
            </a:p>
            <a:p>
              <a:pPr algn="l" marL="293371" indent="-146685" lvl="1">
                <a:lnSpc>
                  <a:spcPts val="1680"/>
                </a:lnSpc>
              </a:pPr>
            </a:p>
            <a:p>
              <a:pPr algn="l" marL="293371" indent="-146685" lvl="1">
                <a:lnSpc>
                  <a:spcPts val="1680"/>
                </a:lnSpc>
              </a:pPr>
            </a:p>
            <a:p>
              <a:pPr algn="l" marL="293371" indent="-146685" lvl="1">
                <a:lnSpc>
                  <a:spcPts val="1680"/>
                </a:lnSpc>
              </a:pPr>
            </a:p>
            <a:p>
              <a:pPr algn="l" marL="293371" indent="-146685" lvl="1">
                <a:lnSpc>
                  <a:spcPts val="1680"/>
                </a:lnSpc>
              </a:pPr>
            </a:p>
          </p:txBody>
        </p:sp>
      </p:grpSp>
      <p:grpSp>
        <p:nvGrpSpPr>
          <p:cNvPr name="Group 24" id="24"/>
          <p:cNvGrpSpPr/>
          <p:nvPr/>
        </p:nvGrpSpPr>
        <p:grpSpPr>
          <a:xfrm rot="0">
            <a:off x="3341462" y="4436112"/>
            <a:ext cx="2854425" cy="5551125"/>
            <a:chOff x="0" y="0"/>
            <a:chExt cx="3805900" cy="7401500"/>
          </a:xfrm>
        </p:grpSpPr>
        <p:sp>
          <p:nvSpPr>
            <p:cNvPr name="Freeform 25" id="25"/>
            <p:cNvSpPr/>
            <p:nvPr/>
          </p:nvSpPr>
          <p:spPr>
            <a:xfrm flipH="false" flipV="false" rot="0">
              <a:off x="0" y="0"/>
              <a:ext cx="3805936" cy="7401560"/>
            </a:xfrm>
            <a:custGeom>
              <a:avLst/>
              <a:gdLst/>
              <a:ahLst/>
              <a:cxnLst/>
              <a:rect r="r" b="b" t="t" l="l"/>
              <a:pathLst>
                <a:path h="7401560" w="3805936">
                  <a:moveTo>
                    <a:pt x="6350" y="0"/>
                  </a:moveTo>
                  <a:lnTo>
                    <a:pt x="3799586" y="0"/>
                  </a:lnTo>
                  <a:cubicBezTo>
                    <a:pt x="3803142" y="0"/>
                    <a:pt x="3805936" y="2794"/>
                    <a:pt x="3805936" y="6350"/>
                  </a:cubicBezTo>
                  <a:lnTo>
                    <a:pt x="3805936" y="7395210"/>
                  </a:lnTo>
                  <a:cubicBezTo>
                    <a:pt x="3805936" y="7398766"/>
                    <a:pt x="3803142" y="7401560"/>
                    <a:pt x="3799586" y="7401560"/>
                  </a:cubicBezTo>
                  <a:lnTo>
                    <a:pt x="6350" y="7401560"/>
                  </a:lnTo>
                  <a:cubicBezTo>
                    <a:pt x="2794" y="7401560"/>
                    <a:pt x="0" y="7398766"/>
                    <a:pt x="0" y="7395210"/>
                  </a:cubicBezTo>
                  <a:lnTo>
                    <a:pt x="0" y="6350"/>
                  </a:lnTo>
                  <a:cubicBezTo>
                    <a:pt x="0" y="2794"/>
                    <a:pt x="2794" y="0"/>
                    <a:pt x="6350" y="0"/>
                  </a:cubicBezTo>
                  <a:moveTo>
                    <a:pt x="6350" y="12700"/>
                  </a:moveTo>
                  <a:lnTo>
                    <a:pt x="6350" y="6350"/>
                  </a:lnTo>
                  <a:lnTo>
                    <a:pt x="12700" y="6350"/>
                  </a:lnTo>
                  <a:lnTo>
                    <a:pt x="12700" y="7395210"/>
                  </a:lnTo>
                  <a:lnTo>
                    <a:pt x="6350" y="7395210"/>
                  </a:lnTo>
                  <a:lnTo>
                    <a:pt x="6350" y="7388860"/>
                  </a:lnTo>
                  <a:lnTo>
                    <a:pt x="3799586" y="7388860"/>
                  </a:lnTo>
                  <a:lnTo>
                    <a:pt x="3799586" y="7395210"/>
                  </a:lnTo>
                  <a:lnTo>
                    <a:pt x="3793236" y="7395210"/>
                  </a:lnTo>
                  <a:lnTo>
                    <a:pt x="3793236" y="6350"/>
                  </a:lnTo>
                  <a:lnTo>
                    <a:pt x="3799586" y="6350"/>
                  </a:lnTo>
                  <a:lnTo>
                    <a:pt x="3799586" y="12700"/>
                  </a:lnTo>
                  <a:lnTo>
                    <a:pt x="6350" y="12700"/>
                  </a:lnTo>
                  <a:close/>
                </a:path>
              </a:pathLst>
            </a:custGeom>
            <a:solidFill>
              <a:srgbClr val="000000"/>
            </a:solidFill>
          </p:spPr>
        </p:sp>
        <p:sp>
          <p:nvSpPr>
            <p:cNvPr name="TextBox 26" id="26"/>
            <p:cNvSpPr txBox="true"/>
            <p:nvPr/>
          </p:nvSpPr>
          <p:spPr>
            <a:xfrm>
              <a:off x="0" y="-38100"/>
              <a:ext cx="3805900" cy="7439600"/>
            </a:xfrm>
            <a:prstGeom prst="rect">
              <a:avLst/>
            </a:prstGeom>
          </p:spPr>
          <p:txBody>
            <a:bodyPr anchor="t" rtlCol="false" tIns="50800" lIns="50800" bIns="50800" rIns="50800"/>
            <a:lstStyle/>
            <a:p>
              <a:pPr algn="l">
                <a:lnSpc>
                  <a:spcPts val="2160"/>
                </a:lnSpc>
              </a:pPr>
              <a:r>
                <a:rPr lang="en-US" sz="1800">
                  <a:solidFill>
                    <a:srgbClr val="000000"/>
                  </a:solidFill>
                  <a:latin typeface="Calibri (MS)"/>
                  <a:ea typeface="Calibri (MS)"/>
                  <a:cs typeface="Calibri (MS)"/>
                  <a:sym typeface="Calibri (MS)"/>
                </a:rPr>
                <a:t>Key Strengths and abilities:</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Organized and detail-oriented; ensures smooth workflow.</a:t>
              </a:r>
            </a:p>
            <a:p>
              <a:pPr algn="just" marL="257810" indent="-128905" lvl="1">
                <a:lnSpc>
                  <a:spcPts val="1680"/>
                </a:lnSpc>
              </a:pP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Good at managing schedules, deadlines, and task distribution.</a:t>
              </a:r>
            </a:p>
            <a:p>
              <a:pPr algn="just" marL="257810" indent="-128905" lvl="1">
                <a:lnSpc>
                  <a:spcPts val="1680"/>
                </a:lnSpc>
              </a:pP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Coordinates between team members and keeps everyone accountable.</a:t>
              </a:r>
            </a:p>
            <a:p>
              <a:pPr algn="just" marL="257810" indent="-128905" lvl="1">
                <a:lnSpc>
                  <a:spcPts val="1680"/>
                </a:lnSpc>
              </a:pP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Ability to streamline processes and improve efficiency.</a:t>
              </a: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p:txBody>
        </p:sp>
      </p:grpSp>
      <p:grpSp>
        <p:nvGrpSpPr>
          <p:cNvPr name="Group 27" id="27"/>
          <p:cNvGrpSpPr/>
          <p:nvPr/>
        </p:nvGrpSpPr>
        <p:grpSpPr>
          <a:xfrm rot="0">
            <a:off x="6443388" y="4436112"/>
            <a:ext cx="2638125" cy="5551125"/>
            <a:chOff x="0" y="0"/>
            <a:chExt cx="3517500" cy="7401500"/>
          </a:xfrm>
        </p:grpSpPr>
        <p:sp>
          <p:nvSpPr>
            <p:cNvPr name="Freeform 28" id="28"/>
            <p:cNvSpPr/>
            <p:nvPr/>
          </p:nvSpPr>
          <p:spPr>
            <a:xfrm flipH="false" flipV="false" rot="0">
              <a:off x="0" y="0"/>
              <a:ext cx="3517519" cy="7401560"/>
            </a:xfrm>
            <a:custGeom>
              <a:avLst/>
              <a:gdLst/>
              <a:ahLst/>
              <a:cxnLst/>
              <a:rect r="r" b="b" t="t" l="l"/>
              <a:pathLst>
                <a:path h="7401560" w="3517519">
                  <a:moveTo>
                    <a:pt x="6350" y="0"/>
                  </a:moveTo>
                  <a:lnTo>
                    <a:pt x="3511169" y="0"/>
                  </a:lnTo>
                  <a:cubicBezTo>
                    <a:pt x="3514725" y="0"/>
                    <a:pt x="3517519" y="2794"/>
                    <a:pt x="3517519" y="6350"/>
                  </a:cubicBezTo>
                  <a:lnTo>
                    <a:pt x="3517519" y="7395210"/>
                  </a:lnTo>
                  <a:cubicBezTo>
                    <a:pt x="3517519" y="7398766"/>
                    <a:pt x="3514725" y="7401560"/>
                    <a:pt x="3511169" y="7401560"/>
                  </a:cubicBezTo>
                  <a:lnTo>
                    <a:pt x="6350" y="7401560"/>
                  </a:lnTo>
                  <a:cubicBezTo>
                    <a:pt x="2794" y="7401560"/>
                    <a:pt x="0" y="7398766"/>
                    <a:pt x="0" y="7395210"/>
                  </a:cubicBezTo>
                  <a:lnTo>
                    <a:pt x="0" y="6350"/>
                  </a:lnTo>
                  <a:cubicBezTo>
                    <a:pt x="0" y="2794"/>
                    <a:pt x="2794" y="0"/>
                    <a:pt x="6350" y="0"/>
                  </a:cubicBezTo>
                  <a:moveTo>
                    <a:pt x="6350" y="12700"/>
                  </a:moveTo>
                  <a:lnTo>
                    <a:pt x="6350" y="6350"/>
                  </a:lnTo>
                  <a:lnTo>
                    <a:pt x="12700" y="6350"/>
                  </a:lnTo>
                  <a:lnTo>
                    <a:pt x="12700" y="7395210"/>
                  </a:lnTo>
                  <a:lnTo>
                    <a:pt x="6350" y="7395210"/>
                  </a:lnTo>
                  <a:lnTo>
                    <a:pt x="6350" y="7388860"/>
                  </a:lnTo>
                  <a:lnTo>
                    <a:pt x="3511169" y="7388860"/>
                  </a:lnTo>
                  <a:lnTo>
                    <a:pt x="3511169" y="7395210"/>
                  </a:lnTo>
                  <a:lnTo>
                    <a:pt x="3504819" y="7395210"/>
                  </a:lnTo>
                  <a:lnTo>
                    <a:pt x="3504819" y="6350"/>
                  </a:lnTo>
                  <a:lnTo>
                    <a:pt x="3511169" y="6350"/>
                  </a:lnTo>
                  <a:lnTo>
                    <a:pt x="3511169" y="12700"/>
                  </a:lnTo>
                  <a:lnTo>
                    <a:pt x="6350" y="12700"/>
                  </a:lnTo>
                  <a:close/>
                </a:path>
              </a:pathLst>
            </a:custGeom>
            <a:solidFill>
              <a:srgbClr val="000000"/>
            </a:solidFill>
          </p:spPr>
        </p:sp>
        <p:sp>
          <p:nvSpPr>
            <p:cNvPr name="TextBox 29" id="29"/>
            <p:cNvSpPr txBox="true"/>
            <p:nvPr/>
          </p:nvSpPr>
          <p:spPr>
            <a:xfrm>
              <a:off x="0" y="-38100"/>
              <a:ext cx="3517500" cy="7439600"/>
            </a:xfrm>
            <a:prstGeom prst="rect">
              <a:avLst/>
            </a:prstGeom>
          </p:spPr>
          <p:txBody>
            <a:bodyPr anchor="t" rtlCol="false" tIns="50800" lIns="50800" bIns="50800" rIns="50800"/>
            <a:lstStyle/>
            <a:p>
              <a:pPr algn="l">
                <a:lnSpc>
                  <a:spcPts val="2160"/>
                </a:lnSpc>
              </a:pPr>
              <a:r>
                <a:rPr lang="en-US" sz="1800">
                  <a:solidFill>
                    <a:srgbClr val="000000"/>
                  </a:solidFill>
                  <a:latin typeface="Calibri (MS)"/>
                  <a:ea typeface="Calibri (MS)"/>
                  <a:cs typeface="Calibri (MS)"/>
                  <a:sym typeface="Calibri (MS)"/>
                </a:rPr>
                <a:t>Key Strengths and abilities:</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Knowledge in mobile app development and emerging tech.</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Strong problem-solving skills in technical design and implementation.</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Ability to evaluate tools, platforms, and security for the app.</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Passion for innovation and ensuring the app is user-friendly and reliable. :</a:t>
              </a: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p:txBody>
        </p:sp>
      </p:grpSp>
      <p:grpSp>
        <p:nvGrpSpPr>
          <p:cNvPr name="Group 30" id="30"/>
          <p:cNvGrpSpPr/>
          <p:nvPr/>
        </p:nvGrpSpPr>
        <p:grpSpPr>
          <a:xfrm rot="0">
            <a:off x="15052738" y="1418062"/>
            <a:ext cx="2894625" cy="8528325"/>
            <a:chOff x="0" y="0"/>
            <a:chExt cx="3859500" cy="11371100"/>
          </a:xfrm>
        </p:grpSpPr>
        <p:sp>
          <p:nvSpPr>
            <p:cNvPr name="Freeform 31" id="31"/>
            <p:cNvSpPr/>
            <p:nvPr/>
          </p:nvSpPr>
          <p:spPr>
            <a:xfrm flipH="false" flipV="false" rot="0">
              <a:off x="0" y="0"/>
              <a:ext cx="3859530" cy="11371072"/>
            </a:xfrm>
            <a:custGeom>
              <a:avLst/>
              <a:gdLst/>
              <a:ahLst/>
              <a:cxnLst/>
              <a:rect r="r" b="b" t="t" l="l"/>
              <a:pathLst>
                <a:path h="11371072" w="3859530">
                  <a:moveTo>
                    <a:pt x="6350" y="0"/>
                  </a:moveTo>
                  <a:lnTo>
                    <a:pt x="3853180" y="0"/>
                  </a:lnTo>
                  <a:cubicBezTo>
                    <a:pt x="3856736" y="0"/>
                    <a:pt x="3859530" y="2794"/>
                    <a:pt x="3859530" y="6350"/>
                  </a:cubicBezTo>
                  <a:lnTo>
                    <a:pt x="3859530" y="11364722"/>
                  </a:lnTo>
                  <a:cubicBezTo>
                    <a:pt x="3859530" y="11368278"/>
                    <a:pt x="3856736" y="11371072"/>
                    <a:pt x="3853180" y="11371072"/>
                  </a:cubicBezTo>
                  <a:lnTo>
                    <a:pt x="6350" y="11371072"/>
                  </a:lnTo>
                  <a:cubicBezTo>
                    <a:pt x="2794" y="11371072"/>
                    <a:pt x="0" y="11368278"/>
                    <a:pt x="0" y="11364722"/>
                  </a:cubicBezTo>
                  <a:lnTo>
                    <a:pt x="0" y="6350"/>
                  </a:lnTo>
                  <a:cubicBezTo>
                    <a:pt x="0" y="2794"/>
                    <a:pt x="2794" y="0"/>
                    <a:pt x="6350" y="0"/>
                  </a:cubicBezTo>
                  <a:moveTo>
                    <a:pt x="6350" y="12700"/>
                  </a:moveTo>
                  <a:lnTo>
                    <a:pt x="6350" y="6350"/>
                  </a:lnTo>
                  <a:lnTo>
                    <a:pt x="12700" y="6350"/>
                  </a:lnTo>
                  <a:lnTo>
                    <a:pt x="12700" y="11364722"/>
                  </a:lnTo>
                  <a:lnTo>
                    <a:pt x="6350" y="11364722"/>
                  </a:lnTo>
                  <a:lnTo>
                    <a:pt x="6350" y="11358372"/>
                  </a:lnTo>
                  <a:lnTo>
                    <a:pt x="3853180" y="11358372"/>
                  </a:lnTo>
                  <a:lnTo>
                    <a:pt x="3853180" y="11364722"/>
                  </a:lnTo>
                  <a:lnTo>
                    <a:pt x="3846830" y="11364722"/>
                  </a:lnTo>
                  <a:lnTo>
                    <a:pt x="3846830" y="6350"/>
                  </a:lnTo>
                  <a:lnTo>
                    <a:pt x="3853180" y="6350"/>
                  </a:lnTo>
                  <a:lnTo>
                    <a:pt x="3853180" y="12700"/>
                  </a:lnTo>
                  <a:lnTo>
                    <a:pt x="6350" y="12700"/>
                  </a:lnTo>
                  <a:close/>
                </a:path>
              </a:pathLst>
            </a:custGeom>
            <a:solidFill>
              <a:srgbClr val="000000"/>
            </a:solidFill>
          </p:spPr>
        </p:sp>
        <p:sp>
          <p:nvSpPr>
            <p:cNvPr name="TextBox 32" id="32"/>
            <p:cNvSpPr txBox="true"/>
            <p:nvPr/>
          </p:nvSpPr>
          <p:spPr>
            <a:xfrm>
              <a:off x="0" y="0"/>
              <a:ext cx="3859500" cy="11371100"/>
            </a:xfrm>
            <a:prstGeom prst="rect">
              <a:avLst/>
            </a:prstGeom>
          </p:spPr>
          <p:txBody>
            <a:bodyPr anchor="t" rtlCol="false" tIns="50800" lIns="50800" bIns="50800" rIns="50800"/>
            <a:lstStyle/>
            <a:p>
              <a:pPr algn="l">
                <a:lnSpc>
                  <a:spcPts val="1944"/>
                </a:lnSpc>
              </a:pPr>
              <a:r>
                <a:rPr lang="en-US" b="true" sz="1800">
                  <a:solidFill>
                    <a:srgbClr val="000000"/>
                  </a:solidFill>
                  <a:latin typeface="Arial Bold"/>
                  <a:ea typeface="Arial Bold"/>
                  <a:cs typeface="Arial Bold"/>
                  <a:sym typeface="Arial Bold"/>
                </a:rPr>
                <a:t>What makes us a good team to solve the problem we chose?</a:t>
              </a:r>
            </a:p>
            <a:p>
              <a:pPr algn="l">
                <a:lnSpc>
                  <a:spcPts val="1512"/>
                </a:lnSpc>
              </a:pPr>
            </a:p>
            <a:p>
              <a:pPr algn="just" marL="354329" indent="-177165" lvl="1">
                <a:lnSpc>
                  <a:spcPts val="2375"/>
                </a:lnSpc>
                <a:buFont typeface="Arial"/>
                <a:buChar char="•"/>
              </a:pPr>
              <a:r>
                <a:rPr lang="en-US" sz="2199" i="true">
                  <a:solidFill>
                    <a:srgbClr val="000000"/>
                  </a:solidFill>
                  <a:latin typeface="Roboto Italics"/>
                  <a:ea typeface="Roboto Italics"/>
                  <a:cs typeface="Roboto Italics"/>
                  <a:sym typeface="Roboto Italics"/>
                </a:rPr>
                <a:t>We are a strong team because we combine diverse skills in operations, technology, finance, and marketing, led by a committed project leader who drives the work forward. As pet owners ourselves, we understand the struggles firsthand, making us passionate and well-positioned to deliver a trustworthy solution through Furriend.</a:t>
              </a:r>
            </a:p>
            <a:p>
              <a:pPr algn="just" marL="225483" indent="-112741" lvl="1">
                <a:lnSpc>
                  <a:spcPts val="1512"/>
                </a:lnSpc>
              </a:pPr>
            </a:p>
            <a:p>
              <a:pPr algn="l" marL="225483" indent="-112741" lvl="1">
                <a:lnSpc>
                  <a:spcPts val="1512"/>
                </a:lnSpc>
              </a:pPr>
            </a:p>
            <a:p>
              <a:pPr algn="l" marL="225483" indent="-112741" lvl="1">
                <a:lnSpc>
                  <a:spcPts val="1512"/>
                </a:lnSpc>
              </a:pPr>
            </a:p>
            <a:p>
              <a:pPr algn="l" marL="225483" indent="-112741" lvl="1">
                <a:lnSpc>
                  <a:spcPts val="1512"/>
                </a:lnSpc>
              </a:pPr>
            </a:p>
            <a:p>
              <a:pPr algn="l" marL="225483" indent="-112741" lvl="1">
                <a:lnSpc>
                  <a:spcPts val="1512"/>
                </a:lnSpc>
              </a:pPr>
            </a:p>
            <a:p>
              <a:pPr algn="l" marL="225483" indent="-112741" lvl="1">
                <a:lnSpc>
                  <a:spcPts val="1512"/>
                </a:lnSpc>
              </a:pPr>
            </a:p>
            <a:p>
              <a:pPr algn="l" marL="225483" indent="-112741" lvl="1">
                <a:lnSpc>
                  <a:spcPts val="1512"/>
                </a:lnSpc>
              </a:pPr>
            </a:p>
          </p:txBody>
        </p:sp>
      </p:grpSp>
      <p:grpSp>
        <p:nvGrpSpPr>
          <p:cNvPr name="Group 33" id="33"/>
          <p:cNvGrpSpPr>
            <a:grpSpLocks noChangeAspect="true"/>
          </p:cNvGrpSpPr>
          <p:nvPr/>
        </p:nvGrpSpPr>
        <p:grpSpPr>
          <a:xfrm rot="0">
            <a:off x="15047404" y="322975"/>
            <a:ext cx="2905267" cy="916975"/>
            <a:chOff x="0" y="0"/>
            <a:chExt cx="3873689" cy="1222633"/>
          </a:xfrm>
        </p:grpSpPr>
        <p:sp>
          <p:nvSpPr>
            <p:cNvPr name="Freeform 34" id="34"/>
            <p:cNvSpPr/>
            <p:nvPr/>
          </p:nvSpPr>
          <p:spPr>
            <a:xfrm flipH="false" flipV="false" rot="0">
              <a:off x="0" y="0"/>
              <a:ext cx="3873627" cy="1222629"/>
            </a:xfrm>
            <a:custGeom>
              <a:avLst/>
              <a:gdLst/>
              <a:ahLst/>
              <a:cxnLst/>
              <a:rect r="r" b="b" t="t" l="l"/>
              <a:pathLst>
                <a:path h="1222629" w="3873627">
                  <a:moveTo>
                    <a:pt x="0" y="0"/>
                  </a:moveTo>
                  <a:lnTo>
                    <a:pt x="3873627" y="0"/>
                  </a:lnTo>
                  <a:lnTo>
                    <a:pt x="3873627" y="1222629"/>
                  </a:lnTo>
                  <a:lnTo>
                    <a:pt x="0" y="1222629"/>
                  </a:lnTo>
                  <a:lnTo>
                    <a:pt x="0" y="0"/>
                  </a:lnTo>
                  <a:close/>
                </a:path>
              </a:pathLst>
            </a:custGeom>
            <a:blipFill>
              <a:blip r:embed="rId3"/>
              <a:stretch>
                <a:fillRect l="0" t="0" r="-1" b="0"/>
              </a:stretch>
            </a:blipFill>
          </p:spPr>
        </p:sp>
      </p:grpSp>
      <p:grpSp>
        <p:nvGrpSpPr>
          <p:cNvPr name="Group 35" id="35"/>
          <p:cNvGrpSpPr/>
          <p:nvPr/>
        </p:nvGrpSpPr>
        <p:grpSpPr>
          <a:xfrm rot="0">
            <a:off x="9922445" y="1959122"/>
            <a:ext cx="1607000" cy="1502300"/>
            <a:chOff x="0" y="0"/>
            <a:chExt cx="2142667" cy="2003067"/>
          </a:xfrm>
        </p:grpSpPr>
        <p:sp>
          <p:nvSpPr>
            <p:cNvPr name="Freeform 36" id="36"/>
            <p:cNvSpPr/>
            <p:nvPr/>
          </p:nvSpPr>
          <p:spPr>
            <a:xfrm flipH="false" flipV="false" rot="0">
              <a:off x="0" y="0"/>
              <a:ext cx="2142617" cy="2003044"/>
            </a:xfrm>
            <a:custGeom>
              <a:avLst/>
              <a:gdLst/>
              <a:ahLst/>
              <a:cxnLst/>
              <a:rect r="r" b="b" t="t" l="l"/>
              <a:pathLst>
                <a:path h="2003044" w="2142617">
                  <a:moveTo>
                    <a:pt x="16891" y="0"/>
                  </a:moveTo>
                  <a:lnTo>
                    <a:pt x="2125726" y="0"/>
                  </a:lnTo>
                  <a:cubicBezTo>
                    <a:pt x="2135124" y="0"/>
                    <a:pt x="2142617" y="7620"/>
                    <a:pt x="2142617" y="16891"/>
                  </a:cubicBezTo>
                  <a:lnTo>
                    <a:pt x="2142617" y="1986153"/>
                  </a:lnTo>
                  <a:cubicBezTo>
                    <a:pt x="2142617" y="1995551"/>
                    <a:pt x="2134997" y="2003044"/>
                    <a:pt x="2125726" y="2003044"/>
                  </a:cubicBezTo>
                  <a:lnTo>
                    <a:pt x="16891" y="2003044"/>
                  </a:lnTo>
                  <a:cubicBezTo>
                    <a:pt x="7493" y="2003044"/>
                    <a:pt x="0" y="1995424"/>
                    <a:pt x="0" y="1986153"/>
                  </a:cubicBezTo>
                  <a:lnTo>
                    <a:pt x="0" y="16891"/>
                  </a:lnTo>
                  <a:cubicBezTo>
                    <a:pt x="0" y="7620"/>
                    <a:pt x="7620" y="0"/>
                    <a:pt x="16891" y="0"/>
                  </a:cubicBezTo>
                  <a:moveTo>
                    <a:pt x="16891" y="33909"/>
                  </a:moveTo>
                  <a:lnTo>
                    <a:pt x="16891" y="16891"/>
                  </a:lnTo>
                  <a:lnTo>
                    <a:pt x="33909" y="16891"/>
                  </a:lnTo>
                  <a:lnTo>
                    <a:pt x="33909" y="1986153"/>
                  </a:lnTo>
                  <a:lnTo>
                    <a:pt x="16891" y="1986153"/>
                  </a:lnTo>
                  <a:lnTo>
                    <a:pt x="16891" y="1969262"/>
                  </a:lnTo>
                  <a:lnTo>
                    <a:pt x="2125726" y="1969262"/>
                  </a:lnTo>
                  <a:lnTo>
                    <a:pt x="2125726" y="1986153"/>
                  </a:lnTo>
                  <a:lnTo>
                    <a:pt x="2108835" y="1986153"/>
                  </a:lnTo>
                  <a:lnTo>
                    <a:pt x="2108835" y="16891"/>
                  </a:lnTo>
                  <a:lnTo>
                    <a:pt x="2125726" y="16891"/>
                  </a:lnTo>
                  <a:lnTo>
                    <a:pt x="2125726" y="33909"/>
                  </a:lnTo>
                  <a:lnTo>
                    <a:pt x="16891" y="33909"/>
                  </a:lnTo>
                  <a:close/>
                </a:path>
              </a:pathLst>
            </a:custGeom>
            <a:solidFill>
              <a:srgbClr val="F79646"/>
            </a:solidFill>
          </p:spPr>
        </p:sp>
      </p:grpSp>
      <p:grpSp>
        <p:nvGrpSpPr>
          <p:cNvPr name="Group 37" id="37"/>
          <p:cNvGrpSpPr/>
          <p:nvPr/>
        </p:nvGrpSpPr>
        <p:grpSpPr>
          <a:xfrm rot="0">
            <a:off x="13201810" y="1958835"/>
            <a:ext cx="1500500" cy="1502900"/>
            <a:chOff x="0" y="0"/>
            <a:chExt cx="2000667" cy="2003867"/>
          </a:xfrm>
        </p:grpSpPr>
        <p:sp>
          <p:nvSpPr>
            <p:cNvPr name="Freeform 38" id="38"/>
            <p:cNvSpPr/>
            <p:nvPr/>
          </p:nvSpPr>
          <p:spPr>
            <a:xfrm flipH="false" flipV="false" rot="0">
              <a:off x="0" y="0"/>
              <a:ext cx="2000631" cy="2003806"/>
            </a:xfrm>
            <a:custGeom>
              <a:avLst/>
              <a:gdLst/>
              <a:ahLst/>
              <a:cxnLst/>
              <a:rect r="r" b="b" t="t" l="l"/>
              <a:pathLst>
                <a:path h="2003806" w="2000631">
                  <a:moveTo>
                    <a:pt x="16891" y="0"/>
                  </a:moveTo>
                  <a:lnTo>
                    <a:pt x="1983740" y="0"/>
                  </a:lnTo>
                  <a:cubicBezTo>
                    <a:pt x="1993138" y="0"/>
                    <a:pt x="2000631" y="7620"/>
                    <a:pt x="2000631" y="16891"/>
                  </a:cubicBezTo>
                  <a:lnTo>
                    <a:pt x="2000631" y="1986915"/>
                  </a:lnTo>
                  <a:cubicBezTo>
                    <a:pt x="2000631" y="1996313"/>
                    <a:pt x="1993011" y="2003806"/>
                    <a:pt x="1983740" y="2003806"/>
                  </a:cubicBezTo>
                  <a:lnTo>
                    <a:pt x="16891" y="2003806"/>
                  </a:lnTo>
                  <a:cubicBezTo>
                    <a:pt x="7493" y="2003806"/>
                    <a:pt x="0" y="1996186"/>
                    <a:pt x="0" y="1986915"/>
                  </a:cubicBezTo>
                  <a:lnTo>
                    <a:pt x="0" y="16891"/>
                  </a:lnTo>
                  <a:cubicBezTo>
                    <a:pt x="0" y="7620"/>
                    <a:pt x="7620" y="0"/>
                    <a:pt x="16891" y="0"/>
                  </a:cubicBezTo>
                  <a:moveTo>
                    <a:pt x="16891" y="33909"/>
                  </a:moveTo>
                  <a:lnTo>
                    <a:pt x="16891" y="16891"/>
                  </a:lnTo>
                  <a:lnTo>
                    <a:pt x="33909" y="16891"/>
                  </a:lnTo>
                  <a:lnTo>
                    <a:pt x="33909" y="1986915"/>
                  </a:lnTo>
                  <a:lnTo>
                    <a:pt x="16891" y="1986915"/>
                  </a:lnTo>
                  <a:lnTo>
                    <a:pt x="16891" y="1970024"/>
                  </a:lnTo>
                  <a:lnTo>
                    <a:pt x="1983740" y="1970024"/>
                  </a:lnTo>
                  <a:lnTo>
                    <a:pt x="1983740" y="1986915"/>
                  </a:lnTo>
                  <a:lnTo>
                    <a:pt x="1966849" y="1986915"/>
                  </a:lnTo>
                  <a:lnTo>
                    <a:pt x="1966849" y="16891"/>
                  </a:lnTo>
                  <a:lnTo>
                    <a:pt x="1983740" y="16891"/>
                  </a:lnTo>
                  <a:lnTo>
                    <a:pt x="1983740" y="33909"/>
                  </a:lnTo>
                  <a:lnTo>
                    <a:pt x="16891" y="33909"/>
                  </a:lnTo>
                  <a:close/>
                </a:path>
              </a:pathLst>
            </a:custGeom>
            <a:solidFill>
              <a:srgbClr val="F79646"/>
            </a:solidFill>
          </p:spPr>
        </p:sp>
      </p:grpSp>
      <p:sp>
        <p:nvSpPr>
          <p:cNvPr name="TextBox 39" id="39"/>
          <p:cNvSpPr txBox="true"/>
          <p:nvPr/>
        </p:nvSpPr>
        <p:spPr>
          <a:xfrm rot="0">
            <a:off x="9979516" y="1247540"/>
            <a:ext cx="1528050" cy="592900"/>
          </a:xfrm>
          <a:prstGeom prst="rect">
            <a:avLst/>
          </a:prstGeom>
        </p:spPr>
        <p:txBody>
          <a:bodyPr anchor="t" rtlCol="false" tIns="0" lIns="0" bIns="0" rIns="0">
            <a:spAutoFit/>
          </a:bodyPr>
          <a:lstStyle/>
          <a:p>
            <a:pPr algn="ctr">
              <a:lnSpc>
                <a:spcPts val="2160"/>
              </a:lnSpc>
            </a:pPr>
            <a:r>
              <a:rPr lang="en-US" sz="1800">
                <a:solidFill>
                  <a:srgbClr val="000000"/>
                </a:solidFill>
                <a:latin typeface="Calibri (MS)"/>
                <a:ea typeface="Calibri (MS)"/>
                <a:cs typeface="Calibri (MS)"/>
                <a:sym typeface="Calibri (MS)"/>
              </a:rPr>
              <a:t>AMBONG, VINCENT REDD</a:t>
            </a:r>
          </a:p>
        </p:txBody>
      </p:sp>
      <p:sp>
        <p:nvSpPr>
          <p:cNvPr name="TextBox 40" id="40"/>
          <p:cNvSpPr txBox="true"/>
          <p:nvPr/>
        </p:nvSpPr>
        <p:spPr>
          <a:xfrm rot="0">
            <a:off x="12990019" y="1247540"/>
            <a:ext cx="1869750" cy="592900"/>
          </a:xfrm>
          <a:prstGeom prst="rect">
            <a:avLst/>
          </a:prstGeom>
        </p:spPr>
        <p:txBody>
          <a:bodyPr anchor="t" rtlCol="false" tIns="0" lIns="0" bIns="0" rIns="0">
            <a:spAutoFit/>
          </a:bodyPr>
          <a:lstStyle/>
          <a:p>
            <a:pPr algn="ctr">
              <a:lnSpc>
                <a:spcPts val="2160"/>
              </a:lnSpc>
            </a:pPr>
            <a:r>
              <a:rPr lang="en-US" sz="1800">
                <a:solidFill>
                  <a:srgbClr val="000000"/>
                </a:solidFill>
                <a:latin typeface="Calibri (MS)"/>
                <a:ea typeface="Calibri (MS)"/>
                <a:cs typeface="Calibri (MS)"/>
                <a:sym typeface="Calibri (MS)"/>
              </a:rPr>
              <a:t>FERNANDEZ, LANCE CEDRICK</a:t>
            </a:r>
          </a:p>
        </p:txBody>
      </p:sp>
      <p:grpSp>
        <p:nvGrpSpPr>
          <p:cNvPr name="Group 41" id="41"/>
          <p:cNvGrpSpPr/>
          <p:nvPr/>
        </p:nvGrpSpPr>
        <p:grpSpPr>
          <a:xfrm rot="0">
            <a:off x="9945082" y="3596456"/>
            <a:ext cx="1561725" cy="655725"/>
            <a:chOff x="0" y="0"/>
            <a:chExt cx="2082300" cy="874300"/>
          </a:xfrm>
        </p:grpSpPr>
        <p:sp>
          <p:nvSpPr>
            <p:cNvPr name="Freeform 42" id="42"/>
            <p:cNvSpPr/>
            <p:nvPr/>
          </p:nvSpPr>
          <p:spPr>
            <a:xfrm flipH="false" flipV="false" rot="0">
              <a:off x="0" y="0"/>
              <a:ext cx="2082292" cy="874268"/>
            </a:xfrm>
            <a:custGeom>
              <a:avLst/>
              <a:gdLst/>
              <a:ahLst/>
              <a:cxnLst/>
              <a:rect r="r" b="b" t="t" l="l"/>
              <a:pathLst>
                <a:path h="874268" w="2082292">
                  <a:moveTo>
                    <a:pt x="6350" y="0"/>
                  </a:moveTo>
                  <a:lnTo>
                    <a:pt x="2075942" y="0"/>
                  </a:lnTo>
                  <a:cubicBezTo>
                    <a:pt x="2079498" y="0"/>
                    <a:pt x="2082292" y="2794"/>
                    <a:pt x="2082292" y="6350"/>
                  </a:cubicBezTo>
                  <a:lnTo>
                    <a:pt x="2082292" y="867918"/>
                  </a:lnTo>
                  <a:cubicBezTo>
                    <a:pt x="2082292" y="871474"/>
                    <a:pt x="2079498" y="874268"/>
                    <a:pt x="2075942" y="874268"/>
                  </a:cubicBezTo>
                  <a:lnTo>
                    <a:pt x="6350" y="874268"/>
                  </a:lnTo>
                  <a:cubicBezTo>
                    <a:pt x="2794" y="874268"/>
                    <a:pt x="0" y="871474"/>
                    <a:pt x="0" y="867918"/>
                  </a:cubicBezTo>
                  <a:lnTo>
                    <a:pt x="0" y="6350"/>
                  </a:lnTo>
                  <a:cubicBezTo>
                    <a:pt x="0" y="2794"/>
                    <a:pt x="2794" y="0"/>
                    <a:pt x="6350" y="0"/>
                  </a:cubicBezTo>
                  <a:moveTo>
                    <a:pt x="6350" y="12700"/>
                  </a:moveTo>
                  <a:lnTo>
                    <a:pt x="6350" y="6350"/>
                  </a:lnTo>
                  <a:lnTo>
                    <a:pt x="12700" y="6350"/>
                  </a:lnTo>
                  <a:lnTo>
                    <a:pt x="12700" y="867918"/>
                  </a:lnTo>
                  <a:lnTo>
                    <a:pt x="6350" y="867918"/>
                  </a:lnTo>
                  <a:lnTo>
                    <a:pt x="6350" y="861568"/>
                  </a:lnTo>
                  <a:lnTo>
                    <a:pt x="2075942" y="861568"/>
                  </a:lnTo>
                  <a:lnTo>
                    <a:pt x="2075942" y="867918"/>
                  </a:lnTo>
                  <a:lnTo>
                    <a:pt x="2069592" y="867918"/>
                  </a:lnTo>
                  <a:lnTo>
                    <a:pt x="2069592" y="6350"/>
                  </a:lnTo>
                  <a:lnTo>
                    <a:pt x="2075942" y="6350"/>
                  </a:lnTo>
                  <a:lnTo>
                    <a:pt x="2075942" y="12700"/>
                  </a:lnTo>
                  <a:lnTo>
                    <a:pt x="6350" y="12700"/>
                  </a:lnTo>
                  <a:close/>
                </a:path>
              </a:pathLst>
            </a:custGeom>
            <a:solidFill>
              <a:srgbClr val="000000"/>
            </a:solidFill>
          </p:spPr>
        </p:sp>
        <p:sp>
          <p:nvSpPr>
            <p:cNvPr name="TextBox 43" id="43"/>
            <p:cNvSpPr txBox="true"/>
            <p:nvPr/>
          </p:nvSpPr>
          <p:spPr>
            <a:xfrm>
              <a:off x="0" y="-38100"/>
              <a:ext cx="2082300" cy="912400"/>
            </a:xfrm>
            <a:prstGeom prst="rect">
              <a:avLst/>
            </a:prstGeom>
          </p:spPr>
          <p:txBody>
            <a:bodyPr anchor="t"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Role/Position: </a:t>
              </a:r>
            </a:p>
            <a:p>
              <a:pPr algn="ctr">
                <a:lnSpc>
                  <a:spcPts val="2160"/>
                </a:lnSpc>
              </a:pPr>
              <a:r>
                <a:rPr lang="en-US" sz="1800">
                  <a:solidFill>
                    <a:srgbClr val="000000"/>
                  </a:solidFill>
                  <a:latin typeface="Calibri (MS)"/>
                  <a:ea typeface="Calibri (MS)"/>
                  <a:cs typeface="Calibri (MS)"/>
                  <a:sym typeface="Calibri (MS)"/>
                </a:rPr>
                <a:t>CFO</a:t>
              </a:r>
            </a:p>
          </p:txBody>
        </p:sp>
      </p:grpSp>
      <p:grpSp>
        <p:nvGrpSpPr>
          <p:cNvPr name="Group 44" id="44"/>
          <p:cNvGrpSpPr/>
          <p:nvPr/>
        </p:nvGrpSpPr>
        <p:grpSpPr>
          <a:xfrm rot="0">
            <a:off x="13209726" y="3596470"/>
            <a:ext cx="1561725" cy="655725"/>
            <a:chOff x="0" y="0"/>
            <a:chExt cx="2082300" cy="874300"/>
          </a:xfrm>
        </p:grpSpPr>
        <p:sp>
          <p:nvSpPr>
            <p:cNvPr name="Freeform 45" id="45"/>
            <p:cNvSpPr/>
            <p:nvPr/>
          </p:nvSpPr>
          <p:spPr>
            <a:xfrm flipH="false" flipV="false" rot="0">
              <a:off x="0" y="0"/>
              <a:ext cx="2082292" cy="874268"/>
            </a:xfrm>
            <a:custGeom>
              <a:avLst/>
              <a:gdLst/>
              <a:ahLst/>
              <a:cxnLst/>
              <a:rect r="r" b="b" t="t" l="l"/>
              <a:pathLst>
                <a:path h="874268" w="2082292">
                  <a:moveTo>
                    <a:pt x="6350" y="0"/>
                  </a:moveTo>
                  <a:lnTo>
                    <a:pt x="2075942" y="0"/>
                  </a:lnTo>
                  <a:cubicBezTo>
                    <a:pt x="2079498" y="0"/>
                    <a:pt x="2082292" y="2794"/>
                    <a:pt x="2082292" y="6350"/>
                  </a:cubicBezTo>
                  <a:lnTo>
                    <a:pt x="2082292" y="867918"/>
                  </a:lnTo>
                  <a:cubicBezTo>
                    <a:pt x="2082292" y="871474"/>
                    <a:pt x="2079498" y="874268"/>
                    <a:pt x="2075942" y="874268"/>
                  </a:cubicBezTo>
                  <a:lnTo>
                    <a:pt x="6350" y="874268"/>
                  </a:lnTo>
                  <a:cubicBezTo>
                    <a:pt x="2794" y="874268"/>
                    <a:pt x="0" y="871474"/>
                    <a:pt x="0" y="867918"/>
                  </a:cubicBezTo>
                  <a:lnTo>
                    <a:pt x="0" y="6350"/>
                  </a:lnTo>
                  <a:cubicBezTo>
                    <a:pt x="0" y="2794"/>
                    <a:pt x="2794" y="0"/>
                    <a:pt x="6350" y="0"/>
                  </a:cubicBezTo>
                  <a:moveTo>
                    <a:pt x="6350" y="12700"/>
                  </a:moveTo>
                  <a:lnTo>
                    <a:pt x="6350" y="6350"/>
                  </a:lnTo>
                  <a:lnTo>
                    <a:pt x="12700" y="6350"/>
                  </a:lnTo>
                  <a:lnTo>
                    <a:pt x="12700" y="867918"/>
                  </a:lnTo>
                  <a:lnTo>
                    <a:pt x="6350" y="867918"/>
                  </a:lnTo>
                  <a:lnTo>
                    <a:pt x="6350" y="861568"/>
                  </a:lnTo>
                  <a:lnTo>
                    <a:pt x="2075942" y="861568"/>
                  </a:lnTo>
                  <a:lnTo>
                    <a:pt x="2075942" y="867918"/>
                  </a:lnTo>
                  <a:lnTo>
                    <a:pt x="2069592" y="867918"/>
                  </a:lnTo>
                  <a:lnTo>
                    <a:pt x="2069592" y="6350"/>
                  </a:lnTo>
                  <a:lnTo>
                    <a:pt x="2075942" y="6350"/>
                  </a:lnTo>
                  <a:lnTo>
                    <a:pt x="2075942" y="12700"/>
                  </a:lnTo>
                  <a:lnTo>
                    <a:pt x="6350" y="12700"/>
                  </a:lnTo>
                  <a:close/>
                </a:path>
              </a:pathLst>
            </a:custGeom>
            <a:solidFill>
              <a:srgbClr val="000000"/>
            </a:solidFill>
          </p:spPr>
        </p:sp>
        <p:sp>
          <p:nvSpPr>
            <p:cNvPr name="TextBox 46" id="46"/>
            <p:cNvSpPr txBox="true"/>
            <p:nvPr/>
          </p:nvSpPr>
          <p:spPr>
            <a:xfrm>
              <a:off x="0" y="-38100"/>
              <a:ext cx="2082300" cy="912400"/>
            </a:xfrm>
            <a:prstGeom prst="rect">
              <a:avLst/>
            </a:prstGeom>
          </p:spPr>
          <p:txBody>
            <a:bodyPr anchor="t" rtlCol="false" tIns="50800" lIns="50800" bIns="50800" rIns="50800"/>
            <a:lstStyle/>
            <a:p>
              <a:pPr algn="l">
                <a:lnSpc>
                  <a:spcPts val="2160"/>
                </a:lnSpc>
              </a:pPr>
              <a:r>
                <a:rPr lang="en-US" sz="1800">
                  <a:solidFill>
                    <a:srgbClr val="000000"/>
                  </a:solidFill>
                  <a:latin typeface="Calibri (MS)"/>
                  <a:ea typeface="Calibri (MS)"/>
                  <a:cs typeface="Calibri (MS)"/>
                  <a:sym typeface="Calibri (MS)"/>
                </a:rPr>
                <a:t>Role/Position: </a:t>
              </a:r>
            </a:p>
            <a:p>
              <a:pPr algn="ctr">
                <a:lnSpc>
                  <a:spcPts val="2160"/>
                </a:lnSpc>
              </a:pPr>
              <a:r>
                <a:rPr lang="en-US" sz="1800">
                  <a:solidFill>
                    <a:srgbClr val="000000"/>
                  </a:solidFill>
                  <a:latin typeface="Calibri (MS)"/>
                  <a:ea typeface="Calibri (MS)"/>
                  <a:cs typeface="Calibri (MS)"/>
                  <a:sym typeface="Calibri (MS)"/>
                </a:rPr>
                <a:t>CMO</a:t>
              </a:r>
            </a:p>
          </p:txBody>
        </p:sp>
      </p:grpSp>
      <p:grpSp>
        <p:nvGrpSpPr>
          <p:cNvPr name="Group 47" id="47"/>
          <p:cNvGrpSpPr/>
          <p:nvPr/>
        </p:nvGrpSpPr>
        <p:grpSpPr>
          <a:xfrm rot="0">
            <a:off x="9355712" y="4395162"/>
            <a:ext cx="2894625" cy="5551125"/>
            <a:chOff x="0" y="0"/>
            <a:chExt cx="3859500" cy="7401500"/>
          </a:xfrm>
        </p:grpSpPr>
        <p:sp>
          <p:nvSpPr>
            <p:cNvPr name="Freeform 48" id="48"/>
            <p:cNvSpPr/>
            <p:nvPr/>
          </p:nvSpPr>
          <p:spPr>
            <a:xfrm flipH="false" flipV="false" rot="0">
              <a:off x="0" y="0"/>
              <a:ext cx="3859530" cy="7401560"/>
            </a:xfrm>
            <a:custGeom>
              <a:avLst/>
              <a:gdLst/>
              <a:ahLst/>
              <a:cxnLst/>
              <a:rect r="r" b="b" t="t" l="l"/>
              <a:pathLst>
                <a:path h="7401560" w="3859530">
                  <a:moveTo>
                    <a:pt x="6350" y="0"/>
                  </a:moveTo>
                  <a:lnTo>
                    <a:pt x="3853180" y="0"/>
                  </a:lnTo>
                  <a:cubicBezTo>
                    <a:pt x="3856736" y="0"/>
                    <a:pt x="3859530" y="2794"/>
                    <a:pt x="3859530" y="6350"/>
                  </a:cubicBezTo>
                  <a:lnTo>
                    <a:pt x="3859530" y="7395210"/>
                  </a:lnTo>
                  <a:cubicBezTo>
                    <a:pt x="3859530" y="7398766"/>
                    <a:pt x="3856736" y="7401560"/>
                    <a:pt x="3853180" y="7401560"/>
                  </a:cubicBezTo>
                  <a:lnTo>
                    <a:pt x="6350" y="7401560"/>
                  </a:lnTo>
                  <a:cubicBezTo>
                    <a:pt x="2794" y="7401560"/>
                    <a:pt x="0" y="7398766"/>
                    <a:pt x="0" y="7395210"/>
                  </a:cubicBezTo>
                  <a:lnTo>
                    <a:pt x="0" y="6350"/>
                  </a:lnTo>
                  <a:cubicBezTo>
                    <a:pt x="0" y="2794"/>
                    <a:pt x="2794" y="0"/>
                    <a:pt x="6350" y="0"/>
                  </a:cubicBezTo>
                  <a:moveTo>
                    <a:pt x="6350" y="12700"/>
                  </a:moveTo>
                  <a:lnTo>
                    <a:pt x="6350" y="6350"/>
                  </a:lnTo>
                  <a:lnTo>
                    <a:pt x="12700" y="6350"/>
                  </a:lnTo>
                  <a:lnTo>
                    <a:pt x="12700" y="7395210"/>
                  </a:lnTo>
                  <a:lnTo>
                    <a:pt x="6350" y="7395210"/>
                  </a:lnTo>
                  <a:lnTo>
                    <a:pt x="6350" y="7388860"/>
                  </a:lnTo>
                  <a:lnTo>
                    <a:pt x="3853180" y="7388860"/>
                  </a:lnTo>
                  <a:lnTo>
                    <a:pt x="3853180" y="7395210"/>
                  </a:lnTo>
                  <a:lnTo>
                    <a:pt x="3846830" y="7395210"/>
                  </a:lnTo>
                  <a:lnTo>
                    <a:pt x="3846830" y="6350"/>
                  </a:lnTo>
                  <a:lnTo>
                    <a:pt x="3853180" y="6350"/>
                  </a:lnTo>
                  <a:lnTo>
                    <a:pt x="3853180" y="12700"/>
                  </a:lnTo>
                  <a:lnTo>
                    <a:pt x="6350" y="12700"/>
                  </a:lnTo>
                  <a:close/>
                </a:path>
              </a:pathLst>
            </a:custGeom>
            <a:solidFill>
              <a:srgbClr val="000000"/>
            </a:solidFill>
          </p:spPr>
        </p:sp>
        <p:sp>
          <p:nvSpPr>
            <p:cNvPr name="TextBox 49" id="49"/>
            <p:cNvSpPr txBox="true"/>
            <p:nvPr/>
          </p:nvSpPr>
          <p:spPr>
            <a:xfrm>
              <a:off x="0" y="-38100"/>
              <a:ext cx="3859500" cy="7439600"/>
            </a:xfrm>
            <a:prstGeom prst="rect">
              <a:avLst/>
            </a:prstGeom>
          </p:spPr>
          <p:txBody>
            <a:bodyPr anchor="t" rtlCol="false" tIns="50800" lIns="50800" bIns="50800" rIns="50800"/>
            <a:lstStyle/>
            <a:p>
              <a:pPr algn="l">
                <a:lnSpc>
                  <a:spcPts val="2160"/>
                </a:lnSpc>
              </a:pPr>
              <a:r>
                <a:rPr lang="en-US" sz="1800">
                  <a:solidFill>
                    <a:srgbClr val="000000"/>
                  </a:solidFill>
                  <a:latin typeface="Calibri (MS)"/>
                  <a:ea typeface="Calibri (MS)"/>
                  <a:cs typeface="Calibri (MS)"/>
                  <a:sym typeface="Calibri (MS)"/>
                </a:rPr>
                <a:t>Key Strengths and abilities:</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Skilled in financial planning, budgeting, and cost analysis.</a:t>
              </a:r>
            </a:p>
            <a:p>
              <a:pPr algn="just" marL="257810" indent="-128905" lvl="1">
                <a:lnSpc>
                  <a:spcPts val="1680"/>
                </a:lnSpc>
              </a:pP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Good with numbers, ensures realistic revenue projections and sustainability.</a:t>
              </a:r>
            </a:p>
            <a:p>
              <a:pPr algn="just" marL="257810" indent="-128905" lvl="1">
                <a:lnSpc>
                  <a:spcPts val="1680"/>
                </a:lnSpc>
              </a:pP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Manages allocation of funds for marketing, development, and operations.</a:t>
              </a:r>
            </a:p>
            <a:p>
              <a:pPr algn="just" marL="257810" indent="-128905" lvl="1">
                <a:lnSpc>
                  <a:spcPts val="1680"/>
                </a:lnSpc>
              </a:pP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Ensures transparency and accountability in handling money. </a:t>
              </a: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p:txBody>
        </p:sp>
      </p:grpSp>
      <p:grpSp>
        <p:nvGrpSpPr>
          <p:cNvPr name="Group 50" id="50"/>
          <p:cNvGrpSpPr/>
          <p:nvPr/>
        </p:nvGrpSpPr>
        <p:grpSpPr>
          <a:xfrm rot="0">
            <a:off x="12497712" y="4395162"/>
            <a:ext cx="2458125" cy="5551125"/>
            <a:chOff x="0" y="0"/>
            <a:chExt cx="3277500" cy="7401500"/>
          </a:xfrm>
        </p:grpSpPr>
        <p:sp>
          <p:nvSpPr>
            <p:cNvPr name="Freeform 51" id="51"/>
            <p:cNvSpPr/>
            <p:nvPr/>
          </p:nvSpPr>
          <p:spPr>
            <a:xfrm flipH="false" flipV="false" rot="0">
              <a:off x="0" y="0"/>
              <a:ext cx="3277489" cy="7401560"/>
            </a:xfrm>
            <a:custGeom>
              <a:avLst/>
              <a:gdLst/>
              <a:ahLst/>
              <a:cxnLst/>
              <a:rect r="r" b="b" t="t" l="l"/>
              <a:pathLst>
                <a:path h="7401560" w="3277489">
                  <a:moveTo>
                    <a:pt x="6350" y="0"/>
                  </a:moveTo>
                  <a:lnTo>
                    <a:pt x="3271139" y="0"/>
                  </a:lnTo>
                  <a:cubicBezTo>
                    <a:pt x="3274695" y="0"/>
                    <a:pt x="3277489" y="2794"/>
                    <a:pt x="3277489" y="6350"/>
                  </a:cubicBezTo>
                  <a:lnTo>
                    <a:pt x="3277489" y="7395210"/>
                  </a:lnTo>
                  <a:cubicBezTo>
                    <a:pt x="3277489" y="7398766"/>
                    <a:pt x="3274695" y="7401560"/>
                    <a:pt x="3271139" y="7401560"/>
                  </a:cubicBezTo>
                  <a:lnTo>
                    <a:pt x="6350" y="7401560"/>
                  </a:lnTo>
                  <a:cubicBezTo>
                    <a:pt x="2794" y="7401560"/>
                    <a:pt x="0" y="7398766"/>
                    <a:pt x="0" y="7395210"/>
                  </a:cubicBezTo>
                  <a:lnTo>
                    <a:pt x="0" y="6350"/>
                  </a:lnTo>
                  <a:cubicBezTo>
                    <a:pt x="0" y="2794"/>
                    <a:pt x="2794" y="0"/>
                    <a:pt x="6350" y="0"/>
                  </a:cubicBezTo>
                  <a:moveTo>
                    <a:pt x="6350" y="12700"/>
                  </a:moveTo>
                  <a:lnTo>
                    <a:pt x="6350" y="6350"/>
                  </a:lnTo>
                  <a:lnTo>
                    <a:pt x="12700" y="6350"/>
                  </a:lnTo>
                  <a:lnTo>
                    <a:pt x="12700" y="7395210"/>
                  </a:lnTo>
                  <a:lnTo>
                    <a:pt x="6350" y="7395210"/>
                  </a:lnTo>
                  <a:lnTo>
                    <a:pt x="6350" y="7388860"/>
                  </a:lnTo>
                  <a:lnTo>
                    <a:pt x="3271139" y="7388860"/>
                  </a:lnTo>
                  <a:lnTo>
                    <a:pt x="3271139" y="7395210"/>
                  </a:lnTo>
                  <a:lnTo>
                    <a:pt x="3264789" y="7395210"/>
                  </a:lnTo>
                  <a:lnTo>
                    <a:pt x="3264789" y="6350"/>
                  </a:lnTo>
                  <a:lnTo>
                    <a:pt x="3271139" y="6350"/>
                  </a:lnTo>
                  <a:lnTo>
                    <a:pt x="3271139" y="12700"/>
                  </a:lnTo>
                  <a:lnTo>
                    <a:pt x="6350" y="12700"/>
                  </a:lnTo>
                  <a:close/>
                </a:path>
              </a:pathLst>
            </a:custGeom>
            <a:solidFill>
              <a:srgbClr val="000000"/>
            </a:solidFill>
          </p:spPr>
        </p:sp>
        <p:sp>
          <p:nvSpPr>
            <p:cNvPr name="TextBox 52" id="52"/>
            <p:cNvSpPr txBox="true"/>
            <p:nvPr/>
          </p:nvSpPr>
          <p:spPr>
            <a:xfrm>
              <a:off x="0" y="-38100"/>
              <a:ext cx="3277500" cy="7439600"/>
            </a:xfrm>
            <a:prstGeom prst="rect">
              <a:avLst/>
            </a:prstGeom>
          </p:spPr>
          <p:txBody>
            <a:bodyPr anchor="t" rtlCol="false" tIns="50800" lIns="50800" bIns="50800" rIns="50800"/>
            <a:lstStyle/>
            <a:p>
              <a:pPr algn="l">
                <a:lnSpc>
                  <a:spcPts val="2160"/>
                </a:lnSpc>
              </a:pPr>
              <a:r>
                <a:rPr lang="en-US" sz="1800">
                  <a:solidFill>
                    <a:srgbClr val="000000"/>
                  </a:solidFill>
                  <a:latin typeface="Calibri (MS)"/>
                  <a:ea typeface="Calibri (MS)"/>
                  <a:cs typeface="Calibri (MS)"/>
                  <a:sym typeface="Calibri (MS)"/>
                </a:rPr>
                <a:t>Key Strengths and abilities:</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Strong communication and creativity in promoting the app.</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Skilled in branding, social media, and customer engagement.</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Can design campaigns to attract both sitters and pet owners.</a:t>
              </a:r>
            </a:p>
            <a:p>
              <a:pPr algn="just" marL="331470" indent="-165735" lvl="1">
                <a:lnSpc>
                  <a:spcPts val="2160"/>
                </a:lnSpc>
                <a:buFont typeface="Arial"/>
                <a:buChar char="•"/>
              </a:pPr>
              <a:r>
                <a:rPr lang="en-US" sz="1800">
                  <a:solidFill>
                    <a:srgbClr val="000000"/>
                  </a:solidFill>
                  <a:latin typeface="Calibri (MS)"/>
                  <a:ea typeface="Calibri (MS)"/>
                  <a:cs typeface="Calibri (MS)"/>
                  <a:sym typeface="Calibri (MS)"/>
                </a:rPr>
                <a:t>Ability to gather feedback and convert it into marketing insights.</a:t>
              </a:r>
            </a:p>
            <a:p>
              <a:pPr algn="just" marL="257810" indent="-128905" lvl="1">
                <a:lnSpc>
                  <a:spcPts val="1680"/>
                </a:lnSpc>
              </a:pPr>
            </a:p>
            <a:p>
              <a:pPr algn="just"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a:p>
              <a:pPr algn="l" marL="257810" indent="-128905" lvl="1">
                <a:lnSpc>
                  <a:spcPts val="1680"/>
                </a:lnSpc>
              </a:pPr>
            </a:p>
          </p:txBody>
        </p:sp>
      </p:grpSp>
      <p:grpSp>
        <p:nvGrpSpPr>
          <p:cNvPr name="Group 53" id="53"/>
          <p:cNvGrpSpPr>
            <a:grpSpLocks noChangeAspect="true"/>
          </p:cNvGrpSpPr>
          <p:nvPr/>
        </p:nvGrpSpPr>
        <p:grpSpPr>
          <a:xfrm rot="0">
            <a:off x="904437" y="2036801"/>
            <a:ext cx="1484625" cy="1346949"/>
            <a:chOff x="0" y="0"/>
            <a:chExt cx="1979500" cy="1795932"/>
          </a:xfrm>
        </p:grpSpPr>
        <p:sp>
          <p:nvSpPr>
            <p:cNvPr name="Freeform 54" id="54"/>
            <p:cNvSpPr/>
            <p:nvPr/>
          </p:nvSpPr>
          <p:spPr>
            <a:xfrm flipH="false" flipV="false" rot="0">
              <a:off x="0" y="0"/>
              <a:ext cx="1979549" cy="1795907"/>
            </a:xfrm>
            <a:custGeom>
              <a:avLst/>
              <a:gdLst/>
              <a:ahLst/>
              <a:cxnLst/>
              <a:rect r="r" b="b" t="t" l="l"/>
              <a:pathLst>
                <a:path h="1795907" w="1979549">
                  <a:moveTo>
                    <a:pt x="0" y="0"/>
                  </a:moveTo>
                  <a:lnTo>
                    <a:pt x="1979549" y="0"/>
                  </a:lnTo>
                  <a:lnTo>
                    <a:pt x="1979549" y="1795907"/>
                  </a:lnTo>
                  <a:lnTo>
                    <a:pt x="0" y="1795907"/>
                  </a:lnTo>
                  <a:lnTo>
                    <a:pt x="0" y="0"/>
                  </a:lnTo>
                  <a:close/>
                </a:path>
              </a:pathLst>
            </a:custGeom>
            <a:blipFill>
              <a:blip r:embed="rId4"/>
              <a:stretch>
                <a:fillRect l="-105" t="0" r="-102" b="-1"/>
              </a:stretch>
            </a:blipFill>
          </p:spPr>
        </p:sp>
      </p:grpSp>
      <p:grpSp>
        <p:nvGrpSpPr>
          <p:cNvPr name="Group 55" id="55"/>
          <p:cNvGrpSpPr>
            <a:grpSpLocks noChangeAspect="true"/>
          </p:cNvGrpSpPr>
          <p:nvPr/>
        </p:nvGrpSpPr>
        <p:grpSpPr>
          <a:xfrm rot="0">
            <a:off x="4031388" y="2041575"/>
            <a:ext cx="1340100" cy="1337425"/>
            <a:chOff x="0" y="0"/>
            <a:chExt cx="1786800" cy="1783233"/>
          </a:xfrm>
        </p:grpSpPr>
        <p:sp>
          <p:nvSpPr>
            <p:cNvPr name="Freeform 56" id="56"/>
            <p:cNvSpPr/>
            <p:nvPr/>
          </p:nvSpPr>
          <p:spPr>
            <a:xfrm flipH="false" flipV="false" rot="0">
              <a:off x="0" y="0"/>
              <a:ext cx="1786763" cy="1783207"/>
            </a:xfrm>
            <a:custGeom>
              <a:avLst/>
              <a:gdLst/>
              <a:ahLst/>
              <a:cxnLst/>
              <a:rect r="r" b="b" t="t" l="l"/>
              <a:pathLst>
                <a:path h="1783207" w="1786763">
                  <a:moveTo>
                    <a:pt x="0" y="0"/>
                  </a:moveTo>
                  <a:lnTo>
                    <a:pt x="1786763" y="0"/>
                  </a:lnTo>
                  <a:lnTo>
                    <a:pt x="1786763" y="1783207"/>
                  </a:lnTo>
                  <a:lnTo>
                    <a:pt x="0" y="1783207"/>
                  </a:lnTo>
                  <a:lnTo>
                    <a:pt x="0" y="0"/>
                  </a:lnTo>
                  <a:close/>
                </a:path>
              </a:pathLst>
            </a:custGeom>
            <a:blipFill>
              <a:blip r:embed="rId5"/>
              <a:stretch>
                <a:fillRect l="0" t="-4743" r="-2" b="-4744"/>
              </a:stretch>
            </a:blipFill>
          </p:spPr>
        </p:sp>
      </p:grpSp>
      <p:grpSp>
        <p:nvGrpSpPr>
          <p:cNvPr name="Group 57" id="57"/>
          <p:cNvGrpSpPr>
            <a:grpSpLocks noChangeAspect="true"/>
          </p:cNvGrpSpPr>
          <p:nvPr/>
        </p:nvGrpSpPr>
        <p:grpSpPr>
          <a:xfrm rot="0">
            <a:off x="7023838" y="2041575"/>
            <a:ext cx="1475100" cy="1337425"/>
            <a:chOff x="0" y="0"/>
            <a:chExt cx="1966800" cy="1783233"/>
          </a:xfrm>
        </p:grpSpPr>
        <p:sp>
          <p:nvSpPr>
            <p:cNvPr name="Freeform 58" id="58"/>
            <p:cNvSpPr/>
            <p:nvPr/>
          </p:nvSpPr>
          <p:spPr>
            <a:xfrm flipH="false" flipV="false" rot="0">
              <a:off x="0" y="0"/>
              <a:ext cx="1966849" cy="1783207"/>
            </a:xfrm>
            <a:custGeom>
              <a:avLst/>
              <a:gdLst/>
              <a:ahLst/>
              <a:cxnLst/>
              <a:rect r="r" b="b" t="t" l="l"/>
              <a:pathLst>
                <a:path h="1783207" w="1966849">
                  <a:moveTo>
                    <a:pt x="0" y="0"/>
                  </a:moveTo>
                  <a:lnTo>
                    <a:pt x="1966849" y="0"/>
                  </a:lnTo>
                  <a:lnTo>
                    <a:pt x="1966849" y="1783207"/>
                  </a:lnTo>
                  <a:lnTo>
                    <a:pt x="0" y="1783207"/>
                  </a:lnTo>
                  <a:lnTo>
                    <a:pt x="0" y="0"/>
                  </a:lnTo>
                  <a:close/>
                </a:path>
              </a:pathLst>
            </a:custGeom>
            <a:blipFill>
              <a:blip r:embed="rId6"/>
              <a:stretch>
                <a:fillRect l="0" t="-4078" r="2" b="-4080"/>
              </a:stretch>
            </a:blipFill>
          </p:spPr>
        </p:sp>
      </p:grpSp>
      <p:grpSp>
        <p:nvGrpSpPr>
          <p:cNvPr name="Group 59" id="59"/>
          <p:cNvGrpSpPr>
            <a:grpSpLocks noChangeAspect="true"/>
          </p:cNvGrpSpPr>
          <p:nvPr/>
        </p:nvGrpSpPr>
        <p:grpSpPr>
          <a:xfrm rot="0">
            <a:off x="10055888" y="1971813"/>
            <a:ext cx="1340100" cy="1340100"/>
            <a:chOff x="0" y="0"/>
            <a:chExt cx="1786800" cy="1786800"/>
          </a:xfrm>
        </p:grpSpPr>
        <p:sp>
          <p:nvSpPr>
            <p:cNvPr name="Freeform 60" id="60"/>
            <p:cNvSpPr/>
            <p:nvPr/>
          </p:nvSpPr>
          <p:spPr>
            <a:xfrm flipH="false" flipV="false" rot="0">
              <a:off x="0" y="0"/>
              <a:ext cx="1786763" cy="1786763"/>
            </a:xfrm>
            <a:custGeom>
              <a:avLst/>
              <a:gdLst/>
              <a:ahLst/>
              <a:cxnLst/>
              <a:rect r="r" b="b" t="t" l="l"/>
              <a:pathLst>
                <a:path h="1786763" w="1786763">
                  <a:moveTo>
                    <a:pt x="0" y="0"/>
                  </a:moveTo>
                  <a:lnTo>
                    <a:pt x="1786763" y="0"/>
                  </a:lnTo>
                  <a:lnTo>
                    <a:pt x="1786763" y="1786763"/>
                  </a:lnTo>
                  <a:lnTo>
                    <a:pt x="0" y="1786763"/>
                  </a:lnTo>
                  <a:lnTo>
                    <a:pt x="0" y="0"/>
                  </a:lnTo>
                  <a:close/>
                </a:path>
              </a:pathLst>
            </a:custGeom>
            <a:blipFill>
              <a:blip r:embed="rId7"/>
              <a:stretch>
                <a:fillRect l="0" t="0" r="-2" b="-2"/>
              </a:stretch>
            </a:blipFill>
          </p:spPr>
        </p:sp>
      </p:grpSp>
      <p:grpSp>
        <p:nvGrpSpPr>
          <p:cNvPr name="Group 61" id="61"/>
          <p:cNvGrpSpPr>
            <a:grpSpLocks noChangeAspect="true"/>
          </p:cNvGrpSpPr>
          <p:nvPr/>
        </p:nvGrpSpPr>
        <p:grpSpPr>
          <a:xfrm rot="0">
            <a:off x="13214500" y="1972725"/>
            <a:ext cx="1475100" cy="1475100"/>
            <a:chOff x="0" y="0"/>
            <a:chExt cx="1966800" cy="1966800"/>
          </a:xfrm>
        </p:grpSpPr>
        <p:sp>
          <p:nvSpPr>
            <p:cNvPr name="Freeform 62" id="62"/>
            <p:cNvSpPr/>
            <p:nvPr/>
          </p:nvSpPr>
          <p:spPr>
            <a:xfrm flipH="false" flipV="false" rot="0">
              <a:off x="0" y="0"/>
              <a:ext cx="1966849" cy="1966849"/>
            </a:xfrm>
            <a:custGeom>
              <a:avLst/>
              <a:gdLst/>
              <a:ahLst/>
              <a:cxnLst/>
              <a:rect r="r" b="b" t="t" l="l"/>
              <a:pathLst>
                <a:path h="1966849" w="1966849">
                  <a:moveTo>
                    <a:pt x="0" y="0"/>
                  </a:moveTo>
                  <a:lnTo>
                    <a:pt x="1966849" y="0"/>
                  </a:lnTo>
                  <a:lnTo>
                    <a:pt x="1966849" y="1966849"/>
                  </a:lnTo>
                  <a:lnTo>
                    <a:pt x="0" y="1966849"/>
                  </a:lnTo>
                  <a:lnTo>
                    <a:pt x="0" y="0"/>
                  </a:lnTo>
                  <a:close/>
                </a:path>
              </a:pathLst>
            </a:custGeom>
            <a:blipFill>
              <a:blip r:embed="rId8"/>
              <a:stretch>
                <a:fillRect l="0" t="0" r="2" b="2"/>
              </a:stretch>
            </a:blip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100" y="0"/>
            <a:ext cx="18310200" cy="10401625"/>
            <a:chOff x="0" y="0"/>
            <a:chExt cx="24413600" cy="13868833"/>
          </a:xfrm>
        </p:grpSpPr>
        <p:sp>
          <p:nvSpPr>
            <p:cNvPr name="Freeform 3" id="3"/>
            <p:cNvSpPr/>
            <p:nvPr/>
          </p:nvSpPr>
          <p:spPr>
            <a:xfrm flipH="false" flipV="false" rot="0">
              <a:off x="0" y="0"/>
              <a:ext cx="24413590" cy="13868781"/>
            </a:xfrm>
            <a:custGeom>
              <a:avLst/>
              <a:gdLst/>
              <a:ahLst/>
              <a:cxnLst/>
              <a:rect r="r" b="b" t="t" l="l"/>
              <a:pathLst>
                <a:path h="13868781" w="24413590">
                  <a:moveTo>
                    <a:pt x="0" y="0"/>
                  </a:moveTo>
                  <a:lnTo>
                    <a:pt x="24413590" y="0"/>
                  </a:lnTo>
                  <a:lnTo>
                    <a:pt x="24413590" y="13868781"/>
                  </a:lnTo>
                  <a:lnTo>
                    <a:pt x="0" y="13868781"/>
                  </a:lnTo>
                  <a:lnTo>
                    <a:pt x="0" y="0"/>
                  </a:lnTo>
                  <a:close/>
                </a:path>
              </a:pathLst>
            </a:custGeom>
            <a:blipFill>
              <a:blip r:embed="rId3"/>
              <a:stretch>
                <a:fillRect l="0" t="0" r="-991" b="0"/>
              </a:stretch>
            </a:blipFill>
          </p:spPr>
        </p:sp>
      </p:grpSp>
      <p:grpSp>
        <p:nvGrpSpPr>
          <p:cNvPr name="Group 4" id="4"/>
          <p:cNvGrpSpPr>
            <a:grpSpLocks noChangeAspect="true"/>
          </p:cNvGrpSpPr>
          <p:nvPr/>
        </p:nvGrpSpPr>
        <p:grpSpPr>
          <a:xfrm rot="0">
            <a:off x="15544800" y="419100"/>
            <a:ext cx="2278599" cy="1131276"/>
            <a:chOff x="0" y="0"/>
            <a:chExt cx="3038132" cy="1508368"/>
          </a:xfrm>
        </p:grpSpPr>
        <p:sp>
          <p:nvSpPr>
            <p:cNvPr name="Freeform 5" id="5"/>
            <p:cNvSpPr/>
            <p:nvPr/>
          </p:nvSpPr>
          <p:spPr>
            <a:xfrm flipH="false" flipV="false" rot="0">
              <a:off x="0" y="0"/>
              <a:ext cx="3038094" cy="1508379"/>
            </a:xfrm>
            <a:custGeom>
              <a:avLst/>
              <a:gdLst/>
              <a:ahLst/>
              <a:cxnLst/>
              <a:rect r="r" b="b" t="t" l="l"/>
              <a:pathLst>
                <a:path h="1508379" w="3038094">
                  <a:moveTo>
                    <a:pt x="0" y="0"/>
                  </a:moveTo>
                  <a:lnTo>
                    <a:pt x="3038094" y="0"/>
                  </a:lnTo>
                  <a:lnTo>
                    <a:pt x="3038094" y="1508379"/>
                  </a:lnTo>
                  <a:lnTo>
                    <a:pt x="0" y="1508379"/>
                  </a:lnTo>
                  <a:lnTo>
                    <a:pt x="0" y="0"/>
                  </a:lnTo>
                  <a:close/>
                </a:path>
              </a:pathLst>
            </a:custGeom>
            <a:blipFill>
              <a:blip r:embed="rId4"/>
              <a:stretch>
                <a:fillRect l="0" t="0" r="-1" b="0"/>
              </a:stretch>
            </a:blipFill>
          </p:spPr>
        </p:sp>
      </p:grpSp>
      <p:sp>
        <p:nvSpPr>
          <p:cNvPr name="TextBox 6" id="6"/>
          <p:cNvSpPr txBox="true"/>
          <p:nvPr/>
        </p:nvSpPr>
        <p:spPr>
          <a:xfrm rot="0">
            <a:off x="857250" y="409575"/>
            <a:ext cx="14439900" cy="7972425"/>
          </a:xfrm>
          <a:prstGeom prst="rect">
            <a:avLst/>
          </a:prstGeom>
        </p:spPr>
        <p:txBody>
          <a:bodyPr anchor="t" rtlCol="false" tIns="0" lIns="0" bIns="0" rIns="0">
            <a:spAutoFit/>
          </a:bodyPr>
          <a:lstStyle/>
          <a:p>
            <a:pPr algn="l">
              <a:lnSpc>
                <a:spcPts val="7200"/>
              </a:lnSpc>
            </a:pPr>
            <a:r>
              <a:rPr lang="en-US" b="true" sz="6000">
                <a:solidFill>
                  <a:srgbClr val="FFFFFF"/>
                </a:solidFill>
                <a:latin typeface="Quicksand Bold"/>
                <a:ea typeface="Quicksand Bold"/>
                <a:cs typeface="Quicksand Bold"/>
                <a:sym typeface="Quicksand Bold"/>
              </a:rPr>
              <a:t>References:</a:t>
            </a:r>
          </a:p>
          <a:p>
            <a:pPr algn="l">
              <a:lnSpc>
                <a:spcPts val="1680"/>
              </a:lnSpc>
            </a:pPr>
          </a:p>
          <a:p>
            <a:pPr algn="just">
              <a:lnSpc>
                <a:spcPts val="2879"/>
              </a:lnSpc>
            </a:pPr>
            <a:r>
              <a:rPr lang="en-US" b="true" sz="2400">
                <a:solidFill>
                  <a:srgbClr val="000000"/>
                </a:solidFill>
                <a:latin typeface="Quicksand Bold"/>
                <a:ea typeface="Quicksand Bold"/>
                <a:cs typeface="Quicksand Bold"/>
                <a:sym typeface="Quicksand Bold"/>
              </a:rPr>
              <a:t>Dogster. (2024, April 18). 13 pet ownership statistics in the Philippines. Dogster. </a:t>
            </a:r>
            <a:r>
              <a:rPr lang="en-US" b="true" sz="2400" u="sng">
                <a:solidFill>
                  <a:srgbClr val="0000FF"/>
                </a:solidFill>
                <a:latin typeface="Quicksand Bold"/>
                <a:ea typeface="Quicksand Bold"/>
                <a:cs typeface="Quicksand Bold"/>
                <a:sym typeface="Quicksand Bold"/>
                <a:hlinkClick r:id="rId5" tooltip="https://www.dogster.com/statistics/pet-ownership-statistics-philippines"/>
              </a:rPr>
              <a:t>https://www.dogster.com/statistics/pet-ownership-statistics-philippines</a:t>
            </a:r>
          </a:p>
          <a:p>
            <a:pPr algn="just">
              <a:lnSpc>
                <a:spcPts val="1680"/>
              </a:lnSpc>
            </a:pPr>
          </a:p>
          <a:p>
            <a:pPr algn="just">
              <a:lnSpc>
                <a:spcPts val="2879"/>
              </a:lnSpc>
            </a:pPr>
            <a:r>
              <a:rPr lang="en-US" b="true" sz="2400">
                <a:solidFill>
                  <a:srgbClr val="000000"/>
                </a:solidFill>
                <a:latin typeface="Quicksand Bold"/>
                <a:ea typeface="Quicksand Bold"/>
                <a:cs typeface="Quicksand Bold"/>
                <a:sym typeface="Quicksand Bold"/>
              </a:rPr>
              <a:t>Global Pet Industry. (2021, March 22). The pet industry in the Philippines. Global Pet Industry. </a:t>
            </a:r>
            <a:r>
              <a:rPr lang="en-US" b="true" sz="2400" u="sng">
                <a:solidFill>
                  <a:srgbClr val="0000FF"/>
                </a:solidFill>
                <a:latin typeface="Quicksand Bold"/>
                <a:ea typeface="Quicksand Bold"/>
                <a:cs typeface="Quicksand Bold"/>
                <a:sym typeface="Quicksand Bold"/>
                <a:hlinkClick r:id="rId6" tooltip="https://globalpetindustry.com/news/the-pet-industry-in-the-philippines"/>
              </a:rPr>
              <a:t>https://globalpetindustry.com/news/the-pet-industry-in-the-philippines</a:t>
            </a:r>
          </a:p>
          <a:p>
            <a:pPr algn="just">
              <a:lnSpc>
                <a:spcPts val="1680"/>
              </a:lnSpc>
            </a:pPr>
          </a:p>
          <a:p>
            <a:pPr algn="just">
              <a:lnSpc>
                <a:spcPts val="2879"/>
              </a:lnSpc>
            </a:pPr>
            <a:r>
              <a:rPr lang="en-US" b="true" sz="2400">
                <a:solidFill>
                  <a:srgbClr val="000000"/>
                </a:solidFill>
                <a:latin typeface="Quicksand Bold"/>
                <a:ea typeface="Quicksand Bold"/>
                <a:cs typeface="Quicksand Bold"/>
                <a:sym typeface="Quicksand Bold"/>
              </a:rPr>
              <a:t>Grand View Research. (2024). Philippines animal health market size, share &amp; trends report, 2030. Grand View Research. </a:t>
            </a:r>
            <a:r>
              <a:rPr lang="en-US" b="true" sz="2400" u="sng">
                <a:solidFill>
                  <a:srgbClr val="0000FF"/>
                </a:solidFill>
                <a:latin typeface="Quicksand Bold"/>
                <a:ea typeface="Quicksand Bold"/>
                <a:cs typeface="Quicksand Bold"/>
                <a:sym typeface="Quicksand Bold"/>
                <a:hlinkClick r:id="rId7" tooltip="https://www.grandviewresearch.com/horizon/outlook/animal-health-market/philippines"/>
              </a:rPr>
              <a:t>https://www.grandviewresearch.com/horizon/outlook/animal-health-market/philippines</a:t>
            </a:r>
          </a:p>
          <a:p>
            <a:pPr algn="just">
              <a:lnSpc>
                <a:spcPts val="1680"/>
              </a:lnSpc>
            </a:pPr>
          </a:p>
          <a:p>
            <a:pPr algn="just">
              <a:lnSpc>
                <a:spcPts val="2879"/>
              </a:lnSpc>
            </a:pPr>
            <a:r>
              <a:rPr lang="en-US" b="true" sz="2400">
                <a:solidFill>
                  <a:srgbClr val="000000"/>
                </a:solidFill>
                <a:latin typeface="Quicksand Bold"/>
                <a:ea typeface="Quicksand Bold"/>
                <a:cs typeface="Quicksand Bold"/>
                <a:sym typeface="Quicksand Bold"/>
              </a:rPr>
              <a:t>IMARC Group. (2024). Philippines pet food market: Industry trends, share, size, growth, opportunity and forecast 2024-2033. IMARC Group. </a:t>
            </a:r>
            <a:r>
              <a:rPr lang="en-US" b="true" sz="2400" u="sng">
                <a:solidFill>
                  <a:srgbClr val="0000FF"/>
                </a:solidFill>
                <a:latin typeface="Quicksand Bold"/>
                <a:ea typeface="Quicksand Bold"/>
                <a:cs typeface="Quicksand Bold"/>
                <a:sym typeface="Quicksand Bold"/>
                <a:hlinkClick r:id="rId8" tooltip="https://www.imarcgroup.com/philippines-pet-food-market"/>
              </a:rPr>
              <a:t>https://www.imarcgroup.com/philippines-pet-food-market</a:t>
            </a:r>
          </a:p>
          <a:p>
            <a:pPr algn="just">
              <a:lnSpc>
                <a:spcPts val="1680"/>
              </a:lnSpc>
            </a:pPr>
          </a:p>
          <a:p>
            <a:pPr algn="just">
              <a:lnSpc>
                <a:spcPts val="2879"/>
              </a:lnSpc>
            </a:pPr>
            <a:r>
              <a:rPr lang="en-US" b="true" sz="2400">
                <a:solidFill>
                  <a:srgbClr val="000000"/>
                </a:solidFill>
                <a:latin typeface="Quicksand Bold"/>
                <a:ea typeface="Quicksand Bold"/>
                <a:cs typeface="Quicksand Bold"/>
                <a:sym typeface="Quicksand Bold"/>
              </a:rPr>
              <a:t>U.S. Department of Commerce, International Trade Administration. (2021, August 13). Philippines upscale pet food and supplies. trade.gov. </a:t>
            </a:r>
            <a:r>
              <a:rPr lang="en-US" b="true" sz="2400" u="sng">
                <a:solidFill>
                  <a:srgbClr val="0000FF"/>
                </a:solidFill>
                <a:latin typeface="Quicksand Bold"/>
                <a:ea typeface="Quicksand Bold"/>
                <a:cs typeface="Quicksand Bold"/>
                <a:sym typeface="Quicksand Bold"/>
                <a:hlinkClick r:id="rId9" tooltip="https://www.trade.gov/market-intelligence/philippines-upscale-pet-food-and-supplies"/>
              </a:rPr>
              <a:t>https://www.trade.gov/market-intelligence/philippines-upscale-pet-food-and-supplies</a:t>
            </a:r>
          </a:p>
          <a:p>
            <a:pPr algn="just">
              <a:lnSpc>
                <a:spcPts val="1680"/>
              </a:lnSpc>
            </a:pPr>
          </a:p>
          <a:p>
            <a:pPr algn="just">
              <a:lnSpc>
                <a:spcPts val="2879"/>
              </a:lnSpc>
            </a:pPr>
            <a:r>
              <a:rPr lang="en-US" b="true" sz="2400">
                <a:solidFill>
                  <a:srgbClr val="000000"/>
                </a:solidFill>
                <a:latin typeface="Quicksand Bold"/>
                <a:ea typeface="Quicksand Bold"/>
                <a:cs typeface="Quicksand Bold"/>
                <a:sym typeface="Quicksand Bold"/>
              </a:rPr>
              <a:t>Survey conducted by authors. (2025, August 19–21). Pet sitting needs and challenges among Filipino pet owners. </a:t>
            </a:r>
            <a:r>
              <a:rPr lang="en-US" b="true" sz="2400" u="sng">
                <a:solidFill>
                  <a:srgbClr val="0000FF"/>
                </a:solidFill>
                <a:latin typeface="Quicksand Bold"/>
                <a:ea typeface="Quicksand Bold"/>
                <a:cs typeface="Quicksand Bold"/>
                <a:sym typeface="Quicksand Bold"/>
                <a:hlinkClick r:id="rId10" tooltip="https://forms.gle/8xjpGSSuAevckezw6"/>
              </a:rPr>
              <a:t>https://forms.gle/8xjpGSSuAevckezw6</a:t>
            </a:r>
            <a:r>
              <a:rPr lang="en-US" b="true" sz="2400">
                <a:solidFill>
                  <a:srgbClr val="000000"/>
                </a:solidFill>
                <a:latin typeface="Quicksand Bold"/>
                <a:ea typeface="Quicksand Bold"/>
                <a:cs typeface="Quicksand Bold"/>
                <a:sym typeface="Quicksand Bold"/>
              </a:rPr>
              <a:t>. Technological Institute of the Philippines.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DAG0nP0zeFo</dc:identifier>
  <dcterms:modified xsi:type="dcterms:W3CDTF">2011-08-01T06:04:30Z</dcterms:modified>
  <cp:revision>1</cp:revision>
  <dc:title>FURRIEND_MILESTONE 1-2(TECH 001 - MIDTERM EXAMINATION)(1).pptx</dc:title>
</cp:coreProperties>
</file>